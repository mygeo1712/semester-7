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e2b0047e5841e3" /><Relationship Type="http://schemas.openxmlformats.org/officeDocument/2006/relationships/extended-properties" Target="/docProps/app.xml" Id="Ra92ac0b6e44347f8" /><Relationship Type="http://schemas.openxmlformats.org/officeDocument/2006/relationships/officeDocument" Target="/ppt/presentation.xml" Id="R469dbbfca65340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6834785fb84dfe"/>
  </p:sldMasterIdLst>
  <p:notesMasterIdLst>
    <p:notesMasterId xmlns:r="http://schemas.openxmlformats.org/officeDocument/2006/relationships" r:id="R5fa4a139831447de"/>
  </p:notesMasterIdLst>
  <p:sldIdLst>
    <p:sldId xmlns:r="http://schemas.openxmlformats.org/officeDocument/2006/relationships" id="256" r:id="R164adbfb18cf4f0f"/>
    <p:sldId xmlns:r="http://schemas.openxmlformats.org/officeDocument/2006/relationships" id="257" r:id="R9f9b62dd669042f4"/>
    <p:sldId xmlns:r="http://schemas.openxmlformats.org/officeDocument/2006/relationships" id="258" r:id="Rc79f018b53af41b9"/>
    <p:sldId xmlns:r="http://schemas.openxmlformats.org/officeDocument/2006/relationships" id="259" r:id="R3b820db922b84866"/>
    <p:sldId xmlns:r="http://schemas.openxmlformats.org/officeDocument/2006/relationships" id="260" r:id="Ra55f5b48255d41be"/>
    <p:sldId xmlns:r="http://schemas.openxmlformats.org/officeDocument/2006/relationships" id="261" r:id="Rd50cb8615b6142f7"/>
    <p:sldId xmlns:r="http://schemas.openxmlformats.org/officeDocument/2006/relationships" id="262" r:id="Redc30bcc5cc740f0"/>
    <p:sldId xmlns:r="http://schemas.openxmlformats.org/officeDocument/2006/relationships" id="263" r:id="R82361947af3b4cd3"/>
    <p:sldId xmlns:r="http://schemas.openxmlformats.org/officeDocument/2006/relationships" id="264" r:id="Raa7e2a7642be4613"/>
    <p:sldId xmlns:r="http://schemas.openxmlformats.org/officeDocument/2006/relationships" id="265" r:id="Rebbc49e3a67e446e"/>
    <p:sldId xmlns:r="http://schemas.openxmlformats.org/officeDocument/2006/relationships" id="266" r:id="Rabcc48b9ff2c4103"/>
    <p:sldId xmlns:r="http://schemas.openxmlformats.org/officeDocument/2006/relationships" id="267" r:id="R2d0c7b0d2b3f494f"/>
    <p:sldId xmlns:r="http://schemas.openxmlformats.org/officeDocument/2006/relationships" id="268" r:id="R575484357ac4488f"/>
    <p:sldId xmlns:r="http://schemas.openxmlformats.org/officeDocument/2006/relationships" id="269" r:id="R52a76992fc9b45f0"/>
    <p:sldId xmlns:r="http://schemas.openxmlformats.org/officeDocument/2006/relationships" id="270" r:id="Ra6af5e900ef04b6d"/>
    <p:sldId xmlns:r="http://schemas.openxmlformats.org/officeDocument/2006/relationships" id="271" r:id="R27fa7931ad3d413c"/>
    <p:sldId xmlns:r="http://schemas.openxmlformats.org/officeDocument/2006/relationships" id="272" r:id="Rf507fa22a2314c5f"/>
    <p:sldId xmlns:r="http://schemas.openxmlformats.org/officeDocument/2006/relationships" id="273" r:id="R92b2f8db335f4710"/>
    <p:sldId xmlns:r="http://schemas.openxmlformats.org/officeDocument/2006/relationships" id="274" r:id="Rda2480c6d97e4ba4"/>
    <p:sldId xmlns:r="http://schemas.openxmlformats.org/officeDocument/2006/relationships" id="275" r:id="R85de154a5cb148a6"/>
    <p:sldId xmlns:r="http://schemas.openxmlformats.org/officeDocument/2006/relationships" id="276" r:id="Re08562d65b3148a3"/>
    <p:sldId xmlns:r="http://schemas.openxmlformats.org/officeDocument/2006/relationships" id="277" r:id="Rc46abc1dae4a44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23be40f4974a48" /><Relationship Type="http://schemas.openxmlformats.org/officeDocument/2006/relationships/slideMaster" Target="/ppt/slideMasters/slideMaster1.xml" Id="R1d6834785fb84dfe" /><Relationship Type="http://schemas.openxmlformats.org/officeDocument/2006/relationships/notesMaster" Target="/ppt/notesMasters/notesMaster1.xml" Id="R5fa4a139831447de" /><Relationship Type="http://schemas.openxmlformats.org/officeDocument/2006/relationships/presProps" Target="/ppt/presProps.xml" Id="R35eabc0b95c348b1" /><Relationship Type="http://schemas.openxmlformats.org/officeDocument/2006/relationships/tableStyles" Target="/ppt/tableStyles.xml" Id="R9d6d035d926e4b23" /><Relationship Type="http://schemas.openxmlformats.org/officeDocument/2006/relationships/slide" Target="/ppt/slides/slide1.xml" Id="R164adbfb18cf4f0f" /><Relationship Type="http://schemas.openxmlformats.org/officeDocument/2006/relationships/slide" Target="/ppt/slides/slide2.xml" Id="R9f9b62dd669042f4" /><Relationship Type="http://schemas.openxmlformats.org/officeDocument/2006/relationships/slide" Target="/ppt/slides/slide3.xml" Id="Rc79f018b53af41b9" /><Relationship Type="http://schemas.openxmlformats.org/officeDocument/2006/relationships/slide" Target="/ppt/slides/slide4.xml" Id="R3b820db922b84866" /><Relationship Type="http://schemas.openxmlformats.org/officeDocument/2006/relationships/slide" Target="/ppt/slides/slide5.xml" Id="Ra55f5b48255d41be" /><Relationship Type="http://schemas.openxmlformats.org/officeDocument/2006/relationships/slide" Target="/ppt/slides/slide6.xml" Id="Rd50cb8615b6142f7" /><Relationship Type="http://schemas.openxmlformats.org/officeDocument/2006/relationships/slide" Target="/ppt/slides/slide7.xml" Id="Redc30bcc5cc740f0" /><Relationship Type="http://schemas.openxmlformats.org/officeDocument/2006/relationships/slide" Target="/ppt/slides/slide8.xml" Id="R82361947af3b4cd3" /><Relationship Type="http://schemas.openxmlformats.org/officeDocument/2006/relationships/slide" Target="/ppt/slides/slide9.xml" Id="Raa7e2a7642be4613" /><Relationship Type="http://schemas.openxmlformats.org/officeDocument/2006/relationships/slide" Target="/ppt/slides/slide10.xml" Id="Rebbc49e3a67e446e" /><Relationship Type="http://schemas.openxmlformats.org/officeDocument/2006/relationships/slide" Target="/ppt/slides/slide11.xml" Id="Rabcc48b9ff2c4103" /><Relationship Type="http://schemas.openxmlformats.org/officeDocument/2006/relationships/slide" Target="/ppt/slides/slide12.xml" Id="R2d0c7b0d2b3f494f" /><Relationship Type="http://schemas.openxmlformats.org/officeDocument/2006/relationships/slide" Target="/ppt/slides/slide13.xml" Id="R575484357ac4488f" /><Relationship Type="http://schemas.openxmlformats.org/officeDocument/2006/relationships/slide" Target="/ppt/slides/slide14.xml" Id="R52a76992fc9b45f0" /><Relationship Type="http://schemas.openxmlformats.org/officeDocument/2006/relationships/slide" Target="/ppt/slides/slide15.xml" Id="Ra6af5e900ef04b6d" /><Relationship Type="http://schemas.openxmlformats.org/officeDocument/2006/relationships/slide" Target="/ppt/slides/slide16.xml" Id="R27fa7931ad3d413c" /><Relationship Type="http://schemas.openxmlformats.org/officeDocument/2006/relationships/slide" Target="/ppt/slides/slide17.xml" Id="Rf507fa22a2314c5f" /><Relationship Type="http://schemas.openxmlformats.org/officeDocument/2006/relationships/slide" Target="/ppt/slides/slide18.xml" Id="R92b2f8db335f4710" /><Relationship Type="http://schemas.openxmlformats.org/officeDocument/2006/relationships/slide" Target="/ppt/slides/slide19.xml" Id="Rda2480c6d97e4ba4" /><Relationship Type="http://schemas.openxmlformats.org/officeDocument/2006/relationships/slide" Target="/ppt/slides/slide20.xml" Id="R85de154a5cb148a6" /><Relationship Type="http://schemas.openxmlformats.org/officeDocument/2006/relationships/slide" Target="/ppt/slides/slide21.xml" Id="Re08562d65b3148a3" /><Relationship Type="http://schemas.openxmlformats.org/officeDocument/2006/relationships/slide" Target="/ppt/slides/slide22.xml" Id="Rc46abc1dae4a44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bf35cf4f064e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1cadcb7aa445b6" /><Relationship Type="http://schemas.openxmlformats.org/officeDocument/2006/relationships/notesMaster" Target="/ppt/notesMasters/notesMaster1.xml" Id="Rb14b02869e4e44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cfc25112084c75" /><Relationship Type="http://schemas.openxmlformats.org/officeDocument/2006/relationships/notesMaster" Target="/ppt/notesMasters/notesMaster1.xml" Id="Rdf70d95231d548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baa63aea5143b5" /><Relationship Type="http://schemas.openxmlformats.org/officeDocument/2006/relationships/notesMaster" Target="/ppt/notesMasters/notesMaster1.xml" Id="R6c0cc129109740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97b58c882b4d66" /><Relationship Type="http://schemas.openxmlformats.org/officeDocument/2006/relationships/notesMaster" Target="/ppt/notesMasters/notesMaster1.xml" Id="Rfacbe984522c42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9cba78cc204d41" /><Relationship Type="http://schemas.openxmlformats.org/officeDocument/2006/relationships/notesMaster" Target="/ppt/notesMasters/notesMaster1.xml" Id="R6ead873df5f040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de9e8c66e54030" /><Relationship Type="http://schemas.openxmlformats.org/officeDocument/2006/relationships/notesMaster" Target="/ppt/notesMasters/notesMaster1.xml" Id="Re96d4b5997f545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5faf51584447f5" /><Relationship Type="http://schemas.openxmlformats.org/officeDocument/2006/relationships/notesMaster" Target="/ppt/notesMasters/notesMaster1.xml" Id="R9e4291d7d5494f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95ff4641324219" /><Relationship Type="http://schemas.openxmlformats.org/officeDocument/2006/relationships/notesMaster" Target="/ppt/notesMasters/notesMaster1.xml" Id="R0d1f157e2e6a45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762257a3fb4283" /><Relationship Type="http://schemas.openxmlformats.org/officeDocument/2006/relationships/notesMaster" Target="/ppt/notesMasters/notesMaster1.xml" Id="R9d833215910645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af277be0414c2b" /><Relationship Type="http://schemas.openxmlformats.org/officeDocument/2006/relationships/notesMaster" Target="/ppt/notesMasters/notesMaster1.xml" Id="R751a1abbcdab48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24fb6e9e4e4bdb" /><Relationship Type="http://schemas.openxmlformats.org/officeDocument/2006/relationships/notesMaster" Target="/ppt/notesMasters/notesMaster1.xml" Id="Rca976da08cf84e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0e67a3ccd74213" /><Relationship Type="http://schemas.openxmlformats.org/officeDocument/2006/relationships/notesMaster" Target="/ppt/notesMasters/notesMaster1.xml" Id="R48d20bcbb7f848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24b7460f94452d" /><Relationship Type="http://schemas.openxmlformats.org/officeDocument/2006/relationships/notesMaster" Target="/ppt/notesMasters/notesMaster1.xml" Id="R7d298cd8e8ac4a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e7a2844f5f4363" /><Relationship Type="http://schemas.openxmlformats.org/officeDocument/2006/relationships/notesMaster" Target="/ppt/notesMasters/notesMaster1.xml" Id="Raafaea956e7c47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48c0bbd1c14bd9" /><Relationship Type="http://schemas.openxmlformats.org/officeDocument/2006/relationships/notesMaster" Target="/ppt/notesMasters/notesMaster1.xml" Id="Ra1ff503cef4b47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526eaccf5b484a" /><Relationship Type="http://schemas.openxmlformats.org/officeDocument/2006/relationships/notesMaster" Target="/ppt/notesMasters/notesMaster1.xml" Id="R12ec40bc28ab4d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ec08def0fe4c85" /><Relationship Type="http://schemas.openxmlformats.org/officeDocument/2006/relationships/notesMaster" Target="/ppt/notesMasters/notesMaster1.xml" Id="R6943f33cfe034af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f5768e3f9947b2" /><Relationship Type="http://schemas.openxmlformats.org/officeDocument/2006/relationships/notesMaster" Target="/ppt/notesMasters/notesMaster1.xml" Id="R15f65362d079474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764122513d24e09" /><Relationship Type="http://schemas.openxmlformats.org/officeDocument/2006/relationships/notesMaster" Target="/ppt/notesMasters/notesMaster1.xml" Id="Rdb77ec78996d4a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79362d2dd4412b" /><Relationship Type="http://schemas.openxmlformats.org/officeDocument/2006/relationships/notesMaster" Target="/ppt/notesMasters/notesMaster1.xml" Id="R49880a5146c643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0e0c1724c024ed2" /><Relationship Type="http://schemas.openxmlformats.org/officeDocument/2006/relationships/notesMaster" Target="/ppt/notesMasters/notesMaster1.xml" Id="R49e6366d4a7145b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d13f100fbb749cb" /><Relationship Type="http://schemas.openxmlformats.org/officeDocument/2006/relationships/notesMaster" Target="/ppt/notesMasters/notesMaster1.xml" Id="R671f47cb493b4a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dua pertanyaan: gambar mana paling bersih dan gambar mana paling banyak mempertahankan detail. Visual berasal dari skimage.data.camera dengan derau sintetis yang memiliki seed tetap.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Peta lokal menempatkan Sub-CPMK 5 pada Minggu akademik 6 karena Sub-CPMK 1 dimulai pada Minggu 2. Sumber internal: praktikum-pengolahan-citra.html.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Berikan waktu 20 detik. Minta mahasiswa menunjuk area halus, tepi, dan tekstur. Jangan menerima jawaban hanya berdasarkan keseluruhan gambar.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konsep dan API random noise: https://scikit-image.org/docs/stable/api/skimage.util.html . Derau pada deck dibentuk dengan NumPy agar tipe data dan seed dapat dijelaskan secara langsung.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notebook membandingkan cv2.blur dengan cv2.filter2D memakai kernel mean 3 x 3 dan borderType yang sama. filter2D menghitung korelasi tanpa membalik kernel; untuk kernel mean simetris hasilnya setara dengan konvolusi. Sumber: https://docs.opencv.org/doc/doxygen/html/d4/d86/group__imgproc__filter.html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parameter GaussianBlur: https://docs.opencv.org/doc/doxygen/html/d4/d86/group__imgproc__filter.html . Deck dan notebook menetapkan ksize serta sigma agar parameter eksplisit.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fungsi medianBlur: https://docs.opencv.org/doc/doxygen/html/d4/d86/group__imgproc__filter.html . Median memakai ukuran ganjil lebih besar dari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Bilateral dapat mereduksi derau sambil menjaga tepi relatif tajam, tetapi lebih lambat. d=9, sigmaColor=75, sigmaSpace=75 mengikuti contoh dosen. Sumber: https://docs.opencv.org/doc/doxygen/html/d4/d86/group__imgproc__filter.html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Pada citra kamera dengan sigma derau 18, PSNR: mean 26,27 dB, Gaussian 27,82 dB, median 27,02 dB, bilateral 28,01 dB. Pada citra koin, Gaussian 28,83 dB dan bilateral 27,91 dB. Bandingkan juga tepi dan tekstur. Bilateral memakai d=9; tiga metode lain berukuran 5 x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penjelasan median untuk derau impulsif: https://scikit-image.org/docs/stable/auto_examples/applications/plot_rank_filters.html . PSNR citra kamera: mean 25,14 dB, Gaussian 25,82 dB, median 27,85 dB, bilateral 21,05 dB. Bilateral dengan parameter ini masih menyisakan banyak bintik.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Angka berasal dari notebook instruktur yang memakai skimage.data.camera, derau Gaussian sigma=18 seed=2026 dan parameter filter yang ditampilkan pada sesi. MSE/PSNR memerlukan citra bersih. Pada citra koin, Gaussian dan bilateral bertukar urutan PSNR. Fungsi: https://scikit-image.org/docs/stable/api/skimage.metrics.html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Contoh manual dosen: lingkungan pojok [[50,50,80],[50,50,80],[60,60,90]], jumlah 570, mean 63,33. Notebook menunjukkan tiga borderType. MedianBlur memakai BORDER_REPLICATE secara internal. BORDER_WRAP tidak didukung cv2.filter2D. Referensi: https://docs.opencv.org/doc/doxygen/html/d4/d86/group__imgproc__filter.html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hubungan ke Sub-CPMK 6: filter penghalus mengurangi derau, tetapi juga melemahkan tepi. Pertemuan berikutnya membahas cara tepi dideteksi dan ketajaman ditingkatkan.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4f11eaafc4a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5f48a09b4f4166" /><Relationship Type="http://schemas.openxmlformats.org/officeDocument/2006/relationships/slideLayout" Target="/ppt/slideLayouts/slideLayout1.xml" Id="R5e445b260c9f41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445b260c9f41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1d02dbc7d4949" /><Relationship Type="http://schemas.openxmlformats.org/officeDocument/2006/relationships/image" Target="/ppt/media/image.png" Id="R020d2d33bf614e8b" /><Relationship Type="http://schemas.openxmlformats.org/officeDocument/2006/relationships/notesSlide" Target="/ppt/notesSlides/notesSlide1.xml" Id="R31ce2d66e67848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88c6a274540e5" /><Relationship Type="http://schemas.openxmlformats.org/officeDocument/2006/relationships/notesSlide" Target="/ppt/notesSlides/notesSlide2.xml" Id="Rf849ee47319049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3b5a2d157471d" /><Relationship Type="http://schemas.openxmlformats.org/officeDocument/2006/relationships/notesSlide" Target="/ppt/notesSlides/notesSlide3.xml" Id="Rbeff31ba24114a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51036076c4212" /><Relationship Type="http://schemas.openxmlformats.org/officeDocument/2006/relationships/image" Target="/ppt/media/image2.png" Id="R6b0844e915cb403b" /><Relationship Type="http://schemas.openxmlformats.org/officeDocument/2006/relationships/image" Target="/ppt/media/image3.png" Id="R96c1c06df80f429e" /><Relationship Type="http://schemas.openxmlformats.org/officeDocument/2006/relationships/notesSlide" Target="/ppt/notesSlides/notesSlide4.xml" Id="R986e896949714e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8497e15b34a7d" /><Relationship Type="http://schemas.openxmlformats.org/officeDocument/2006/relationships/image" Target="/ppt/media/image4.png" Id="Rd56f7a921d464c1e" /><Relationship Type="http://schemas.openxmlformats.org/officeDocument/2006/relationships/notesSlide" Target="/ppt/notesSlides/notesSlide5.xml" Id="Rd947b26ee82342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9449e545c45f3" /><Relationship Type="http://schemas.openxmlformats.org/officeDocument/2006/relationships/notesSlide" Target="/ppt/notesSlides/notesSlide6.xml" Id="R1f9c436354b24c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c07347ce84be8" /><Relationship Type="http://schemas.openxmlformats.org/officeDocument/2006/relationships/notesSlide" Target="/ppt/notesSlides/notesSlide7.xml" Id="Rc6cf8852cacc4d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03e83b3cc401b" /><Relationship Type="http://schemas.openxmlformats.org/officeDocument/2006/relationships/notesSlide" Target="/ppt/notesSlides/notesSlide8.xml" Id="Rc52a7452c94e40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ff7893444499d" /><Relationship Type="http://schemas.openxmlformats.org/officeDocument/2006/relationships/notesSlide" Target="/ppt/notesSlides/notesSlide9.xml" Id="Ra77876f6602d45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bdee9818e47ae" /><Relationship Type="http://schemas.openxmlformats.org/officeDocument/2006/relationships/notesSlide" Target="/ppt/notesSlides/notesSlide10.xml" Id="R3c32b6b18af540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0e1584b714b4b" /><Relationship Type="http://schemas.openxmlformats.org/officeDocument/2006/relationships/notesSlide" Target="/ppt/notesSlides/notesSlide11.xml" Id="R2703fa5f864c4c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8cfb597b74b93" /><Relationship Type="http://schemas.openxmlformats.org/officeDocument/2006/relationships/image" Target="/ppt/media/image5.png" Id="R98a217bfc75148ce" /><Relationship Type="http://schemas.openxmlformats.org/officeDocument/2006/relationships/notesSlide" Target="/ppt/notesSlides/notesSlide12.xml" Id="R98808235d54c42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a0067f8144ac8" /><Relationship Type="http://schemas.openxmlformats.org/officeDocument/2006/relationships/notesSlide" Target="/ppt/notesSlides/notesSlide13.xml" Id="Rbcf50d10687e4a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2cb29d33f4610" /><Relationship Type="http://schemas.openxmlformats.org/officeDocument/2006/relationships/image" Target="/ppt/media/image6.png" Id="R0e0f1ad7b82b4bcb" /><Relationship Type="http://schemas.openxmlformats.org/officeDocument/2006/relationships/notesSlide" Target="/ppt/notesSlides/notesSlide14.xml" Id="R230bc6a90a624c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90edc923b4466" /><Relationship Type="http://schemas.openxmlformats.org/officeDocument/2006/relationships/image" Target="/ppt/media/image7.png" Id="R11d414f45fd84752" /><Relationship Type="http://schemas.openxmlformats.org/officeDocument/2006/relationships/notesSlide" Target="/ppt/notesSlides/notesSlide15.xml" Id="R539cb59c615e47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961230240440c" /><Relationship Type="http://schemas.openxmlformats.org/officeDocument/2006/relationships/image" Target="/ppt/media/image8.png" Id="Rc554e42810a74d0f" /><Relationship Type="http://schemas.openxmlformats.org/officeDocument/2006/relationships/notesSlide" Target="/ppt/notesSlides/notesSlide16.xml" Id="Rafc14b6be7ad40d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cdbff35724c3b" /><Relationship Type="http://schemas.openxmlformats.org/officeDocument/2006/relationships/image" Target="/ppt/media/image9.png" Id="Rc58393b539514784" /><Relationship Type="http://schemas.openxmlformats.org/officeDocument/2006/relationships/notesSlide" Target="/ppt/notesSlides/notesSlide17.xml" Id="Ra1ba3c8ca04241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d6a9ec81744ec" /><Relationship Type="http://schemas.openxmlformats.org/officeDocument/2006/relationships/notesSlide" Target="/ppt/notesSlides/notesSlide18.xml" Id="R1d9fc62ffa4a4d5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13af5a0374aa8" /><Relationship Type="http://schemas.openxmlformats.org/officeDocument/2006/relationships/image" Target="/ppt/media/image10.png" Id="R5855b5b128254790" /><Relationship Type="http://schemas.openxmlformats.org/officeDocument/2006/relationships/notesSlide" Target="/ppt/notesSlides/notesSlide19.xml" Id="R84a427321cd84d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0175d429a4321" /><Relationship Type="http://schemas.openxmlformats.org/officeDocument/2006/relationships/notesSlide" Target="/ppt/notesSlides/notesSlide20.xml" Id="R5b41f31a5f614a5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47108f41e4ef3" /><Relationship Type="http://schemas.openxmlformats.org/officeDocument/2006/relationships/image" Target="/ppt/media/image11.png" Id="Rae4504b937994353" /><Relationship Type="http://schemas.openxmlformats.org/officeDocument/2006/relationships/notesSlide" Target="/ppt/notesSlides/notesSlide21.xml" Id="R31ab993264fd4d8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b96d21b404339" /><Relationship Type="http://schemas.openxmlformats.org/officeDocument/2006/relationships/notesSlide" Target="/ppt/notesSlides/notesSlide22.xml" Id="R0239edce191441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A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10B9D-8805-4FBE-8074-33F52E41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65CC6-87C9-4BC1-96EC-BFBDF217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BBD3F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BD3F5"/>
                </a:solidFill>
                <a:latin typeface="Arial"/>
                <a:ea typeface="Arial"/>
                <a:cs typeface="Arial"/>
              </a:rPr>
              <a:t>PRAKTIKUM PENGOLAHAN CITRA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590C5-F79C-4F23-9DAF-2830E247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5334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Meredam derau tanpa menghilangkan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6D966-6FA1-4A94-8965-B90A9E32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F5B84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B841"/>
                </a:solidFill>
                <a:latin typeface="Arial"/>
                <a:ea typeface="Arial"/>
                <a:cs typeface="Arial"/>
              </a:rPr>
              <a:t>Sub-CPMK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4B8A0-7BF8-431F-954E-4666EF1E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E7F0F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E7F0FA"/>
                </a:solidFill>
                <a:latin typeface="Arial"/>
                <a:ea typeface="Arial"/>
                <a:cs typeface="Arial"/>
              </a:rPr>
              <a:t>Mean, Gaussian, median, dan bilateral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AF6C4-5555-4490-8215-2CC897BC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28587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F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F0829-377D-4943-BD65-D230D429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PREDIKSI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A5EF4-4C94-4B0A-AB7A-435CA036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667250"/>
            <a:ext cx="119062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0DB6B-E08F-4B22-B0E9-CCBCC7F7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434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JALANKAN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4F17E-8E16-4271-BCFB-EC423A8C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1047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B84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6316B-D7E5-4403-B281-F5058891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434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D2A52"/>
                </a:solidFill>
                <a:latin typeface="Arial"/>
                <a:ea typeface="Arial"/>
                <a:cs typeface="Arial"/>
              </a:rPr>
              <a:t>AMATI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EF84C-679C-4069-B5AD-96AFF952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67250"/>
            <a:ext cx="128587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77DB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A9BD7-120B-4B2F-B395-1D3AF1E2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434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JELASKAN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d2d33bf614e8b"/>
          <a:stretch xmlns:a="http://schemas.openxmlformats.org/drawingml/2006/main"/>
        </p:blipFill>
        <p:spPr>
          <a:xfrm xmlns:a="http://schemas.openxmlformats.org/drawingml/2006/main">
            <a:off x="6191250" y="1909574"/>
            <a:ext cx="5476875" cy="1419602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2A183-46C0-4212-9923-C08C3073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767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Filter yang baik bergantung pada derau dan detail yang ingin dipertahankan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AAE55-35DF-4D79-8B9B-F3203EEA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BBD3F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BD3F5"/>
                </a:solidFill>
                <a:latin typeface="Arial"/>
                <a:ea typeface="Arial"/>
                <a:cs typeface="Arial"/>
              </a:rPr>
              <a:t>Python · OpenCV · NumPy · Google Colab</a:t>
            </a:r>
          </a:p>
        </p:txBody>
      </p:sp>
    </p:spTree>
    <p:extLst>
      <p:ext uri="{BB962C8B-B14F-4D97-AF65-F5344CB8AC3E}">
        <p14:creationId xmlns:p14="http://schemas.microsoft.com/office/powerpoint/2010/main" val="8606916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B42AD-7839-467A-9C15-46A4A87F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F9B56-E0BB-402B-9B99-8353F852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POSISI MATERI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CDFA3-0BEE-4CE6-9C8B-8AA12C08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5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Sub-CPMK 5 menghubungkan peningkatan kontras dan deteksi tepi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79F69-C99F-47DB-B1F6-4073E533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7DE0F-0D2F-4E07-B0B2-914464FB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14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5350B-FE34-4A6D-B3FE-DD6292CF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050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2AE5F-BACA-4C27-A70A-DF094498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Perbaikan tampilan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9AB87-8116-49D7-A436-9225D308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Gamma, equalization, CLAHE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F24D2-5C60-4ACC-9E91-09D0D79D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114550"/>
            <a:ext cx="762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A2BE5-1047-4E18-A20E-D1AEEDC2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14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38A7E-C87F-40FE-878B-ACD8CD70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050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148C1-8297-4DDA-ACEA-36AAE668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Reduksi derau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EBECB-665C-4A2A-9D36-51E6A017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Filter lokal dan pilihan metode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462F0-DC12-4478-B40E-728134F5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14550"/>
            <a:ext cx="762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C9D34-FA31-41F3-B3C3-DA65568D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14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EB4C6-9B76-49E5-AE6F-BC4D7F5D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050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C3C86-7049-42D2-B4B5-9385D780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Tepi dan ketajaman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CA209-A943-452B-90C1-0D3987E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Sobel, Laplacian, dan penajaman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B1E35-6A30-4996-BBB6-F2671F33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63F0E-932B-44C5-AB2A-87DE69F2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5777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0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Perbaikan kontras dapat membuat derau semakin terlihat. Reduksi derau perlu menjaga tepi yang akan dipakai pada pertemuan berikutnya.</a:t>
            </a:r>
          </a:p>
        </p:txBody>
      </p:sp>
    </p:spTree>
    <p:extLst>
      <p:ext uri="{BB962C8B-B14F-4D97-AF65-F5344CB8AC3E}">
        <p14:creationId xmlns:p14="http://schemas.microsoft.com/office/powerpoint/2010/main" val="575307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93A1A-150A-4488-BF62-17B9DBEB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9C439-0A50-4DAF-B889-FF76087A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TARGET PRAKTIKUM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E4E02-5161-4032-A629-07980BD8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Mahasiswa memilih filter berdasarkan bukti visual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6734D-1A25-4E19-A397-BE8A8F86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40604-D86C-4A81-8241-DCA21CBE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B3268-87EB-457B-B04D-F9CFA6D0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81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2FAE0-F852-46DE-881E-B6E1F4B0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85925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KENALI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DAEA6-D62B-46A1-B475-55B31C0A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38350"/>
            <a:ext cx="3600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Bedakan derau Gaussian dan salt-and-pepper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7D161-E355-48C4-AFE9-9D506765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DADCC-8B1E-40E7-A0FA-69F38351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81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81C49-4D26-4991-87E3-79E0AC7F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85925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PAHAMI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7DE74-6B33-47D4-9676-BCCAFA9D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38350"/>
            <a:ext cx="3600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Hubungkan aturan filter dengan piksel tetangga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1551E-1AD6-4F3B-A6A4-9448CECF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8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5B825-C5F8-48C0-A70B-735DBFDA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831C0-3346-4FB9-AAFA-4A5484D0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00425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BANDINGKAN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8F857-F881-4E3C-A55F-8720290E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52850"/>
            <a:ext cx="3600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Gunakan input dan lokasi pengamatan yang sama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E3D9D-26CE-43AC-84AC-906331B9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ABD91-B434-4970-A7D2-A00D8EF2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95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D2A5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41A8C-174C-44E0-909F-534415DE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00425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5B84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B841"/>
                </a:solidFill>
                <a:latin typeface="Arial"/>
                <a:ea typeface="Arial"/>
                <a:cs typeface="Arial"/>
              </a:rPr>
              <a:t>PILIH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DEF52-50F2-46EE-A333-0394ED51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52850"/>
            <a:ext cx="3600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Sebutkan bukti visual, MSE, dan PSNR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7E21E5-CD1D-40A2-B6C8-D1016955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Keberhasilan diukur dari penjelasan yang dapat ditunjuk pada citra, bukan dari kode yang panjang.</a:t>
            </a:r>
          </a:p>
        </p:txBody>
      </p:sp>
    </p:spTree>
    <p:extLst>
      <p:ext uri="{BB962C8B-B14F-4D97-AF65-F5344CB8AC3E}">
        <p14:creationId xmlns:p14="http://schemas.microsoft.com/office/powerpoint/2010/main" val="1506954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691A7-9AB7-4C80-B01D-EB62D3DA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B988B-01A8-4509-9537-16B495D3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MASALAH PENGAMATAN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7C7A2-D223-4122-B8CD-5AB5ED43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Filter dapat mengurangi derau sekaligus menghapus informasi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0F7EB-FC93-4733-8678-5D56C2FB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844e915cb403b"/>
          <a:stretch xmlns:a="http://schemas.openxmlformats.org/drawingml/2006/main"/>
        </p:blipFill>
        <p:spPr>
          <a:xfrm xmlns:a="http://schemas.openxmlformats.org/drawingml/2006/main">
            <a:off x="904875" y="1524000"/>
            <a:ext cx="40005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1c06df80f429e"/>
          <a:stretch xmlns:a="http://schemas.openxmlformats.org/drawingml/2006/main"/>
        </p:blipFill>
        <p:spPr>
          <a:xfrm xmlns:a="http://schemas.openxmlformats.org/drawingml/2006/main">
            <a:off x="6953250" y="1524000"/>
            <a:ext cx="40005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748E9-D3BC-4DB4-98A8-35F5E54E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619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Citra bersih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DED55-9F4F-4025-89E6-FC91B245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5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Variasi kecil muncul di banyak piksel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A314E-21CB-4718-812F-48C4228B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531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Pertanyaan: bagian mana yang boleh dihaluskan dan bagian mana yang harus tetap terlihat?</a:t>
            </a:r>
          </a:p>
        </p:txBody>
      </p:sp>
    </p:spTree>
    <p:extLst>
      <p:ext uri="{BB962C8B-B14F-4D97-AF65-F5344CB8AC3E}">
        <p14:creationId xmlns:p14="http://schemas.microsoft.com/office/powerpoint/2010/main" val="6715005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92BC9-29B8-46F7-BB37-275A8208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12EFD-9580-4364-BA64-D95C68B1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JENIS DERAU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21DD9-9399-4847-8D77-94F5D6F3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Gaussian menyebar, salt-and-pepper menghasilkan nilai ekstrem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97923-06BA-4280-9032-6FC389AD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f7a921d464c1e"/>
          <a:stretch xmlns:a="http://schemas.openxmlformats.org/drawingml/2006/main"/>
        </p:blipFill>
        <p:spPr>
          <a:xfrm xmlns:a="http://schemas.openxmlformats.org/drawingml/2006/main">
            <a:off x="726867" y="1381125"/>
            <a:ext cx="10738266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AA2FE-AC96-4302-BE1E-08F23F2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34000"/>
            <a:ext cx="4095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34F0A-35D3-4F6C-B014-64F49A90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245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Gaussian: nilai berubah sedikit ke atas atau ke bawah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7C3C4-3B59-4711-9C44-D37822F9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334000"/>
            <a:ext cx="4095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9A235-D6D6-49AE-B3C5-4E8AE29B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245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Salt-and-pepper: sebagian piksel berubah menjadi 0 atau 255</a:t>
            </a:r>
          </a:p>
        </p:txBody>
      </p:sp>
    </p:spTree>
    <p:extLst>
      <p:ext uri="{BB962C8B-B14F-4D97-AF65-F5344CB8AC3E}">
        <p14:creationId xmlns:p14="http://schemas.microsoft.com/office/powerpoint/2010/main" val="1705789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8394C2-787A-417C-82AA-D7F84AE6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517A8-7FBF-46F1-8770-CBDBB682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RANCANGAN EKSPERIMEN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60817-77B1-4C95-A955-C121A771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Perbandingan adil memakai input berderau yang sama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9C953-2CC8-4DFE-A7F2-F24187A3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8C740-FD60-4BBC-8618-0D6342A2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CF416-B237-4BC4-966D-9BD7469E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336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Citra bersih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730C2-AD0F-496F-83E0-663B5CA0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333500"/>
            <a:ext cx="204787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C7853-7904-4DF4-A403-5521CCE2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Gaussian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B6BBA-9168-40EC-85A2-1B80F34B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05125"/>
            <a:ext cx="204787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E4156-7591-4B86-802B-6E0220D7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908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D2A52"/>
                </a:solidFill>
                <a:latin typeface="Arial"/>
                <a:ea typeface="Arial"/>
                <a:cs typeface="Arial"/>
              </a:rPr>
              <a:t>Salt-and-pepper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2001F-ECB2-4FED-8521-E9C984DD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285875"/>
            <a:ext cx="2095500" cy="28098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D38FD-2BB6-4CF8-B512-582BCA73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SETIAP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2BE10-B99E-47BF-9A52-3A813A74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1619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7BFA3-E18C-460A-B254-6E982B56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050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2AF8D-A00C-458C-998E-A8BF2726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1619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68B38-5FB0-43CD-897D-4F53D130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479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Gaussian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99722-5116-496A-8AAD-D6762C73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1619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DF5E5-138B-4A4A-9780-B8012148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908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7A5C46-BA48-48CC-9A33-AFCBB1E9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38525"/>
            <a:ext cx="1619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502CB-E680-4FE0-896C-26ECEADC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337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D2A52"/>
                </a:solidFill>
                <a:latin typeface="Arial"/>
                <a:ea typeface="Arial"/>
                <a:cs typeface="Arial"/>
              </a:rPr>
              <a:t>Bilateral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4412C-3500-414F-AC6E-6EF2713E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62125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3F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7684C-C733-4D07-9C3E-BE50513A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00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0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Bandingkan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0B12A-5F2A-43FE-9047-46CC03D0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7650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Derau tersisa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Tepi dan tekstur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Parameter tercatat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0AE75D-B3C8-4EAD-B750-81CEEF46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66950"/>
            <a:ext cx="2381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C985EB-541F-41B6-B434-2030332D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62125"/>
            <a:ext cx="66675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E2E458-5B3B-4C6D-B867-E24CA731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62125"/>
            <a:ext cx="285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233436-B6B1-4ABE-B1CC-912D00E6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10000"/>
            <a:ext cx="285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818752-ABBA-45FA-9812-7FC16440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62125"/>
            <a:ext cx="7143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18108E-2056-4A67-8C7F-BBF9F715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7143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01C2F6-A2E3-4877-BA54-F739A564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76500"/>
            <a:ext cx="6191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930598-E03A-4AC3-92CA-17E62A05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95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48A934-E03C-455B-8CD6-FC839A1E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95900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Buat derau sekali. Terapkan setiap filter langsung pada input berderau yang sama.</a:t>
            </a:r>
          </a:p>
        </p:txBody>
      </p:sp>
    </p:spTree>
    <p:extLst>
      <p:ext uri="{BB962C8B-B14F-4D97-AF65-F5344CB8AC3E}">
        <p14:creationId xmlns:p14="http://schemas.microsoft.com/office/powerpoint/2010/main" val="548582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679723-9F5C-4DDC-8C39-ABC92255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3C519-9DA6-42DB-84F0-D3639727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LINGKUNGAN LOKAL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485FD-73D2-4D4E-9F0D-25B4D53D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Filter menghitung piksel keluaran dari tetangga di sekitarnya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D4D34-F630-44BF-939E-BF54E053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BBF6C-9ABC-4D10-8F5B-19FB8780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192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D346E-021C-4D5F-B48D-5E15D167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240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970B0-980E-47B2-98C9-6528B2CF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6192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81382-FF82-4BBF-B571-C72D63D8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7240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5A7B9-AD2F-4BED-A192-44C55CC3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6192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3C442-58D4-46CC-A03F-643910E2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7240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EAE52-089F-4659-B1A9-09D6A470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192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0D391-759C-4AA4-9F6F-6C14CEE4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240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01EC9-D83A-4B8F-B9A0-D66C228C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6192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FCF61-DDCA-47CD-A693-0D7E6505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240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9CCFB-70DE-4288-89CE-87F4B2A4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050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797A2-5460-409E-B07E-DFCE5DAA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098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EA275-499F-4875-B266-A8C6BBFC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3050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0CE69-AFFB-4851-BB50-05766161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4098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F9346-B19D-40BF-A8E7-FA522A90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3050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56095-BFA5-4464-8CE7-9FD83DE3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4098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B5BB0-9D71-4796-8311-E0EA7C3F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050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E179E-C09D-49CC-874F-9AFBE75D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98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9586E-0828-4EB7-A8AA-CFEF3EE6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3050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6D2D75-D8B6-4D3A-85F5-BCB6744F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4098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7187F-94AA-427F-B852-7946DE1E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908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21247-846A-4612-A239-9C6EF1F9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130BB4-524E-4558-BE9F-3A5A6525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908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4CD32B-ABC4-4ED1-AFE3-7C3E8CF4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0956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E239F8-6964-4109-805D-242F29F8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9908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156080-4B5E-439A-8918-82365D71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956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7D9152-C607-4994-8E69-A8130236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908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AAE0C8-A634-43B0-981A-9EB4B41F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956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37A1CC-E241-442A-8701-4149F11E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908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1FCB08-377E-4A31-A714-4DC7F62F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0956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88E6F6-A377-4EC5-8D59-6E2C606D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766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00B533-0532-4504-97D0-BE8824F1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814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F241F7-3BAD-47C0-A33D-C8E81FCA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6766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37D2F4-3A50-4CC4-8866-2ECD834E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7814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53B484-D12D-44F1-91C4-DC5C52A3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6766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8D67D4-C930-4487-BAE6-6B069D4C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7814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B0C5D5-6B52-405A-877D-621CA892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766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FE37DA-A56A-4491-A2CD-5AFD1450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7814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B6D607-58EA-47EE-A770-63CD4E8C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6766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57C85C-F0BE-419C-8302-E09C0AA3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7814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739E0B-1548-4412-B1E4-865FDACB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F33E81-9FB5-4F10-9E28-C9A38155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672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2022EA-62FD-488C-8A1B-C1A5CA95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3624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E60CE5-0161-4AA8-9C85-CC7EA576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4672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6359B4-F58C-4881-83F4-6D73129E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3624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6562B3-425A-4AE2-A82D-0E62011E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4672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C8C477-91BA-4D9E-984B-9EDCD392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624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6BCFEE-0589-4DCF-AE1B-D2261DCF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4672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200D31-07ED-4C39-90D0-0C55331A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3624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C5F366-2BFA-4215-86DF-83322D82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4672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F70BE3-BE2A-4E1C-963E-423CDFCE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286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C2AD2AE-BF37-4B5B-A06E-652515F4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Jendela 3 x 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C387A8-ED2A-4274-8ACB-885090E2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479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18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Sembilan nilai dipakai untuk menghitung satu piksel keluaran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9807C9-AD77-472C-87B4-6FDBD153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4286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2BA184-DCB1-4681-9FA9-FE5B62A1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Piksel pusat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C3814E-921D-474A-BEAA-911EC2D3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766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63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Ukuran ganjil memberi satu posisi pusat yang jelas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58DBE5-AE84-4933-8CBC-756C6271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00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Jendela bergeser ke setiap posisi sampai seluruh citra diproses.</a:t>
            </a:r>
          </a:p>
        </p:txBody>
      </p:sp>
    </p:spTree>
    <p:extLst>
      <p:ext uri="{BB962C8B-B14F-4D97-AF65-F5344CB8AC3E}">
        <p14:creationId xmlns:p14="http://schemas.microsoft.com/office/powerpoint/2010/main" val="13633533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42C3B5-FA66-4CC4-A7E2-536CC6B7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E196F-682D-4038-9EDD-22E04CEA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SATU PIKSEL KELUARAN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DA69E-9C8D-4A4B-88FF-D341E470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Mean dipengaruhi pencilan, median memilih nilai tengah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D29CD-1A60-46F1-A7CA-B3743EE7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B66BC-D37E-4D0F-A13C-C5ACA50B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6491E-9429-4365-927F-36A9701B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6215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25E74-71D9-4E20-82DF-EF8EFE17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57375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28578-F0C2-4D58-8E1C-8BD0815B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6215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E7482-2417-4FA0-93FD-186905E7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57375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1A810-D46F-457E-808F-D11EB5B2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6215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44888-1C4D-4F28-8233-6B87103A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09875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3C478-A2B6-4E05-A3DC-1EBE2B28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1465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DD2A3-03C6-4753-B1AD-90B7D170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09875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9E9A0-FA51-40B0-ACBA-D5027D08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1465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02529-2449-4077-9285-88BECB5C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09875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550C7-023B-4F23-9CB6-E8FB54C3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1465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58F93-2903-41AE-B6C2-F54AA62D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62375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BB857-1B78-4CB9-983E-207C6431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6715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4B810-7CF2-4FBD-9A27-19114CB1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762375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75E2A-D051-480E-B1F5-30D4FF5E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6715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3C888-2B39-46BC-A385-C63C2A09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62375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9D5BF-5704-4FD5-ABFD-7E630E79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6715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49674-52EA-46A6-BD97-8506C483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9B9FB-4420-4C9E-842D-F3C04E24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(8 x 100 + 255) / 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DC97BD-BA55-47D6-9BBA-0C6EEC18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117,22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56F146-22FF-46A7-961E-69BFF93D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00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Nilai ekstrem masih memengaruhi hasil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D103AC-A36C-4040-A9A6-B0D2569A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80D00A-57E5-4F0C-89C1-8768EBCF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907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100 100 100 100 100 100 100 100 255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0B9F28-BA2E-4021-8413-2A004251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9562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288C25-F804-4AC6-A999-AF0DBF3E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7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Pencilan berada di ujung urutan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DD91F-C508-4927-934C-3329A6D2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86375"/>
            <a:ext cx="857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784A8A-4CE6-43DB-B96B-FD4A283D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8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Pertanyaan: apakah median tetap 100 jika lima dari sembilan piksel bernilai 255?</a:t>
            </a:r>
          </a:p>
        </p:txBody>
      </p:sp>
    </p:spTree>
    <p:extLst>
      <p:ext uri="{BB962C8B-B14F-4D97-AF65-F5344CB8AC3E}">
        <p14:creationId xmlns:p14="http://schemas.microsoft.com/office/powerpoint/2010/main" val="20988239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C1CB8A-5460-4A73-AE75-BC980BEB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85239-DDEF-436E-BEA5-89C55D30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MEAN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D5490-8A52-4C14-B30D-2862CD0C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Semua tetangga memiliki bobot yang sama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CA7A9-30DB-47F0-9BCE-39E1B9A0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EA20A-857A-4E6B-8842-75BFF304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B1955-34AA-4CF8-94F7-D250748D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1927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051FB-BEFC-48E5-89E3-C8A3EF82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1450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A1525-F32D-4F5E-ACDA-05C678DF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1927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1/9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222C8-E444-4A2E-A7D1-FD9F339D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197B3-EDB5-482B-932C-04A9C5FE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1927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1/9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DADF2-FEC2-4BFA-A472-C2D419B5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E8CCB-BDDB-40AE-9D15-6563D18A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6702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1/9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4FFEF-A740-453B-B185-1B47A8EC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B5E27-3E4A-4EC1-99B7-A7CCF482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6702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1/9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9F025-01EB-4BBA-805A-22A5F3C7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2E2A0-4F36-4F0D-B66C-0C2916C3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6702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1/9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67D76-837D-47B3-9C10-DCE7ACD0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8B6AC-630D-45DB-8D13-03B97FBF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1477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1/9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4ADCC-7D10-4CF0-B888-467A3ACC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000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9C2BB-446E-4156-A13E-58B9B1CA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1477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1/9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3B411-CE1E-45F7-BA8C-F6F47C9F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C5609-98D9-4783-9005-899120E9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1477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1/9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33C93-CDC7-45D6-B422-8B3F3BD8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Jumlah bobot =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145075-7B74-49BE-BEB4-1D40B297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66875"/>
            <a:ext cx="533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5F1017-3F5D-4FE4-B4C0-4D158AA8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05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Cara kerja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D9ADBF-0EF7-446F-8C6D-D222920F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3050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37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Jumlahkan nilai tetangga, lalu bagi dengan banyaknya piksel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9B7C2-7E05-49DE-827F-D0184D79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533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7110A8-1169-43B3-96D9-844F58F1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3813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Konsekuensi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AE5EE9-B622-4772-A682-504CF783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814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21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Gangguan berkurang, tetapi perubahan tajam pada tepi ikut diratakan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D4BF7A-C716-49F7-8A74-421F0703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095875"/>
            <a:ext cx="585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D2A52"/>
                </a:solidFill>
                <a:latin typeface="Arial"/>
                <a:ea typeface="Arial"/>
                <a:cs typeface="Arial"/>
              </a:rPr>
              <a:t>cv2.blur(image, (5, 5)) = filter2D dengan kernel mean simetris</a:t>
            </a:r>
          </a:p>
        </p:txBody>
      </p:sp>
    </p:spTree>
    <p:extLst>
      <p:ext uri="{BB962C8B-B14F-4D97-AF65-F5344CB8AC3E}">
        <p14:creationId xmlns:p14="http://schemas.microsoft.com/office/powerpoint/2010/main" val="2222666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70F5D9-D4EB-4C14-95C6-AC29835C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0451E-34D2-4EB3-8817-B008F43F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GAUSSIAN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AA183-ED1C-4C42-AFE2-380468E8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Tetangga dekat pusat memiliki pengaruh lebih besar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DDA30-4FB0-4D42-AD11-379CBA77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4432C-79B1-4BBD-8F1D-C63B9A0C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C0503-6143-4EC5-8A6A-F6D47D65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1927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B4931-E24A-4092-96BF-75A44FDA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1450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7100B-57A4-4A1E-9D2C-D90D5C9E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1927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F25AA-6AA6-4A32-9B3C-D548658B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1EE2D-6D4B-4E8B-86EB-DBC08D5F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1927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907C3-DC9D-4C1C-8BC3-A952EFB5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39CC1-0B08-4D31-9177-C886404D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6702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C6C8C-3A5D-436D-ABD0-16A3C83B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E8F36-5C87-4F3E-B461-34681AB6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6702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D8E68-85B3-4213-A576-84321D89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844E56-46B9-4805-94BB-A8D6B60E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6702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34CF3-B21F-43F5-B5B8-7F32F45D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324A6-5846-487E-AF3A-5267E629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1477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DAFAB-F231-4D36-B587-A6D6C857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000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0E7312-2F19-4C6E-AA84-EC6D536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1477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9D45B-C463-4763-8009-D48A107F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45B83-4E25-47B8-A648-7630CFD2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1477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84EBC8-9A49-4ACF-8570-C3C29FFB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Semua nilai dibagi 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BE694-B542-411A-BC26-915E6A11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66875"/>
            <a:ext cx="533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35BE6-17FC-4523-A07A-2F609051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05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Pembobotan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01DC14-0CAE-4974-803A-E7776FED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3050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04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Bobot mengecil ketika jarak dari pusat bertambah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FABC65-EFE3-4779-B8DE-4CB14D86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533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FF3F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5CBF53-A545-437F-A461-FAC08358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3813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Pemakaian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DE6B4E-841C-4D56-AA9C-B4367518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814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21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Cocok untuk mengurangi gangguan yang tersebar pada banyak piksel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0B6020-B418-418C-AF38-D265B87D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9587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D2A52"/>
                </a:solidFill>
                <a:latin typeface="Arial"/>
                <a:ea typeface="Arial"/>
                <a:cs typeface="Arial"/>
              </a:rPr>
              <a:t>OpenCV: cv2.GaussianBlur(image, (5, 5), 1.2)</a:t>
            </a:r>
          </a:p>
        </p:txBody>
      </p:sp>
    </p:spTree>
    <p:extLst>
      <p:ext uri="{BB962C8B-B14F-4D97-AF65-F5344CB8AC3E}">
        <p14:creationId xmlns:p14="http://schemas.microsoft.com/office/powerpoint/2010/main" val="12708837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07CCE-8AF4-48ED-8D57-C88E62D0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AE967-E7EF-4C71-B07E-B002725C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MEDIAN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08DC1-426C-41BC-8DA7-5B1A1B0D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Nilai tengah menggantikan piksel pusat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3A263-8DEE-40F1-9AE4-013130F3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4C13C-8CDC-441D-BEDC-F3AB093B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100   100   100   100   255   100   100   100   100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B76B2-B655-4F66-9F79-6A7437F3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28875"/>
            <a:ext cx="76200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18272-5BF8-4DD6-B92C-3E3B2BC5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48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Urutkan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46E55-7761-4A5B-A6EC-8E9D5B5C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100   100   100   100   100   100   100   100   255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362BA-DC74-474A-95D7-0F3486AA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43375"/>
            <a:ext cx="161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FF3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21F07-AB02-4932-8A39-C7CA941A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529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33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Median = 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5A53C-8513-49A8-BCE3-DD09B20C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4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Median bukan konvolusi linear. Nilai lingkungan diurutkan tanpa menghitung rata-rata.</a:t>
            </a:r>
          </a:p>
        </p:txBody>
      </p:sp>
    </p:spTree>
    <p:extLst>
      <p:ext uri="{BB962C8B-B14F-4D97-AF65-F5344CB8AC3E}">
        <p14:creationId xmlns:p14="http://schemas.microsoft.com/office/powerpoint/2010/main" val="1003452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5BE8E-9F9C-4E63-989D-A3D3D26B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3988E-CF7B-431C-958A-86781B7E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BILATERAL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8089F-62DD-477C-94D9-6BA14DFE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Bobot bergantung pada jarak dan kemiripan intensitas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3D4F8-CB94-4610-BCA1-FF6C4661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217bfc75148ce"/>
          <a:stretch xmlns:a="http://schemas.openxmlformats.org/drawingml/2006/main"/>
        </p:blipFill>
        <p:spPr>
          <a:xfrm xmlns:a="http://schemas.openxmlformats.org/drawingml/2006/main">
            <a:off x="666750" y="1423653"/>
            <a:ext cx="10858500" cy="324869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6AFD3-6CE1-40A7-AE0B-8AB38871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457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710B2-1A1D-4784-A2DC-9750EB5C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9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Tetangga yang dekat lebih berpengaruh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CFE48-3010-4374-B58E-404288E5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57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FF3F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A6ACE-814D-4071-9BD5-40934D95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11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Intensitas yang mirip lebih mudah dicampur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8E15F-4007-43B6-897C-F496E2D0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14362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D2A52"/>
                </a:solidFill>
                <a:latin typeface="Arial"/>
                <a:ea typeface="Arial"/>
                <a:cs typeface="Arial"/>
              </a:rPr>
              <a:t>OpenCV: cv2.bilateralFilter(image, 9, 75, 75)</a:t>
            </a:r>
          </a:p>
        </p:txBody>
      </p:sp>
    </p:spTree>
    <p:extLst>
      <p:ext uri="{BB962C8B-B14F-4D97-AF65-F5344CB8AC3E}">
        <p14:creationId xmlns:p14="http://schemas.microsoft.com/office/powerpoint/2010/main" val="8825748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9B530C-57C6-4672-BA09-F4C94648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BEA0E-CDF9-46C4-9BDF-F1A98618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PREDIKSI SEBELUM EKSEKUSI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AB0E4-E1F6-419A-AE3A-9C2E579B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Filter mana yang paling sesuai untuk setiap derau?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D441B-780D-423E-817F-E33DEB56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6AF58-EE13-40FE-87F9-43B72162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0002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B769B-A55C-4635-8127-CA02456C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Derau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B0855-8CA2-45F9-9B45-D7678F92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66875"/>
            <a:ext cx="195262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84DB8-D122-4F48-81F1-9FD96EBA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478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B21F8-661F-4F9F-8C2B-F75FD5B4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66875"/>
            <a:ext cx="195262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28A0E-F262-4037-A736-DDB63AAC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478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Gaussian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3C88D-9DC2-41D0-A639-3394510E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195262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6ACD1-4810-47D1-984E-97BFB552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478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4B4A1-61F5-4769-B4D6-94039F40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66875"/>
            <a:ext cx="195262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936D5-1C4C-4B0E-ACAF-F19B04ED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8478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Bilateral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E2993-EC50-4269-85FB-A0DB7F53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000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9C291-926F-4B39-BD48-2929A2F4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479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Gaussian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2398A-B114-41BD-8DB0-9FFB3080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1952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D676C-27CB-4B9C-94D0-015247DC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19F7B-DED4-47A3-9028-A366C4EA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1952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1E18D-35AA-49CE-AD99-C5274710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4320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DCC2B4-914F-4221-B8BA-8280A820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1952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8BBC21-ED7C-40E4-A2BA-3DC871EC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90584-0646-4653-B9B8-B0FF7CA1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76500"/>
            <a:ext cx="1952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D5F62-247A-40E6-B503-4F0B1AF9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4320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6CAC57-52A9-486A-8930-CB06DEF9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2000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697C9E-15E3-449F-B468-809E7FF9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29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3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Salt-and-pepper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B95AFC-D275-48C7-A468-E173B09D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57625"/>
            <a:ext cx="1952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B05BC7-4185-4B07-8AEB-7BC0325D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2432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ACBFB8-E218-458F-8F15-B7237723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57625"/>
            <a:ext cx="1952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3FCF1F-FA22-4013-ACC1-1B7D38A4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2432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6C3FC3-D351-4B12-8B7C-CDAFD0B5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57625"/>
            <a:ext cx="1952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C1BA47-CE1E-444F-849F-B81AB643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2432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516860-3168-4EE9-9670-4E2A960D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57625"/>
            <a:ext cx="1952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AC645F-FDA0-45D6-A652-F97B10F3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2432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0FD6D3-2706-45F7-9018-84CD0CFB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72125"/>
            <a:ext cx="8286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767959-749B-4DA5-A689-B7197E54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15000"/>
            <a:ext cx="771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25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Tuliskan pilihan awal. Setelah melihat hasil, cari bukti yang mendukung atau membantah prediksi.</a:t>
            </a:r>
          </a:p>
        </p:txBody>
      </p:sp>
    </p:spTree>
    <p:extLst>
      <p:ext uri="{BB962C8B-B14F-4D97-AF65-F5344CB8AC3E}">
        <p14:creationId xmlns:p14="http://schemas.microsoft.com/office/powerpoint/2010/main" val="6094477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133C3-0019-4DDA-91EA-A00D6734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0F7BE-B722-4A7A-B5DC-9D8B5CDC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HASIL DERAU GAUSSIAN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09CDD-7A90-4D25-8838-0C4E9BFD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Gaussian dan bilateral menghasilkan dua pilihan yang layak diuji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E9BB5-3FE6-48B0-9462-CD933B52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f1ad7b82b4bcb"/>
          <a:stretch xmlns:a="http://schemas.openxmlformats.org/drawingml/2006/main"/>
        </p:blipFill>
        <p:spPr>
          <a:xfrm xmlns:a="http://schemas.openxmlformats.org/drawingml/2006/main">
            <a:off x="523875" y="2118802"/>
            <a:ext cx="11144250" cy="223939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01E23-3EBE-4A6B-B271-8CE63F2B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334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87305-694E-4860-8DFE-95F4C475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628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Periksa langit, rambut, dan kaki tripod. Gangguan berkurang, tetapi tepi ikut melemah ketika penghalusan terlalu kuat.</a:t>
            </a:r>
          </a:p>
        </p:txBody>
      </p:sp>
    </p:spTree>
    <p:extLst>
      <p:ext uri="{BB962C8B-B14F-4D97-AF65-F5344CB8AC3E}">
        <p14:creationId xmlns:p14="http://schemas.microsoft.com/office/powerpoint/2010/main" val="87823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8566C-74C3-4889-A79A-62717748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1D0D6-EDF4-450E-8A81-63CCBDA6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HASIL SALT-AND-PEPPER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B187A-42CB-4EDE-8B52-6E1F176E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Median mengurangi pencilan tanpa menyebarkannya ke tetangga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472F9-E3CC-4511-A816-8DAF4ABF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414f45fd84752"/>
          <a:stretch xmlns:a="http://schemas.openxmlformats.org/drawingml/2006/main"/>
        </p:blipFill>
        <p:spPr>
          <a:xfrm xmlns:a="http://schemas.openxmlformats.org/drawingml/2006/main">
            <a:off x="523875" y="2118802"/>
            <a:ext cx="11144250" cy="223939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9B742-7D56-43ED-9471-2AB568FA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334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3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90796-3DDF-4A26-A238-BBC3024D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20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Mean dan Gaussian mengubah bintik ekstrem menjadi noda. Median memilih nilai tetangga yang lebih mewakili wilayah lokal.</a:t>
            </a:r>
          </a:p>
        </p:txBody>
      </p:sp>
    </p:spTree>
    <p:extLst>
      <p:ext uri="{BB962C8B-B14F-4D97-AF65-F5344CB8AC3E}">
        <p14:creationId xmlns:p14="http://schemas.microsoft.com/office/powerpoint/2010/main" val="12105415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628D2-8A48-470D-BEEA-42D52CB6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8545E-356F-456F-828C-A393D066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BUKTI PADA LOKASI YANG SAMA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D5179-5B24-4B53-BA88-BB6A3A31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Area halus, tepi, dan tekstur menunjukkan biaya penghalusan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67321-479F-4AB1-B9EF-7AF8B33A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4e42810a74d0f"/>
          <a:stretch xmlns:a="http://schemas.openxmlformats.org/drawingml/2006/main"/>
        </p:blipFill>
        <p:spPr>
          <a:xfrm xmlns:a="http://schemas.openxmlformats.org/drawingml/2006/main">
            <a:off x="2190750" y="1396556"/>
            <a:ext cx="7810500" cy="449351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25304-6554-4730-9A52-05812884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Derau tersisa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66C5F-C82F-4A17-9079-663731D7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Tepi berubah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8BF82-D9B4-4773-A3E4-C5B693EF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5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Tekstur hilang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72BD6-BD72-4EDB-9BB0-22D4E500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152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6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Pilihan filter harus menyebut lokasi bukti, bukan hanya tampilan gambar secara keseluruhan.</a:t>
            </a:r>
          </a:p>
        </p:txBody>
      </p:sp>
    </p:spTree>
    <p:extLst>
      <p:ext uri="{BB962C8B-B14F-4D97-AF65-F5344CB8AC3E}">
        <p14:creationId xmlns:p14="http://schemas.microsoft.com/office/powerpoint/2010/main" val="9324841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A18520-58D8-4EA7-9478-84E3EDA8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A69F0-4E26-4F3A-A704-20F40B09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UKURAN LINGKUNGAN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71855-C7DE-4702-A8D0-82202B4A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8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Kernel besar dapat mengurangi derau sekaligus melemahkan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ABA77-AF66-40CA-B381-5A5A09B3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393b539514784"/>
          <a:stretch xmlns:a="http://schemas.openxmlformats.org/drawingml/2006/main"/>
        </p:blipFill>
        <p:spPr>
          <a:xfrm xmlns:a="http://schemas.openxmlformats.org/drawingml/2006/main">
            <a:off x="523875" y="1794209"/>
            <a:ext cx="11144250" cy="28885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6520D-5EEB-4F5A-8053-6AA26011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2714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83146-949D-403C-8B25-5B0D531C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054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3 x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9A8C5-3726-412A-B9C1-BA7874C7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054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5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Perubahan ringan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6B3CE-908F-4C75-BB11-645AA173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81625"/>
            <a:ext cx="2714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3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782C1-17E1-423D-8469-2E5513F1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5054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5 x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C3DE4-4830-4E8D-938D-771B1FE7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5054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Keseimbangan pada contoh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6B6BD-9715-491A-ACEB-E0CD79D5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81625"/>
            <a:ext cx="2714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098AC-D0C3-4003-A0B4-E73D2126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054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9 x 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B19A1-CAC5-458D-BA91-C0F5E98F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054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Detail mulai terlalu halus</a:t>
            </a:r>
          </a:p>
        </p:txBody>
      </p:sp>
    </p:spTree>
    <p:extLst>
      <p:ext uri="{BB962C8B-B14F-4D97-AF65-F5344CB8AC3E}">
        <p14:creationId xmlns:p14="http://schemas.microsoft.com/office/powerpoint/2010/main" val="15592387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2C2650-B33F-4617-A056-7957EC48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E03B3-0852-47C9-A43B-55F3B695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MSE DAN PSNR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00169-76D8-4EE5-9C37-6381A6A7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Galat piksel dihitung terhadap citra bersih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19053-FB5B-42CD-A459-C9E63F78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B31F7-C288-4DC0-ACA3-C583D8F1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Contoh: citra kamera dengan derau Gaussian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D5755-BDED-4BF9-B667-2F7B2E5F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47875"/>
            <a:ext cx="4095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9775D-A7C9-468A-AF85-E561FD12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621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Hasil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C9727-B937-47D5-B2A1-009083B8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47875"/>
            <a:ext cx="20002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1798F-0DD9-4DC4-87DB-E5F2EE78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621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CF357-ED0D-4F71-BE44-6225DCE8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47875"/>
            <a:ext cx="2333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7A908-88CD-4B31-A0D9-6F2E6944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6217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PSNR (dB)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B9807-92C7-42DE-B0CA-48AD0B9B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67000"/>
            <a:ext cx="4095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BA147-7875-4F3E-A081-F99508F4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136E5-E422-4942-B95A-9C2A777F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67000"/>
            <a:ext cx="20002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CA46E-E366-4AEB-A56B-C037BAA9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81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153,41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07FE5-3CC2-418E-B59D-31C242C0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0"/>
            <a:ext cx="2333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A966E-81C8-4087-94AE-6D5ECF48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26,27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B49F4-75ED-44AD-B87E-4DE2D4BE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57550"/>
            <a:ext cx="4095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7C698-F7E4-458D-812E-A0F933BE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Gaussian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E67E7-BE63-468B-A13C-237E66B2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57550"/>
            <a:ext cx="20002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CCE89-5870-44B7-8E0D-E3E3D853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107,33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E1D6EE-8F58-4548-8E05-0DA5FE3F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57550"/>
            <a:ext cx="2333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04DF4-ECA8-451F-8CBD-E84AEDAE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27,82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75209-A8ED-472D-B903-01607B32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48100"/>
            <a:ext cx="4095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00BB51-4931-4133-8E1B-14634316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67D30-1E75-43C7-A963-222793C8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48100"/>
            <a:ext cx="20002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4B53C9-50C3-4D8D-AFAE-74B087C8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62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129,06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C9D818-F7F2-4B81-BE46-5CC50D91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48100"/>
            <a:ext cx="2333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CB9E9E-6703-447F-B82C-7B618847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27,02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06E49C-968F-4E93-B829-6AA18BFE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38650"/>
            <a:ext cx="4095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D60BB4-43C8-4352-99D8-AF65A69F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Bilateral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877E8C-AF1B-43D0-9D72-DD1B16BF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38650"/>
            <a:ext cx="20002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D5E7BA-7A13-47FF-BB90-6080CFCB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52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102,92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784955-9296-47ED-97D4-CB14F9D7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38650"/>
            <a:ext cx="2333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57D8EE-6400-453D-8DC9-F42F1218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28,01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1F47B6-B1E0-46A7-80EC-8DFA9379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387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D2A52"/>
                </a:solidFill>
                <a:latin typeface="Arial"/>
                <a:ea typeface="Arial"/>
                <a:cs typeface="Arial"/>
              </a:rPr>
              <a:t>MSE lebih kecil dan PSNR lebih besar berarti galat piksel lebih kecil.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820B64-7090-4CB0-B051-9F813949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91200"/>
            <a:ext cx="8953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Periksa tepi dan tekstur sebelum membuat keputusan akhir.</a:t>
            </a:r>
          </a:p>
        </p:txBody>
      </p:sp>
    </p:spTree>
    <p:extLst>
      <p:ext uri="{BB962C8B-B14F-4D97-AF65-F5344CB8AC3E}">
        <p14:creationId xmlns:p14="http://schemas.microsoft.com/office/powerpoint/2010/main" val="17375396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37E85-B12E-4C07-83C1-1EADB9C9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0063A-C77A-434B-B1DC-AFCD528B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BATAS CITRA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B728B-D2E8-40EA-8B6E-46BDB6B2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Constant, replicate, dan reflect memberi hasil tepi berbeda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86C08-05D6-4677-B7A0-A1EDFCDC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5b5b128254790"/>
          <a:stretch xmlns:a="http://schemas.openxmlformats.org/drawingml/2006/main"/>
        </p:blipFill>
        <p:spPr>
          <a:xfrm xmlns:a="http://schemas.openxmlformats.org/drawingml/2006/main">
            <a:off x="523875" y="1669787"/>
            <a:ext cx="11144250" cy="2423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A9322-3DBC-4924-93BB-FF9DA899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338137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1D65E-4DA0-4A67-BBF0-56D8EAA0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625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CONSTANT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6D0B8-BD1E-431B-ACC7-9CDDFFCE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4350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Nilai di luar citra dianggap hitam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67777-BC82-4A05-867A-9405F228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9625"/>
            <a:ext cx="338137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C3BFB-0571-4262-BAE8-4E8D77A0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625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REPLICATE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95842-1816-4487-8A8B-B4DCB0E4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4350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Piksel tepi diduplikasi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A5EFA-C63C-4EA5-B567-31E3CB67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19625"/>
            <a:ext cx="338137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DFF3F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122EB-1996-468C-97F9-41682641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625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REFLECT 101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24177-5970-4801-BB52-1E6E80AE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4350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Piksel dekat tepi dicerminkan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FD0E0-E238-46DE-AAAE-2CD122FA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D2A52"/>
                </a:solidFill>
                <a:latin typeface="Arial"/>
                <a:ea typeface="Arial"/>
                <a:cs typeface="Arial"/>
              </a:rPr>
              <a:t>Contoh pojok dengan replicate: 570 / 9 = 63,33 → 63 pada citra uint8</a:t>
            </a:r>
          </a:p>
        </p:txBody>
      </p:sp>
    </p:spTree>
    <p:extLst>
      <p:ext uri="{BB962C8B-B14F-4D97-AF65-F5344CB8AC3E}">
        <p14:creationId xmlns:p14="http://schemas.microsoft.com/office/powerpoint/2010/main" val="15793860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7FFA97-A609-4843-AFD7-C1C29EC6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6432E-C671-40BD-B4E5-8B85BB1B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ALUR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2ABA2-D56E-4F0E-B4FE-EDF597AD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Setiap eksperimen dimulai dengan prediksi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1E587-5DE5-43EF-A9E1-B2093118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1DA3F-5790-423F-B795-AEEDCDB1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8D2A3-D48C-44D2-9DA7-B93EBC1F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049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0C0C2-0555-42AB-B003-56223AA6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906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MUAT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F6030-23A4-4E88-8C9C-4784ADBE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907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Citra bersih dan ROI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981E8-E35F-4E35-BC96-5A26D053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28054-4EAE-44F2-90F3-D11DE038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049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9EF4D-9692-4F2B-A16E-1058EA63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906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BENTUK DERAU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D390B-AFE0-4199-9A90-8C63D47C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907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Seed tetap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9D438-81A3-4153-9F58-8870A906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A157B-2D19-4DAE-8A45-3472F644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049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D2A5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AD67B-F3EF-4C10-BC85-CD5A0ED1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5906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5B84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B841"/>
                </a:solidFill>
                <a:latin typeface="Arial"/>
                <a:ea typeface="Arial"/>
                <a:cs typeface="Arial"/>
              </a:rPr>
              <a:t>PREDIKSI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A5D95-3963-4AAD-9FC8-77B047BB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907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Pilih filter awal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9B673-3CDA-4538-96BD-C3D5F046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9C123-14E0-4689-8044-0F332452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E68EF-2636-46BF-ADE6-68852B8C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8F8F"/>
                </a:solidFill>
                <a:latin typeface="Arial"/>
                <a:ea typeface="Arial"/>
                <a:cs typeface="Arial"/>
              </a:rPr>
              <a:t>JALANKAN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B959D-390A-4782-83FB-B6D277A4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Empat filter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52155-08BC-41B2-954F-BCB355D9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DB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15E4B-414A-469A-9549-2C128582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147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EE5A8-7299-4532-892F-E54AE113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004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377DB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77DBA"/>
                </a:solidFill>
                <a:latin typeface="Arial"/>
                <a:ea typeface="Arial"/>
                <a:cs typeface="Arial"/>
              </a:rPr>
              <a:t>AMATI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28CF6-1B1E-43D5-8840-2B396D20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004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ROI dan MSE/PSNR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4C7B7-C42B-4DE2-81F2-4C0D0532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A5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1D43C2-ACDD-4AFB-83A9-87244401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147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D496D8-88A6-4F02-A9E3-5148E236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004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D2A52"/>
                </a:solidFill>
                <a:latin typeface="Arial"/>
                <a:ea typeface="Arial"/>
                <a:cs typeface="Arial"/>
              </a:rPr>
              <a:t>JELASKAN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281731-5727-41CD-9C87-679DE004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004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Pilihan dan efek samping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DC0EF8-7917-45F2-8581-8F0E189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9144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0249E0-DFE0-4E9A-B7CB-401D318F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91175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09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Live coding berarti menjalankan ulang sel penting, menjelaskan keluaran, dan mengubah satu parameter.</a:t>
            </a:r>
          </a:p>
        </p:txBody>
      </p:sp>
    </p:spTree>
    <p:extLst>
      <p:ext uri="{BB962C8B-B14F-4D97-AF65-F5344CB8AC3E}">
        <p14:creationId xmlns:p14="http://schemas.microsoft.com/office/powerpoint/2010/main" val="9614108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37932D-EC1F-4030-9E2C-15E71BCE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23C4A-F3D9-4062-A13F-7DA3ABA1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LATIHAN WAJIB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CE95D-0672-4FAF-AAB0-B1032A1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Ulangi eksperimen pada citra koin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126F2-EF2B-4D3A-924A-62416DA4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504b937994353"/>
          <a:stretch xmlns:a="http://schemas.openxmlformats.org/drawingml/2006/main"/>
        </p:blipFill>
        <p:spPr>
          <a:xfrm xmlns:a="http://schemas.openxmlformats.org/drawingml/2006/main">
            <a:off x="476250" y="2036638"/>
            <a:ext cx="7620000" cy="197509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1DCAF-AE43-4919-818C-9669C4DF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4ABC0-B819-4E7C-8D9D-392D5B10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4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70C3E-A34D-488A-9065-C5B23211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573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Buat dua derau dengan seed yang tersedia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6E61A-CE61-423E-BD2C-359519BF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19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88A4A-4525-4873-A6BA-B92FDE1D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1457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4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0BBF3-F1A4-4F5B-8119-F33FE78A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4790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Prediksi filter untuk setiap derau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5E93C-6F37-415C-882F-EB95CC7F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B0A4A-44A2-4448-9157-DD0B0EBA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4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DEEAD-0F5A-4C84-BE21-38E1A855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384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Bandingkan empat filter dari input yang sama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DEBAA-D74D-4199-AEFA-174B0534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004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2ED82-1FC2-42BD-BFEC-FFBB3638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957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4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EDBB3E-D26F-48DD-819D-188E7C0A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290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Uji median ukuran 3, 5, dan 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A3EC5-C940-4C21-A3AE-A67E5EBF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91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0323BC-52F5-4319-8AC4-A2E1D035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863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4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D2A5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9D6C65-62A4-4875-9753-B325638B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196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Isi tabel, MSE/PSNR, dan kesimpulan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0382D-A149-4A50-B2B7-3BE49C73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36C1E"/>
                </a:solidFill>
                <a:latin typeface="Arial"/>
                <a:ea typeface="Arial"/>
                <a:cs typeface="Arial"/>
              </a:rPr>
              <a:t>Fungsi bantu sudah tersedia. Catat parameter dan jelaskan hasilnya.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514D66-2183-4755-A974-43CDCF95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00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6636B"/>
                </a:solidFill>
                <a:latin typeface="Arial"/>
                <a:ea typeface="Arial"/>
                <a:cs typeface="Arial"/>
              </a:rPr>
              <a:t>Opsional setelah selesai: coba citra lain</a:t>
            </a:r>
          </a:p>
        </p:txBody>
      </p:sp>
    </p:spTree>
    <p:extLst>
      <p:ext uri="{BB962C8B-B14F-4D97-AF65-F5344CB8AC3E}">
        <p14:creationId xmlns:p14="http://schemas.microsoft.com/office/powerpoint/2010/main" val="4676927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D2A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1A7D59-F39C-4A93-A142-6C897101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346AA-5895-47F4-B58A-73953CE0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BBD3F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BD3F5"/>
                </a:solidFill>
                <a:latin typeface="Arial"/>
                <a:ea typeface="Arial"/>
                <a:cs typeface="Arial"/>
              </a:rPr>
              <a:t>PENGUMPULAN DAN PENUTUP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2D69E-0AA5-43BD-BC66-3F6D28AC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Bukti pengamatan menentukan kualitas jawaban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8ACD3-3879-451F-8C24-06FF3F36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BBD3F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BD3F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9EE3A-4B06-4FC5-A1ED-3CC7BB25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F5B84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5B841"/>
                </a:solidFill>
                <a:latin typeface="Arial"/>
                <a:ea typeface="Arial"/>
                <a:cs typeface="Arial"/>
              </a:rPr>
              <a:t>Yang dikumpulkan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8DB97-998B-4CEE-A133-0DED9BFB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04A8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55C2B-117F-4480-97EB-9C3D40C7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Notebook yang sudah dijalankan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C7E63-2433-4FC5-A2AA-0A665CE6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4953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B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EA173-8F5F-4158-B7CD-2625CCA1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Dua perbandingan empat filter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4A612-F098-44AF-9288-BEFB6938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953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04A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42017-C24E-4AF2-BE84-30AEF91F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Perbandingan ukuran median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53BC9-68E9-4F79-9263-7EDC1365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4953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B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9FD04-142F-4E87-8044-B030C208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Tabel delapan baris dan MSE/PSNR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F9110-81FC-4956-9A21-BC1A9789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4953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04A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9EFDF-1E8D-4959-A011-FB0A9EA4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  Kesimpulan dengan lokasi bukti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74F4F-4073-4ECC-911E-BE204B2A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762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AAF39-F34A-4E3D-A06B-6EF06362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573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0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53A70"/>
                </a:solidFill>
                <a:latin typeface="Arial"/>
                <a:ea typeface="Arial"/>
                <a:cs typeface="Arial"/>
              </a:rPr>
              <a:t>Bobot penilaian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40371-5F14-498F-AED7-158B2C01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39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Eksekusi 15   Eksperimen adil 15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Pengamatan 25   Metrik 20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Ukuran 10   Kesimpulan 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54D67-01EA-4712-9768-21E3DE82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762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EE5838-BF15-476E-A6A5-D0358D5E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0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D2A52"/>
                </a:solidFill>
                <a:latin typeface="Arial"/>
                <a:ea typeface="Arial"/>
                <a:cs typeface="Arial"/>
              </a:rPr>
              <a:t>Pertanyaan penutup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B18F5D-3ADD-457E-B78E-AFD18426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243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95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Mengapa median sesuai untuk salt-and-pepper?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Kapan bilateral masih menyisakan bintik?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52E"/>
                </a:solidFill>
                <a:latin typeface="Arial"/>
                <a:ea typeface="Arial"/>
                <a:cs typeface="Arial"/>
              </a:rPr>
              <a:t>Mengapa MSE/PSNR perlu citra bersih?</a:t>
            </a:r>
          </a:p>
        </p:txBody>
      </p:sp>
    </p:spTree>
    <p:extLst>
      <p:ext uri="{BB962C8B-B14F-4D97-AF65-F5344CB8AC3E}">
        <p14:creationId xmlns:p14="http://schemas.microsoft.com/office/powerpoint/2010/main" val="1762324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2026-09-23T17:49:22.4360000Z</dcterms:created>
  <dcterms:modified xsi:type="dcterms:W3CDTF">2026-09-23T17:49:22.4360000Z</dcterms:modified>
</coreProperties>
</file>