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9c0776ff4654731" /><Relationship Type="http://schemas.openxmlformats.org/officeDocument/2006/relationships/extended-properties" Target="/docProps/app.xml" Id="Re00e1b7bef27487a" /><Relationship Type="http://schemas.openxmlformats.org/officeDocument/2006/relationships/officeDocument" Target="/ppt/presentation.xml" Id="R25e8d24307804ff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e7ab33847c941e0"/>
  </p:sldMasterIdLst>
  <p:notesMasterIdLst>
    <p:notesMasterId xmlns:r="http://schemas.openxmlformats.org/officeDocument/2006/relationships" r:id="R5d3418aeea9b4d8e"/>
  </p:notesMasterIdLst>
  <p:sldIdLst>
    <p:sldId xmlns:r="http://schemas.openxmlformats.org/officeDocument/2006/relationships" id="256" r:id="Rb1fd47f35b0f4c62"/>
    <p:sldId xmlns:r="http://schemas.openxmlformats.org/officeDocument/2006/relationships" id="257" r:id="Red3c015e9d28428f"/>
    <p:sldId xmlns:r="http://schemas.openxmlformats.org/officeDocument/2006/relationships" id="258" r:id="Rf81fe733aa85405a"/>
    <p:sldId xmlns:r="http://schemas.openxmlformats.org/officeDocument/2006/relationships" id="259" r:id="R37cf68c9e99a4e40"/>
    <p:sldId xmlns:r="http://schemas.openxmlformats.org/officeDocument/2006/relationships" id="260" r:id="Rbfebff9be848444d"/>
    <p:sldId xmlns:r="http://schemas.openxmlformats.org/officeDocument/2006/relationships" id="261" r:id="R0571a9ffb6c34b76"/>
    <p:sldId xmlns:r="http://schemas.openxmlformats.org/officeDocument/2006/relationships" id="262" r:id="R4ffc28c8042d431f"/>
    <p:sldId xmlns:r="http://schemas.openxmlformats.org/officeDocument/2006/relationships" id="263" r:id="Rda36cb215b2a4e4c"/>
    <p:sldId xmlns:r="http://schemas.openxmlformats.org/officeDocument/2006/relationships" id="264" r:id="R4dffae3add2e4e8b"/>
    <p:sldId xmlns:r="http://schemas.openxmlformats.org/officeDocument/2006/relationships" id="265" r:id="Rcf997d13e2f647f8"/>
    <p:sldId xmlns:r="http://schemas.openxmlformats.org/officeDocument/2006/relationships" id="266" r:id="Rca094319527d4345"/>
    <p:sldId xmlns:r="http://schemas.openxmlformats.org/officeDocument/2006/relationships" id="267" r:id="Raa791760e5bd4971"/>
    <p:sldId xmlns:r="http://schemas.openxmlformats.org/officeDocument/2006/relationships" id="268" r:id="Rcd56f1e20dbf434e"/>
    <p:sldId xmlns:r="http://schemas.openxmlformats.org/officeDocument/2006/relationships" id="269" r:id="R5ae9e14c0d664d0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6c0e5e7dad64917" /><Relationship Type="http://schemas.openxmlformats.org/officeDocument/2006/relationships/slideMaster" Target="/ppt/slideMasters/slideMaster1.xml" Id="R2e7ab33847c941e0" /><Relationship Type="http://schemas.openxmlformats.org/officeDocument/2006/relationships/notesMaster" Target="/ppt/notesMasters/notesMaster1.xml" Id="R5d3418aeea9b4d8e" /><Relationship Type="http://schemas.openxmlformats.org/officeDocument/2006/relationships/presProps" Target="/ppt/presProps.xml" Id="R269f2841a8f94358" /><Relationship Type="http://schemas.openxmlformats.org/officeDocument/2006/relationships/tableStyles" Target="/ppt/tableStyles.xml" Id="Rdc318e91f0c84d47" /><Relationship Type="http://schemas.openxmlformats.org/officeDocument/2006/relationships/slide" Target="/ppt/slides/slide1.xml" Id="Rb1fd47f35b0f4c62" /><Relationship Type="http://schemas.openxmlformats.org/officeDocument/2006/relationships/slide" Target="/ppt/slides/slide2.xml" Id="Red3c015e9d28428f" /><Relationship Type="http://schemas.openxmlformats.org/officeDocument/2006/relationships/slide" Target="/ppt/slides/slide3.xml" Id="Rf81fe733aa85405a" /><Relationship Type="http://schemas.openxmlformats.org/officeDocument/2006/relationships/slide" Target="/ppt/slides/slide4.xml" Id="R37cf68c9e99a4e40" /><Relationship Type="http://schemas.openxmlformats.org/officeDocument/2006/relationships/slide" Target="/ppt/slides/slide5.xml" Id="Rbfebff9be848444d" /><Relationship Type="http://schemas.openxmlformats.org/officeDocument/2006/relationships/slide" Target="/ppt/slides/slide6.xml" Id="R0571a9ffb6c34b76" /><Relationship Type="http://schemas.openxmlformats.org/officeDocument/2006/relationships/slide" Target="/ppt/slides/slide7.xml" Id="R4ffc28c8042d431f" /><Relationship Type="http://schemas.openxmlformats.org/officeDocument/2006/relationships/slide" Target="/ppt/slides/slide8.xml" Id="Rda36cb215b2a4e4c" /><Relationship Type="http://schemas.openxmlformats.org/officeDocument/2006/relationships/slide" Target="/ppt/slides/slide9.xml" Id="R4dffae3add2e4e8b" /><Relationship Type="http://schemas.openxmlformats.org/officeDocument/2006/relationships/slide" Target="/ppt/slides/slide10.xml" Id="Rcf997d13e2f647f8" /><Relationship Type="http://schemas.openxmlformats.org/officeDocument/2006/relationships/slide" Target="/ppt/slides/slide11.xml" Id="Rca094319527d4345" /><Relationship Type="http://schemas.openxmlformats.org/officeDocument/2006/relationships/slide" Target="/ppt/slides/slide12.xml" Id="Raa791760e5bd4971" /><Relationship Type="http://schemas.openxmlformats.org/officeDocument/2006/relationships/slide" Target="/ppt/slides/slide13.xml" Id="Rcd56f1e20dbf434e" /><Relationship Type="http://schemas.openxmlformats.org/officeDocument/2006/relationships/slide" Target="/ppt/slides/slide14.xml" Id="R5ae9e14c0d664d0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352ea4f3fa4430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4cd5ac51af14a04" /><Relationship Type="http://schemas.openxmlformats.org/officeDocument/2006/relationships/notesMaster" Target="/ppt/notesMasters/notesMaster1.xml" Id="Re962d67914f344a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9f919846c894342" /><Relationship Type="http://schemas.openxmlformats.org/officeDocument/2006/relationships/notesMaster" Target="/ppt/notesMasters/notesMaster1.xml" Id="R210c0c6a52794f7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0b4d5751eeb47cb" /><Relationship Type="http://schemas.openxmlformats.org/officeDocument/2006/relationships/notesMaster" Target="/ppt/notesMasters/notesMaster1.xml" Id="R7d46fef827454d3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bce496de2a34696" /><Relationship Type="http://schemas.openxmlformats.org/officeDocument/2006/relationships/notesMaster" Target="/ppt/notesMasters/notesMaster1.xml" Id="R619e2c189360493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07ea434f80441d0" /><Relationship Type="http://schemas.openxmlformats.org/officeDocument/2006/relationships/notesMaster" Target="/ppt/notesMasters/notesMaster1.xml" Id="Rba51a432b0044de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0bf0eeb2a644173" /><Relationship Type="http://schemas.openxmlformats.org/officeDocument/2006/relationships/notesMaster" Target="/ppt/notesMasters/notesMaster1.xml" Id="R8e13cd2a31404d4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bab350819d84f61" /><Relationship Type="http://schemas.openxmlformats.org/officeDocument/2006/relationships/notesMaster" Target="/ppt/notesMasters/notesMaster1.xml" Id="Ra82c443604b743d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82cd9f935a041fc" /><Relationship Type="http://schemas.openxmlformats.org/officeDocument/2006/relationships/notesMaster" Target="/ppt/notesMasters/notesMaster1.xml" Id="R8673113b68cd433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6d2bedca84546ed" /><Relationship Type="http://schemas.openxmlformats.org/officeDocument/2006/relationships/notesMaster" Target="/ppt/notesMasters/notesMaster1.xml" Id="R4e7ac31ef02e4e2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fbf4a28b04b4714" /><Relationship Type="http://schemas.openxmlformats.org/officeDocument/2006/relationships/notesMaster" Target="/ppt/notesMasters/notesMaster1.xml" Id="R66647c12705640f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8686bd226c5424f" /><Relationship Type="http://schemas.openxmlformats.org/officeDocument/2006/relationships/notesMaster" Target="/ppt/notesMasters/notesMaster1.xml" Id="Racf9fc96526e4cd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5964cbf71864ea8" /><Relationship Type="http://schemas.openxmlformats.org/officeDocument/2006/relationships/notesMaster" Target="/ppt/notesMasters/notesMaster1.xml" Id="Rfbc773a52a93405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90fdafc26c343aa" /><Relationship Type="http://schemas.openxmlformats.org/officeDocument/2006/relationships/notesMaster" Target="/ppt/notesMasters/notesMaster1.xml" Id="R554993c56ec8482f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c02a31e3255c4243" /><Relationship Type="http://schemas.openxmlformats.org/officeDocument/2006/relationships/notesMaster" Target="/ppt/notesMasters/notesMaster1.xml" Id="R54f22179efd44e2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Buka dengan tujuan konkret: detail pada area gelap perlu terlihat tanpa mengabaikan area terang. Visual berasal dari skimage.data.camera yang diberi simulasi pencahayaan tidak merata untuk pembelajaran.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Berikan 20 hingga 30 detik agar mahasiswa menunjuk area yang akan dinilai. Histogram tidak menyimpan posisi piksel.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Gunakan contoh ini untuk menunjukkan bahwa pengolahan tidak dapat menebak kembali informasi yang sudah hilang karena clipping.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Sumber: https://docs.opencv.org/4.x/d3/dc1/tutorial_basic_linear_transform.html . Beberapa kode memakai pangkat 1/gamma sehingga arah parameternya terbalik. Deck dan notebook ini memakai pangkat gamma secara langsung.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Jalankan sel gamma setelah mahasiswa memprediksi. Beri mereka 3 menit untuk mengganti satu nilai yang sudah tersedia.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Sumber: https://docs.opencv.org/4.x/d5/daf/tutorial_py_histogram_equalization.html . Tutorial resmi menunjukkan histogram, CDF, look-up table, dan cv.equalizeHist.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Sumber: https://docs.opencv.org/4.x/d5/daf/tutorial_py_histogram_equalization.html . Dokumentasi menjelaskan bahwa equalization global kurang baik ketika citra memuat variasi intensitas yang besar pada wilayah berbeda.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Sumber: https://docs.opencv.org/4.x/d5/daf/tutorial_py_histogram_equalization.html dan https://docs.opencv.org/4.x/d6/db6/classcv_1_1CLAHE.html . tileGridSize menyatakan jumlah tile pada baris dan kolom.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Semua hasil pada slide dihitung langsung dari input yang sama. Potongan pada baris bawah memakai koordinat yang sama.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Notebook mahasiswa memuat tabel dan bagian kesimpulan. Bagian foto sendiri bersifat opsional setelah latihan wajib selesai.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3665874a3324ac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7d24402771b467f" /><Relationship Type="http://schemas.openxmlformats.org/officeDocument/2006/relationships/slideLayout" Target="/ppt/slideLayouts/slideLayout1.xml" Id="R3825705d8f414a4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825705d8f414a4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1d3d40b02b443a" /><Relationship Type="http://schemas.openxmlformats.org/officeDocument/2006/relationships/image" Target="/ppt/media/image.png" Id="Rf2b65a3a9bc8448c" /><Relationship Type="http://schemas.openxmlformats.org/officeDocument/2006/relationships/notesSlide" Target="/ppt/notesSlides/notesSlide1.xml" Id="R206222b12ac8435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998bd848da46b7" /><Relationship Type="http://schemas.openxmlformats.org/officeDocument/2006/relationships/notesSlide" Target="/ppt/notesSlides/notesSlide2.xml" Id="R553153fe5835491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390c3c59df4837" /><Relationship Type="http://schemas.openxmlformats.org/officeDocument/2006/relationships/image" Target="/ppt/media/image2.png" Id="R79917cfd15cf4844" /><Relationship Type="http://schemas.openxmlformats.org/officeDocument/2006/relationships/notesSlide" Target="/ppt/notesSlides/notesSlide3.xml" Id="R188d5870198e4d8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51788b443448de" /><Relationship Type="http://schemas.openxmlformats.org/officeDocument/2006/relationships/image" Target="/ppt/media/image3.png" Id="Rd7482e5c1f0a4ea5" /><Relationship Type="http://schemas.openxmlformats.org/officeDocument/2006/relationships/notesSlide" Target="/ppt/notesSlides/notesSlide4.xml" Id="Rb88d534068a04fe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7af150f7c64c25" /><Relationship Type="http://schemas.openxmlformats.org/officeDocument/2006/relationships/image" Target="/ppt/media/image4.png" Id="Rbbbed4b0691c4830" /><Relationship Type="http://schemas.openxmlformats.org/officeDocument/2006/relationships/notesSlide" Target="/ppt/notesSlides/notesSlide5.xml" Id="R48df9951618f4aa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a0b5da84fa474f" /><Relationship Type="http://schemas.openxmlformats.org/officeDocument/2006/relationships/notesSlide" Target="/ppt/notesSlides/notesSlide6.xml" Id="R3dc0f237c5b640d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e355f3518f46e5" /><Relationship Type="http://schemas.openxmlformats.org/officeDocument/2006/relationships/image" Target="/ppt/media/image5.png" Id="Rc156ef3873704d71" /><Relationship Type="http://schemas.openxmlformats.org/officeDocument/2006/relationships/notesSlide" Target="/ppt/notesSlides/notesSlide7.xml" Id="R61aee3e1f9ba486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f3f8e1e3954506" /><Relationship Type="http://schemas.openxmlformats.org/officeDocument/2006/relationships/image" Target="/ppt/media/image6.png" Id="Rbe467583ab7145e5" /><Relationship Type="http://schemas.openxmlformats.org/officeDocument/2006/relationships/notesSlide" Target="/ppt/notesSlides/notesSlide8.xml" Id="R52ef1d9c58fa446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b29874748b4b91" /><Relationship Type="http://schemas.openxmlformats.org/officeDocument/2006/relationships/notesSlide" Target="/ppt/notesSlides/notesSlide9.xml" Id="Rdfb41ee3cf0d496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a9f8bd753d429e" /><Relationship Type="http://schemas.openxmlformats.org/officeDocument/2006/relationships/image" Target="/ppt/media/image7.png" Id="Rc0554790af914f72" /><Relationship Type="http://schemas.openxmlformats.org/officeDocument/2006/relationships/notesSlide" Target="/ppt/notesSlides/notesSlide10.xml" Id="R1cf1053f02ed4c8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77415b2cfc447e" /><Relationship Type="http://schemas.openxmlformats.org/officeDocument/2006/relationships/notesSlide" Target="/ppt/notesSlides/notesSlide11.xml" Id="Rdb5b715fb753477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657edd1efb477b" /><Relationship Type="http://schemas.openxmlformats.org/officeDocument/2006/relationships/image" Target="/ppt/media/image8.png" Id="R30a9b9cb05514943" /><Relationship Type="http://schemas.openxmlformats.org/officeDocument/2006/relationships/notesSlide" Target="/ppt/notesSlides/notesSlide12.xml" Id="R6aa81dbd2478474d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8f222184024093" /><Relationship Type="http://schemas.openxmlformats.org/officeDocument/2006/relationships/image" Target="/ppt/media/image9.png" Id="R7dd55a24e08e4571" /><Relationship Type="http://schemas.openxmlformats.org/officeDocument/2006/relationships/notesSlide" Target="/ppt/notesSlides/notesSlide13.xml" Id="R3c843e47dd9d47ed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dcba82e0eb4f5b" /><Relationship Type="http://schemas.openxmlformats.org/officeDocument/2006/relationships/notesSlide" Target="/ppt/notesSlides/notesSlide14.xml" Id="R5e790001c63847f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D2A5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B49F3E1-CF5B-4DFC-8376-44664C20D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6C1E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D70220-9C2C-4FE7-8474-603F1EE14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95300"/>
            <a:ext cx="514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1">
                <a:solidFill>
                  <a:srgbClr val="BBD3F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BBD3F5"/>
                </a:solidFill>
                <a:latin typeface="Arial"/>
                <a:ea typeface="Arial"/>
                <a:cs typeface="Arial"/>
              </a:rPr>
              <a:t>PRAKTIKUM PENGOLAHAN CITRA DIGITAL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B34D70-A3DB-4692-82EC-B5908B0C0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52550"/>
            <a:ext cx="542925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7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Perbaikan tampilan citra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2A0F5B-A5F3-4765-88A5-2B4E7FCE5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0510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950" b="1">
                <a:solidFill>
                  <a:srgbClr val="F5B841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5B841"/>
                </a:solidFill>
                <a:latin typeface="Arial"/>
                <a:ea typeface="Arial"/>
                <a:cs typeface="Arial"/>
              </a:rPr>
              <a:t>Sub-CPMK 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FB0A44-A720-43EB-BBA6-FD9DB12C1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333750"/>
            <a:ext cx="5048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0">
                <a:solidFill>
                  <a:srgbClr val="E7F0FA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7F0FA"/>
                </a:solidFill>
                <a:latin typeface="Arial"/>
                <a:ea typeface="Arial"/>
                <a:cs typeface="Arial"/>
              </a:rPr>
              <a:t>Gamma, histogram equalization, dan CLAHE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E868C3-C9C5-48C5-905F-F9662D4F3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610100"/>
            <a:ext cx="1285875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08F8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5CC7A7-8BAC-4F0E-A161-14F1FCB82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86300"/>
            <a:ext cx="1095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PREDIKSI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C1EF37-8D5B-4AB0-937D-3FD5D0E20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4610100"/>
            <a:ext cx="9525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36C1E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623914-9AA2-47FC-BD78-BF807432C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5025" y="4686300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COBA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144878-A462-490D-A9A3-1FED8756C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4610100"/>
            <a:ext cx="1285875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5B841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205A6F-0970-47B5-A6B2-927B92BE5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4686300"/>
            <a:ext cx="1095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1">
                <a:solidFill>
                  <a:srgbClr val="0D2A52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D2A52"/>
                </a:solidFill>
                <a:latin typeface="Arial"/>
                <a:ea typeface="Arial"/>
                <a:cs typeface="Arial"/>
              </a:rPr>
              <a:t>JELASKAN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b65a3a9bc8448c"/>
          <a:stretch xmlns:a="http://schemas.openxmlformats.org/drawingml/2006/main"/>
        </p:blipFill>
        <p:spPr>
          <a:xfrm xmlns:a="http://schemas.openxmlformats.org/drawingml/2006/main">
            <a:off x="6191250" y="1236651"/>
            <a:ext cx="5476875" cy="2574949"/>
          </a:xfrm>
          <a:prstGeom xmlns:a="http://schemas.openxmlformats.org/drawingml/2006/main" prst="roundRect">
            <a:avLst>
              <a:gd name="adj" fmla="val 4000"/>
            </a:avLst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69267EE-DB5D-434A-9840-78984B2A4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4333875"/>
            <a:ext cx="4429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Bandingkan area gelap dan area terang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9538BE-3AFD-4C3B-B8E8-B5C510A37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238875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00" b="0">
                <a:solidFill>
                  <a:srgbClr val="BBD3F5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BD3F5"/>
                </a:solidFill>
                <a:latin typeface="Arial"/>
                <a:ea typeface="Arial"/>
                <a:cs typeface="Arial"/>
              </a:rPr>
              <a:t>Python · OpenCV · NumPy · Google Colab</a:t>
            </a:r>
          </a:p>
        </p:txBody>
      </p:sp>
    </p:spTree>
    <p:extLst>
      <p:ext uri="{BB962C8B-B14F-4D97-AF65-F5344CB8AC3E}">
        <p14:creationId xmlns:p14="http://schemas.microsoft.com/office/powerpoint/2010/main" val="135618489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CF0C420-EA43-4C57-8375-0237BFEF0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38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A7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B24F4B-7442-4EAB-BC9C-10F4F0280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"/>
            <a:ext cx="533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E36C1E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E36C1E"/>
                </a:solidFill>
                <a:latin typeface="Arial"/>
                <a:ea typeface="Arial"/>
                <a:cs typeface="Arial"/>
              </a:rPr>
              <a:t>TARGET PRAKTIKUM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DB9008-7D9D-49D1-AF24-098750543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0620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625" b="1">
                <a:solidFill>
                  <a:srgbClr val="17252E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7252E"/>
                </a:solidFill>
                <a:latin typeface="Arial"/>
                <a:ea typeface="Arial"/>
                <a:cs typeface="Arial"/>
              </a:rPr>
              <a:t>Mahasiswa mengulang alur yang sudah didemonstrasikan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B2669F-70D5-415E-AA01-221092AC4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2857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1">
                <a:solidFill>
                  <a:srgbClr val="56636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6636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323CD5-5530-428B-A64C-B8F3CD2EA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66875"/>
            <a:ext cx="2476500" cy="333375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E7EFF9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E9CC8A-AE17-450C-B0D6-9E6DC2D5D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85950"/>
            <a:ext cx="59055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153A70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49DED0-CD58-4121-A949-0A21ADC7B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38350"/>
            <a:ext cx="590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91575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67165C-11AD-4EBB-8125-E995862F5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81300"/>
            <a:ext cx="2047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153A7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53A70"/>
                </a:solidFill>
                <a:latin typeface="Arial"/>
                <a:ea typeface="Arial"/>
                <a:cs typeface="Arial"/>
              </a:rPr>
              <a:t>KENALI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83A9F0-6902-4C01-90AA-9CE2B0A2D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38500"/>
            <a:ext cx="20478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17252E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2E"/>
                </a:solidFill>
                <a:latin typeface="Arial"/>
                <a:ea typeface="Arial"/>
                <a:cs typeface="Arial"/>
              </a:rPr>
              <a:t>Tunjuk bagian citra yang perlu diperjelas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6A96BE-6299-4A5E-BF2A-1C9B68CB5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1666875"/>
            <a:ext cx="2476500" cy="333375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BE9DC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620791-ED80-4EEA-B379-D4C9A3D94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1885950"/>
            <a:ext cx="59055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E36C1E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6E9187-871C-4EF7-9F91-6C6A6A82C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038350"/>
            <a:ext cx="590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91575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72A61C-7D81-4900-974D-D18D409B9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781300"/>
            <a:ext cx="2047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E36C1E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E36C1E"/>
                </a:solidFill>
                <a:latin typeface="Arial"/>
                <a:ea typeface="Arial"/>
                <a:cs typeface="Arial"/>
              </a:rPr>
              <a:t>COBA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C83D129-9B6E-4FB2-980F-F786DADC6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3238500"/>
            <a:ext cx="20478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17252E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2E"/>
                </a:solidFill>
                <a:latin typeface="Arial"/>
                <a:ea typeface="Arial"/>
                <a:cs typeface="Arial"/>
              </a:rPr>
              <a:t>Jalankan gamma, equalization, dan CLAHE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57F8D0E-4AC5-4870-B28F-805C37972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666875"/>
            <a:ext cx="2476500" cy="333375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DFF3F1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95223FD-C33D-4D83-995B-EC8E250A9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885950"/>
            <a:ext cx="59055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008F8F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7411ECF-464B-4FEA-87A4-09A9C7922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38350"/>
            <a:ext cx="590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91575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0DE671F-83DF-455F-A4AA-5376F80A4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781300"/>
            <a:ext cx="2047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008F8F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8F8F"/>
                </a:solidFill>
                <a:latin typeface="Arial"/>
                <a:ea typeface="Arial"/>
                <a:cs typeface="Arial"/>
              </a:rPr>
              <a:t>BANDINGKAN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1F0E3D9-0359-42B7-8983-68B1FDB6F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238500"/>
            <a:ext cx="20478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17252E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2E"/>
                </a:solidFill>
                <a:latin typeface="Arial"/>
                <a:ea typeface="Arial"/>
                <a:cs typeface="Arial"/>
              </a:rPr>
              <a:t>Lihat detail yang membaik dan efek samping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8F4B0E8-1E0C-4531-AD80-4A4890779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1666875"/>
            <a:ext cx="2476500" cy="333375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FFF4D6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DA6E873-DC39-48CB-9A8F-E21B5DEF2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1885950"/>
            <a:ext cx="59055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5B841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0CF441E-5973-4709-ADC5-CE832F81E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038350"/>
            <a:ext cx="590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91575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950" b="1">
                <a:solidFill>
                  <a:srgbClr val="0D2A52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D2A52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5715186-9E7C-457B-A107-8925EE6A0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781300"/>
            <a:ext cx="2047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0D2A52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D2A52"/>
                </a:solidFill>
                <a:latin typeface="Arial"/>
                <a:ea typeface="Arial"/>
                <a:cs typeface="Arial"/>
              </a:rPr>
              <a:t>PILIH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C434271-F72E-4DC8-95F3-9545D4E07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3238500"/>
            <a:ext cx="20478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17252E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2E"/>
                </a:solidFill>
                <a:latin typeface="Arial"/>
                <a:ea typeface="Arial"/>
                <a:cs typeface="Arial"/>
              </a:rPr>
              <a:t>Berikan alasan berdasarkan bagian gambar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4760AA6-490A-4C49-BACD-5C2DFEF6A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619750"/>
            <a:ext cx="990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9256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725" b="1">
                <a:solidFill>
                  <a:srgbClr val="153A7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53A70"/>
                </a:solidFill>
                <a:latin typeface="Arial"/>
                <a:ea typeface="Arial"/>
                <a:cs typeface="Arial"/>
              </a:rPr>
              <a:t>Latihan wajib: ubah parameter yang ditandai. Penggunaan gambar lain tersedia setelah latihan selesai.</a:t>
            </a:r>
          </a:p>
        </p:txBody>
      </p:sp>
    </p:spTree>
    <p:extLst>
      <p:ext uri="{BB962C8B-B14F-4D97-AF65-F5344CB8AC3E}">
        <p14:creationId xmlns:p14="http://schemas.microsoft.com/office/powerpoint/2010/main" val="239165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366C6D8-EAE3-44DE-9DA3-D29F1761F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38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A7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3D4081-686D-4328-95B9-2AD67292F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"/>
            <a:ext cx="533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E36C1E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E36C1E"/>
                </a:solidFill>
                <a:latin typeface="Arial"/>
                <a:ea typeface="Arial"/>
                <a:cs typeface="Arial"/>
              </a:rPr>
              <a:t>TENTUKAN TUJUAN SEBELUM MENGOLAH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5B858D-1D58-4541-B5EF-FC7D283D4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0620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625" b="1">
                <a:solidFill>
                  <a:srgbClr val="17252E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7252E"/>
                </a:solidFill>
                <a:latin typeface="Arial"/>
                <a:ea typeface="Arial"/>
                <a:cs typeface="Arial"/>
              </a:rPr>
              <a:t>Bagian mana yang ingin diperjelas?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7BBD9A-D684-44F3-A133-F0ED73AB7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2857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1">
                <a:solidFill>
                  <a:srgbClr val="56636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6636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917cfd15cf4844"/>
          <a:stretch xmlns:a="http://schemas.openxmlformats.org/drawingml/2006/main"/>
        </p:blipFill>
        <p:spPr>
          <a:xfrm xmlns:a="http://schemas.openxmlformats.org/drawingml/2006/main">
            <a:off x="1333500" y="1476375"/>
            <a:ext cx="4476750" cy="4476750"/>
          </a:xfrm>
          <a:prstGeom xmlns:a="http://schemas.openxmlformats.org/drawingml/2006/main" prst="roundRect">
            <a:avLst>
              <a:gd name="adj" fmla="val 2553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264469-616E-4BE4-BB20-8745253C3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1619250"/>
            <a:ext cx="428625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7EFF9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D3E4F8-67D2-465B-97B3-DBD0D5DEA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1847850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8971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>
                <a:solidFill>
                  <a:srgbClr val="153A7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53A70"/>
                </a:solidFill>
                <a:latin typeface="Arial"/>
                <a:ea typeface="Arial"/>
                <a:cs typeface="Arial"/>
              </a:rPr>
              <a:t>Area gelap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AA3239-DDA1-4CB4-A0B2-739EEA00F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2171700"/>
            <a:ext cx="361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7640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17252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252E"/>
                </a:solidFill>
                <a:latin typeface="Arial"/>
                <a:ea typeface="Arial"/>
                <a:cs typeface="Arial"/>
              </a:rPr>
              <a:t>Apakah tekstur dan bentuk menjadi lebih mudah dilihat?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C42C50-9D1F-4174-8FD2-5F605BE47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905125"/>
            <a:ext cx="428625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BE9DC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D872EC-D272-44F8-BA41-0F7EA2A16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133725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8971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>
                <a:solidFill>
                  <a:srgbClr val="E36C1E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E36C1E"/>
                </a:solidFill>
                <a:latin typeface="Arial"/>
                <a:ea typeface="Arial"/>
                <a:cs typeface="Arial"/>
              </a:rPr>
              <a:t>Area terang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C25AF1-1D95-4F17-8376-F3CF286EE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457575"/>
            <a:ext cx="361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8884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17252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252E"/>
                </a:solidFill>
                <a:latin typeface="Arial"/>
                <a:ea typeface="Arial"/>
                <a:cs typeface="Arial"/>
              </a:rPr>
              <a:t>Apakah detail tetap terlihat setelah pengolahan?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0704E6-DB2E-4989-AE0A-541DAE87B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4191000"/>
            <a:ext cx="428625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DFF3F1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067C1EB-7BB3-45B1-8603-64002D2F5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441960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8971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>
                <a:solidFill>
                  <a:srgbClr val="008F8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08F8F"/>
                </a:solidFill>
                <a:latin typeface="Arial"/>
                <a:ea typeface="Arial"/>
                <a:cs typeface="Arial"/>
              </a:rPr>
              <a:t>Latar dan derau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CE67F10-8E19-4547-BA9D-D33CE9897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4743450"/>
            <a:ext cx="361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8911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17252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252E"/>
                </a:solidFill>
                <a:latin typeface="Arial"/>
                <a:ea typeface="Arial"/>
                <a:cs typeface="Arial"/>
              </a:rPr>
              <a:t>Apakah bintik yang mengganggu ikut diperkuat?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9DF60C9-60DA-4B6C-8DFE-F8F170267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5638800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7351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1">
                <a:solidFill>
                  <a:srgbClr val="153A7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53A70"/>
                </a:solidFill>
                <a:latin typeface="Arial"/>
                <a:ea typeface="Arial"/>
                <a:cs typeface="Arial"/>
              </a:rPr>
              <a:t>Tetapkan bagian pengamatan sebelum memilih metode.</a:t>
            </a:r>
          </a:p>
        </p:txBody>
      </p:sp>
    </p:spTree>
    <p:extLst>
      <p:ext uri="{BB962C8B-B14F-4D97-AF65-F5344CB8AC3E}">
        <p14:creationId xmlns:p14="http://schemas.microsoft.com/office/powerpoint/2010/main" val="75013708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2091FE7-D474-467A-AC3F-BE9744E72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38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A7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BD0F1C-BC18-488C-BE54-E3448C466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"/>
            <a:ext cx="533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E36C1E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E36C1E"/>
                </a:solidFill>
                <a:latin typeface="Arial"/>
                <a:ea typeface="Arial"/>
                <a:cs typeface="Arial"/>
              </a:rPr>
              <a:t>BEKAL KONSEP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784747-D837-4DFE-9023-3C11EF4E4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0620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625" b="1">
                <a:solidFill>
                  <a:srgbClr val="17252E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7252E"/>
                </a:solidFill>
                <a:latin typeface="Arial"/>
                <a:ea typeface="Arial"/>
                <a:cs typeface="Arial"/>
              </a:rPr>
              <a:t>Lebih terang belum tentu membuat detail lebih jelas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0567B3-331F-4406-82AF-6A4175416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2857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1">
                <a:solidFill>
                  <a:srgbClr val="56636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6636B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482e5c1f0a4ea5"/>
          <a:stretch xmlns:a="http://schemas.openxmlformats.org/drawingml/2006/main"/>
        </p:blipFill>
        <p:spPr>
          <a:xfrm xmlns:a="http://schemas.openxmlformats.org/drawingml/2006/main">
            <a:off x="666750" y="2152050"/>
            <a:ext cx="6953250" cy="2268151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860542-0D0F-4070-A296-559C88A05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1714500"/>
            <a:ext cx="3286125" cy="1285875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E7EFF9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D07768-342B-4077-96C5-BAB0CB55C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9812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8547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950" b="1">
                <a:solidFill>
                  <a:srgbClr val="153A7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53A70"/>
                </a:solidFill>
                <a:latin typeface="Arial"/>
                <a:ea typeface="Arial"/>
                <a:cs typeface="Arial"/>
              </a:rPr>
              <a:t>Kecerahan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5E30DE-918F-4FAA-9A83-9B6AE6E58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381250"/>
            <a:ext cx="2571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9070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17252E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52E"/>
                </a:solidFill>
                <a:latin typeface="Arial"/>
                <a:ea typeface="Arial"/>
                <a:cs typeface="Arial"/>
              </a:rPr>
              <a:t>Seberapa terang tampilan citra atau suatu wilayah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3CFA84-94E8-4C4A-B876-9CDB3CC3F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333750"/>
            <a:ext cx="3286125" cy="1285875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BE9DC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DB3132-9FE7-4FB2-BC4C-5B957309F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6004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8547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950" b="1">
                <a:solidFill>
                  <a:srgbClr val="E36C1E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E36C1E"/>
                </a:solidFill>
                <a:latin typeface="Arial"/>
                <a:ea typeface="Arial"/>
                <a:cs typeface="Arial"/>
              </a:rPr>
              <a:t>Kontras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A7053A-2210-462A-BB2C-1FE537AA2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000500"/>
            <a:ext cx="2571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7781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17252E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52E"/>
                </a:solidFill>
                <a:latin typeface="Arial"/>
                <a:ea typeface="Arial"/>
                <a:cs typeface="Arial"/>
              </a:rPr>
              <a:t>Perbedaan intensitas yang membantu membedakan bagian citra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6AB06F-1C32-4974-A1C0-312D388A0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619750"/>
            <a:ext cx="971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00" b="1">
                <a:solidFill>
                  <a:srgbClr val="17252E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252E"/>
                </a:solidFill>
                <a:latin typeface="Arial"/>
                <a:ea typeface="Arial"/>
                <a:cs typeface="Arial"/>
              </a:rPr>
              <a:t>Pertanyaan: jika semua piksel ditambah 50, apakah selisih kedua nilai ikut membesar?</a:t>
            </a:r>
          </a:p>
        </p:txBody>
      </p:sp>
    </p:spTree>
    <p:extLst>
      <p:ext uri="{BB962C8B-B14F-4D97-AF65-F5344CB8AC3E}">
        <p14:creationId xmlns:p14="http://schemas.microsoft.com/office/powerpoint/2010/main" val="17717767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6EA669D-3C7A-4C64-8B7C-FACC492BA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38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A7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143F6F-12B3-42A9-845B-03CDB1EDD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"/>
            <a:ext cx="533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E36C1E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E36C1E"/>
                </a:solidFill>
                <a:latin typeface="Arial"/>
                <a:ea typeface="Arial"/>
                <a:cs typeface="Arial"/>
              </a:rPr>
              <a:t>TRANSFORMASI INTENSITAS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7CFD7A-D6A9-4FA2-9AD1-CBA240E63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0620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625" b="1">
                <a:solidFill>
                  <a:srgbClr val="17252E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7252E"/>
                </a:solidFill>
                <a:latin typeface="Arial"/>
                <a:ea typeface="Arial"/>
                <a:cs typeface="Arial"/>
              </a:rPr>
              <a:t>Clipping dapat menghapus perbedaan nilai piksel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9FE34D-B5FC-4375-ACB9-FBDF1E974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2857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1">
                <a:solidFill>
                  <a:srgbClr val="56636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6636B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bed4b0691c4830"/>
          <a:stretch xmlns:a="http://schemas.openxmlformats.org/drawingml/2006/main"/>
        </p:blipFill>
        <p:spPr>
          <a:xfrm xmlns:a="http://schemas.openxmlformats.org/drawingml/2006/main">
            <a:off x="904875" y="1619250"/>
            <a:ext cx="10382250" cy="27622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79298E-F67C-4E05-9CE3-1396EED76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4762500"/>
            <a:ext cx="733425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E7EFF9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F02C36-3A12-41D2-823A-272AAFA78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84822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881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7252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252E"/>
                </a:solidFill>
                <a:latin typeface="Arial"/>
                <a:ea typeface="Arial"/>
                <a:cs typeface="Arial"/>
              </a:rPr>
              <a:t>Awal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1E73E9-49D3-4BBD-BC09-FF0E49B63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848225"/>
            <a:ext cx="1047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8818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153A7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53A70"/>
                </a:solidFill>
                <a:latin typeface="Arial"/>
                <a:ea typeface="Arial"/>
                <a:cs typeface="Arial"/>
              </a:rPr>
              <a:t>230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4C7DB8-8182-45B4-A4DF-7C51E4367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848225"/>
            <a:ext cx="1047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8818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153A7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53A70"/>
                </a:solidFill>
                <a:latin typeface="Arial"/>
                <a:ea typeface="Arial"/>
                <a:cs typeface="Arial"/>
              </a:rPr>
              <a:t>250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16E150-5CA2-49C2-9772-C7E4967C5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5219700"/>
            <a:ext cx="733425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FBE9DC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624B1F-5EF7-4E13-AB61-EC4D66296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30542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881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7252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252E"/>
                </a:solidFill>
                <a:latin typeface="Arial"/>
                <a:ea typeface="Arial"/>
                <a:cs typeface="Arial"/>
              </a:rPr>
              <a:t>Tambah 40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6FB398-FB28-4E14-B1F4-A5132687C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305425"/>
            <a:ext cx="1047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8818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153A7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53A70"/>
                </a:solidFill>
                <a:latin typeface="Arial"/>
                <a:ea typeface="Arial"/>
                <a:cs typeface="Arial"/>
              </a:rPr>
              <a:t>255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DCEC46-F0B2-4D4B-8FF6-DDDB302AE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305425"/>
            <a:ext cx="1047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8818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153A7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53A70"/>
                </a:solidFill>
                <a:latin typeface="Arial"/>
                <a:ea typeface="Arial"/>
                <a:cs typeface="Arial"/>
              </a:rPr>
              <a:t>255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63CB38-D021-4330-AF6D-04DABBBB7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5676900"/>
            <a:ext cx="733425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E7EFF9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393A7E6-A59B-4873-B56C-AE12B5810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762625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8818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>
                <a:solidFill>
                  <a:srgbClr val="17252E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7252E"/>
                </a:solidFill>
                <a:latin typeface="Arial"/>
                <a:ea typeface="Arial"/>
                <a:cs typeface="Arial"/>
              </a:rPr>
              <a:t>Kurangi 40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7C911B0-DE3A-4C38-95C3-561FE6101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762625"/>
            <a:ext cx="1047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8818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153A7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53A70"/>
                </a:solidFill>
                <a:latin typeface="Arial"/>
                <a:ea typeface="Arial"/>
                <a:cs typeface="Arial"/>
              </a:rPr>
              <a:t>215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F6C3304-17A7-4D23-BBB6-82A422A5A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762625"/>
            <a:ext cx="1047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8818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153A7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53A70"/>
                </a:solidFill>
                <a:latin typeface="Arial"/>
                <a:ea typeface="Arial"/>
                <a:cs typeface="Arial"/>
              </a:rPr>
              <a:t>215</a:t>
            </a:r>
          </a:p>
        </p:txBody>
      </p:sp>
    </p:spTree>
    <p:extLst>
      <p:ext uri="{BB962C8B-B14F-4D97-AF65-F5344CB8AC3E}">
        <p14:creationId xmlns:p14="http://schemas.microsoft.com/office/powerpoint/2010/main" val="124914197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91B757E-2EE0-4122-B33B-53ABBD278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38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A7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F90B73-78BF-47B1-B2F9-98A0836D1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"/>
            <a:ext cx="533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E36C1E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E36C1E"/>
                </a:solidFill>
                <a:latin typeface="Arial"/>
                <a:ea typeface="Arial"/>
                <a:cs typeface="Arial"/>
              </a:rPr>
              <a:t>PEMETAAN NILAI PIKSEL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B373D3-D72F-47A3-B48E-C372AABF6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0620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625" b="1">
                <a:solidFill>
                  <a:srgbClr val="17252E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7252E"/>
                </a:solidFill>
                <a:latin typeface="Arial"/>
                <a:ea typeface="Arial"/>
                <a:cs typeface="Arial"/>
              </a:rPr>
              <a:t>Satu nilai input dipetakan menjadi nilai output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CE0FB3-A49C-449A-8542-CC6269635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2857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1">
                <a:solidFill>
                  <a:srgbClr val="56636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6636B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A9CB70-6023-4372-B02D-E6FE2F7DD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66875"/>
            <a:ext cx="342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4350" b="1">
                <a:solidFill>
                  <a:srgbClr val="153A70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153A70"/>
                </a:solidFill>
                <a:latin typeface="Arial"/>
                <a:ea typeface="Arial"/>
                <a:cs typeface="Arial"/>
              </a:rPr>
              <a:t>s = T(r)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BC2078-1BAB-4D54-9884-318A6112A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52750"/>
            <a:ext cx="476250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E7EFF9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1EBF8E-24C2-4D83-8596-4EA4ED8A6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3850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9406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025" b="1">
                <a:solidFill>
                  <a:srgbClr val="153A7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53A70"/>
                </a:solidFill>
                <a:latin typeface="Arial"/>
                <a:ea typeface="Arial"/>
                <a:cs typeface="Arial"/>
              </a:rPr>
              <a:t>Negatif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7F1CAE-8151-45FE-AD92-31673FE5F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62375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250" b="1">
                <a:solidFill>
                  <a:srgbClr val="17252E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252E"/>
                </a:solidFill>
                <a:latin typeface="Arial"/>
                <a:ea typeface="Arial"/>
                <a:cs typeface="Arial"/>
              </a:rPr>
              <a:t>s = 255 − 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5A3796-20C1-411C-A98A-1BE4E989E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324350"/>
            <a:ext cx="381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>
                <a:solidFill>
                  <a:srgbClr val="56636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6636B"/>
                </a:solidFill>
                <a:latin typeface="Arial"/>
                <a:ea typeface="Arial"/>
                <a:cs typeface="Arial"/>
              </a:rPr>
              <a:t>Membalik urutan terang dan gelap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DCAFBD-37A8-4C1C-9AB5-D7014967D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952750"/>
            <a:ext cx="476250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BE9DC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0CF2B9-9745-487C-8CBA-E8700D5DF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23850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9406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025" b="1">
                <a:solidFill>
                  <a:srgbClr val="E36C1E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E36C1E"/>
                </a:solidFill>
                <a:latin typeface="Arial"/>
                <a:ea typeface="Arial"/>
                <a:cs typeface="Arial"/>
              </a:rPr>
              <a:t>Log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AAD28F-6169-4B2E-BC38-F956DE9FD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762375"/>
            <a:ext cx="3905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9700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025" b="1">
                <a:solidFill>
                  <a:srgbClr val="17252E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252E"/>
                </a:solidFill>
                <a:latin typeface="Arial"/>
                <a:ea typeface="Arial"/>
                <a:cs typeface="Arial"/>
              </a:rPr>
              <a:t>Perubahan lebih besar pada nilai rendah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06D14F-48E1-4CE6-841D-70D11AA64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514850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56636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6636B"/>
                </a:solidFill>
                <a:latin typeface="Arial"/>
                <a:ea typeface="Arial"/>
                <a:cs typeface="Arial"/>
              </a:rPr>
              <a:t>Pengantar sebelum eksperimen gamma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6842BBD-964B-4660-BCE7-9ED95EB3B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715000"/>
            <a:ext cx="9334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650" b="1">
                <a:solidFill>
                  <a:srgbClr val="17252E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252E"/>
                </a:solidFill>
                <a:latin typeface="Arial"/>
                <a:ea typeface="Arial"/>
                <a:cs typeface="Arial"/>
              </a:rPr>
              <a:t>Keduanya ditampilkan singkat. Fokus praktikum ada pada gamma, equalization, dan CLAHE.</a:t>
            </a:r>
          </a:p>
        </p:txBody>
      </p:sp>
    </p:spTree>
    <p:extLst>
      <p:ext uri="{BB962C8B-B14F-4D97-AF65-F5344CB8AC3E}">
        <p14:creationId xmlns:p14="http://schemas.microsoft.com/office/powerpoint/2010/main" val="205948043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BEF4A96-2DD3-437F-B31A-64A856B57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38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A7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49A4CB-BCAA-4860-9001-292E278AF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"/>
            <a:ext cx="533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E36C1E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E36C1E"/>
                </a:solidFill>
                <a:latin typeface="Arial"/>
                <a:ea typeface="Arial"/>
                <a:cs typeface="Arial"/>
              </a:rPr>
              <a:t>KOREKSI GAMMA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819B21-EDEC-4B9B-A1DD-FDD524FEB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0620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625" b="1">
                <a:solidFill>
                  <a:srgbClr val="17252E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7252E"/>
                </a:solidFill>
                <a:latin typeface="Arial"/>
                <a:ea typeface="Arial"/>
                <a:cs typeface="Arial"/>
              </a:rPr>
              <a:t>Gamma mengubah bentuk pemetaan intensitas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64D1B6-FB72-428C-941B-F46979F6B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2857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1">
                <a:solidFill>
                  <a:srgbClr val="56636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6636B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56ef3873704d71"/>
          <a:stretch xmlns:a="http://schemas.openxmlformats.org/drawingml/2006/main"/>
        </p:blipFill>
        <p:spPr>
          <a:xfrm xmlns:a="http://schemas.openxmlformats.org/drawingml/2006/main">
            <a:off x="666750" y="1768602"/>
            <a:ext cx="5619750" cy="389229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F9C15E-E43F-49AE-A03B-4533D9A85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619250"/>
            <a:ext cx="4000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550" b="1">
                <a:solidFill>
                  <a:srgbClr val="153A7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53A70"/>
                </a:solidFill>
                <a:latin typeface="Arial"/>
                <a:ea typeface="Arial"/>
                <a:cs typeface="Arial"/>
              </a:rPr>
              <a:t>s = 255 × (r / 255)ᵞ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A0DF65-E865-439F-9CD9-F1EC52933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571750"/>
            <a:ext cx="447675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BE9DC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DC2B50-EA7B-4B7A-9CB4-E2374DEA0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762250"/>
            <a:ext cx="1000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5" b="1">
                <a:solidFill>
                  <a:srgbClr val="E36C1E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E36C1E"/>
                </a:solidFill>
                <a:latin typeface="Arial"/>
                <a:ea typeface="Arial"/>
                <a:cs typeface="Arial"/>
              </a:rPr>
              <a:t>γ &lt; 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6F12CC-01CF-403F-8609-200C71DCB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743200"/>
            <a:ext cx="2619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8507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17252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252E"/>
                </a:solidFill>
                <a:latin typeface="Arial"/>
                <a:ea typeface="Arial"/>
                <a:cs typeface="Arial"/>
              </a:rPr>
              <a:t>Nilai tengah menjadi lebih tinggi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ECAE58-F937-4338-BD56-0EF4FFA7A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571875"/>
            <a:ext cx="447675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E8ECEE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28DC1C-6531-42FB-87F3-9BCF82477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762375"/>
            <a:ext cx="1000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5" b="1">
                <a:solidFill>
                  <a:srgbClr val="56636B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56636B"/>
                </a:solidFill>
                <a:latin typeface="Arial"/>
                <a:ea typeface="Arial"/>
                <a:cs typeface="Arial"/>
              </a:rPr>
              <a:t>γ = 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A8AA69-75A3-402F-882D-E3569DC35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743325"/>
            <a:ext cx="2619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17252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252E"/>
                </a:solidFill>
                <a:latin typeface="Arial"/>
                <a:ea typeface="Arial"/>
                <a:cs typeface="Arial"/>
              </a:rPr>
              <a:t>Nilai tidak berubah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5878863-2DB4-4130-8509-E76FE437E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572000"/>
            <a:ext cx="447675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E7EFF9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892F4D-24D2-4CE3-A649-787C9B96F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4762500"/>
            <a:ext cx="1000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5" b="1">
                <a:solidFill>
                  <a:srgbClr val="153A7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53A70"/>
                </a:solidFill>
                <a:latin typeface="Arial"/>
                <a:ea typeface="Arial"/>
                <a:cs typeface="Arial"/>
              </a:rPr>
              <a:t>γ &gt; 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F8FF149-CD0E-4632-89C2-C21C12E5D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743450"/>
            <a:ext cx="2619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8204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>
                <a:solidFill>
                  <a:srgbClr val="17252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252E"/>
                </a:solidFill>
                <a:latin typeface="Arial"/>
                <a:ea typeface="Arial"/>
                <a:cs typeface="Arial"/>
              </a:rPr>
              <a:t>Nilai tengah menjadi lebih rendah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E889477-F06C-4F94-A5FC-46470810C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5857875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8312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56636B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56636B"/>
                </a:solidFill>
                <a:latin typeface="Arial"/>
                <a:ea typeface="Arial"/>
                <a:cs typeface="Arial"/>
              </a:rPr>
              <a:t>Konvensi ini harus sama pada rumus, slide, dan kode.</a:t>
            </a:r>
          </a:p>
        </p:txBody>
      </p:sp>
    </p:spTree>
    <p:extLst>
      <p:ext uri="{BB962C8B-B14F-4D97-AF65-F5344CB8AC3E}">
        <p14:creationId xmlns:p14="http://schemas.microsoft.com/office/powerpoint/2010/main" val="194083187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F7546D-2447-4053-858F-E11D8C064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38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A7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114382-8084-4E28-9DB5-46FDAF896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"/>
            <a:ext cx="533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E36C1E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E36C1E"/>
                </a:solidFill>
                <a:latin typeface="Arial"/>
                <a:ea typeface="Arial"/>
                <a:cs typeface="Arial"/>
              </a:rPr>
              <a:t>PREDIKSI SEBELUM EKSEKUSI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13AE43-F41A-41C0-8951-8B68F3667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0620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625" b="1">
                <a:solidFill>
                  <a:srgbClr val="17252E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7252E"/>
                </a:solidFill>
                <a:latin typeface="Arial"/>
                <a:ea typeface="Arial"/>
                <a:cs typeface="Arial"/>
              </a:rPr>
              <a:t>Gamma mana yang membantu citra gelap?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9FDEAC-4EB2-4CDE-9191-D084BE8EE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2857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1">
                <a:solidFill>
                  <a:srgbClr val="56636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6636B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467583ab7145e5"/>
          <a:stretch xmlns:a="http://schemas.openxmlformats.org/drawingml/2006/main"/>
        </p:blipFill>
        <p:spPr>
          <a:xfrm xmlns:a="http://schemas.openxmlformats.org/drawingml/2006/main">
            <a:off x="619125" y="1907195"/>
            <a:ext cx="10953750" cy="2948361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EB7830-894B-4FDA-8BE3-F02662649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572125"/>
            <a:ext cx="914400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FFF4D6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C821F3-2DBA-4E5A-AD7B-1D2C5FAD6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705475"/>
            <a:ext cx="857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93795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650" b="1">
                <a:solidFill>
                  <a:srgbClr val="17252E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252E"/>
                </a:solidFill>
                <a:latin typeface="Arial"/>
                <a:ea typeface="Arial"/>
                <a:cs typeface="Arial"/>
              </a:rPr>
              <a:t>Amati area gelap, lalu periksa apakah area yang sudah terang kehilangan detail.</a:t>
            </a:r>
          </a:p>
        </p:txBody>
      </p:sp>
    </p:spTree>
    <p:extLst>
      <p:ext uri="{BB962C8B-B14F-4D97-AF65-F5344CB8AC3E}">
        <p14:creationId xmlns:p14="http://schemas.microsoft.com/office/powerpoint/2010/main" val="29005931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6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05F66D1-ACE5-4603-9844-C0FE6C086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38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A7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22C003-D627-4B03-A298-139DD8404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"/>
            <a:ext cx="533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E36C1E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E36C1E"/>
                </a:solidFill>
                <a:latin typeface="Arial"/>
                <a:ea typeface="Arial"/>
                <a:cs typeface="Arial"/>
              </a:rPr>
              <a:t>HISTOGRAM EQUALIZATION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E65DE2-085D-4680-BA93-4D2A99D8A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0620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625" b="1">
                <a:solidFill>
                  <a:srgbClr val="17252E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7252E"/>
                </a:solidFill>
                <a:latin typeface="Arial"/>
                <a:ea typeface="Arial"/>
                <a:cs typeface="Arial"/>
              </a:rPr>
              <a:t>CDF membentuk pemetaan dari distribusi citra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71D2C7-0867-4B08-932F-500DD2BF8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2857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1">
                <a:solidFill>
                  <a:srgbClr val="56636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6636B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25C1C0-202D-4ADE-9BF2-4A9D594EE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2762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153A7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53A70"/>
                </a:solidFill>
                <a:latin typeface="Arial"/>
                <a:ea typeface="Arial"/>
                <a:cs typeface="Arial"/>
              </a:rPr>
              <a:t>Contoh delapan piksel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D146F0-DB97-415A-89EC-E177F0355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47875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7252E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252E"/>
                </a:solidFill>
                <a:latin typeface="Arial"/>
                <a:ea typeface="Arial"/>
                <a:cs typeface="Arial"/>
              </a:rPr>
              <a:t>1, 1, 1, 2, 2, 3, 3, 3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74E144-0C1E-451A-951E-C137821E4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09875"/>
            <a:ext cx="4953000" cy="4762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153A70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A6C648-6EE1-4CCC-B156-060B35816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33700"/>
            <a:ext cx="1333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9607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Intensitas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D3AD96-343D-49D3-A0A9-B014EA61E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2933700"/>
            <a:ext cx="1333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9607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Jumlah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0FB95F-EEB5-46F7-B3F0-92FCC1AA1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2933700"/>
            <a:ext cx="1333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9607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Kumulatif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0023A8-40D0-4E9B-BFFA-2AE0C66FC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00425"/>
            <a:ext cx="4953000" cy="4762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E7EFF9"/>
          </a:solidFill>
          <a:ln xmlns:a="http://schemas.openxmlformats.org/drawingml/2006/main" w="9525">
            <a:solidFill>
              <a:srgbClr val="D7DEE2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A36069-701E-4395-9600-0A8109E5C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24250"/>
            <a:ext cx="1333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9607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>
                <a:solidFill>
                  <a:srgbClr val="17252E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252E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8D359F-9D85-40B1-953B-09F0D01BE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3524250"/>
            <a:ext cx="1333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9607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425" b="0">
                <a:solidFill>
                  <a:srgbClr val="17252E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252E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FBC4CC-62D7-4335-A7E5-D4A4DBA28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3524250"/>
            <a:ext cx="1333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9607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425" b="0">
                <a:solidFill>
                  <a:srgbClr val="17252E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252E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CD11B03-DAB6-4B3F-B90E-D0F95D256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90975"/>
            <a:ext cx="4953000" cy="4762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2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729F9F9-CEAF-4B26-A889-96D126E67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14800"/>
            <a:ext cx="1333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9607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>
                <a:solidFill>
                  <a:srgbClr val="17252E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252E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B8C01B1-7E47-4D6C-A6C2-49EBCE8FA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4114800"/>
            <a:ext cx="1333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9607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425" b="0">
                <a:solidFill>
                  <a:srgbClr val="17252E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252E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916965D-CFEA-44EB-ABEF-3A983A793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4114800"/>
            <a:ext cx="1333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9607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425" b="0">
                <a:solidFill>
                  <a:srgbClr val="17252E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252E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5DC7F79-D8D6-4464-A4D0-B2E8EC5C8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81525"/>
            <a:ext cx="4953000" cy="4762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E7EFF9"/>
          </a:solidFill>
          <a:ln xmlns:a="http://schemas.openxmlformats.org/drawingml/2006/main" w="9525">
            <a:solidFill>
              <a:srgbClr val="D7DEE2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F320B2C-61F5-420A-BC25-4D43591AA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705350"/>
            <a:ext cx="1333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9607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>
                <a:solidFill>
                  <a:srgbClr val="17252E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252E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A92CE13-0BFC-4B9F-AB19-E2F238E59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4705350"/>
            <a:ext cx="1333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9607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425" b="0">
                <a:solidFill>
                  <a:srgbClr val="17252E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252E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E016E65-9AFE-4589-9D0D-C76C0464A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4705350"/>
            <a:ext cx="1333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9607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425" b="0">
                <a:solidFill>
                  <a:srgbClr val="17252E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7252E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F79E27E-3553-45BF-BD31-293522D7A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666875"/>
            <a:ext cx="4857750" cy="3524250"/>
          </a:xfrm>
          <a:prstGeom xmlns:a="http://schemas.openxmlformats.org/drawingml/2006/main" prst="roundRect">
            <a:avLst>
              <a:gd name="adj" fmla="val 3243"/>
            </a:avLst>
          </a:prstGeom>
          <a:solidFill xmlns:a="http://schemas.openxmlformats.org/drawingml/2006/main">
            <a:srgbClr val="FBE9DC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89A60A3-1263-4629-B80A-39A8A572E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047875"/>
            <a:ext cx="323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9070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E36C1E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E36C1E"/>
                </a:solidFill>
                <a:latin typeface="Arial"/>
                <a:ea typeface="Arial"/>
                <a:cs typeface="Arial"/>
              </a:rPr>
              <a:t>Pertanyaan CDF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0266D30-93EC-404D-BBAB-C14E21F81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714625"/>
            <a:ext cx="38576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8316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75" b="1">
                <a:solidFill>
                  <a:srgbClr val="17252E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252E"/>
                </a:solidFill>
                <a:latin typeface="Arial"/>
                <a:ea typeface="Arial"/>
                <a:cs typeface="Arial"/>
              </a:rPr>
              <a:t>Berapa banyak piksel yang nilainya kurang dari atau sama dengan 2?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EE12F4F-6839-41EF-AF24-F74943B0D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4048125"/>
            <a:ext cx="371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025" b="1">
                <a:solidFill>
                  <a:srgbClr val="153A7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53A70"/>
                </a:solidFill>
                <a:latin typeface="Arial"/>
                <a:ea typeface="Arial"/>
                <a:cs typeface="Arial"/>
              </a:rPr>
              <a:t>Jawaban: 5 dari 8 piksel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47E8AF8-74ED-478F-98EB-3A91F9C79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4714875"/>
            <a:ext cx="381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7936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56636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6636B"/>
                </a:solidFill>
                <a:latin typeface="Arial"/>
                <a:ea typeface="Arial"/>
                <a:cs typeface="Arial"/>
              </a:rPr>
              <a:t>OpenCV menjalankan pemetaan ini melalui cv2.equalizeHist().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1105F0F-1144-466E-A90B-D19FA4060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90550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1">
                <a:solidFill>
                  <a:srgbClr val="17252E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252E"/>
                </a:solidFill>
                <a:latin typeface="Arial"/>
                <a:ea typeface="Arial"/>
                <a:cs typeface="Arial"/>
              </a:rPr>
              <a:t>Fokus kelas: pahami asal pemetaan. Perhitungan manual lengkap tidak menjadi tugas.</a:t>
            </a:r>
          </a:p>
        </p:txBody>
      </p:sp>
    </p:spTree>
    <p:extLst>
      <p:ext uri="{BB962C8B-B14F-4D97-AF65-F5344CB8AC3E}">
        <p14:creationId xmlns:p14="http://schemas.microsoft.com/office/powerpoint/2010/main" val="188420739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6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F6B4FB-F784-4239-B2AF-B30AA7C97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38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A7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E31E43-71C2-41E8-A72B-6E7055354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"/>
            <a:ext cx="533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E36C1E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E36C1E"/>
                </a:solidFill>
                <a:latin typeface="Arial"/>
                <a:ea typeface="Arial"/>
                <a:cs typeface="Arial"/>
              </a:rPr>
              <a:t>PEMETAAN GLOBAL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601407-1162-42F7-98A1-70D305A7B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0620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625" b="1">
                <a:solidFill>
                  <a:srgbClr val="17252E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7252E"/>
                </a:solidFill>
                <a:latin typeface="Arial"/>
                <a:ea typeface="Arial"/>
                <a:cs typeface="Arial"/>
              </a:rPr>
              <a:t>Equalization menggunakan satu aturan untuk seluruh citra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F8C7EE-16AB-438C-AF90-F0FC3B086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2857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1">
                <a:solidFill>
                  <a:srgbClr val="56636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6636B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554790af914f72"/>
          <a:stretch xmlns:a="http://schemas.openxmlformats.org/drawingml/2006/main"/>
        </p:blipFill>
        <p:spPr>
          <a:xfrm xmlns:a="http://schemas.openxmlformats.org/drawingml/2006/main">
            <a:off x="1192083" y="1381125"/>
            <a:ext cx="6474083" cy="47625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483738-10E1-4A10-8949-5A2BB9F9B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666875"/>
            <a:ext cx="2714625" cy="1571625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E7EFF9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E60D4F-7F9B-4816-B7C0-3F40DE8CD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192405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153A7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53A70"/>
                </a:solidFill>
                <a:latin typeface="Arial"/>
                <a:ea typeface="Arial"/>
                <a:cs typeface="Arial"/>
              </a:rPr>
              <a:t>Dapat membantu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82DB58-CB3B-4BDE-88E1-8C9B8128E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400300"/>
            <a:ext cx="2143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8368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17252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252E"/>
                </a:solidFill>
                <a:latin typeface="Arial"/>
                <a:ea typeface="Arial"/>
                <a:cs typeface="Arial"/>
              </a:rPr>
              <a:t>Jika histogram awal terkumpul pada rentang sempit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1C0A16-0509-4DA3-8A1A-3078E5F15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667125"/>
            <a:ext cx="2714625" cy="1571625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BE9DC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6C24D1-2A6E-4B73-839C-362507ABE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92430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>
                <a:solidFill>
                  <a:srgbClr val="E36C1E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E36C1E"/>
                </a:solidFill>
                <a:latin typeface="Arial"/>
                <a:ea typeface="Arial"/>
                <a:cs typeface="Arial"/>
              </a:rPr>
              <a:t>Perlu diperiksa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466208-8E49-4D0A-AE99-1F7FB5BB3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4400550"/>
            <a:ext cx="2143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8201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>
                <a:solidFill>
                  <a:srgbClr val="17252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252E"/>
                </a:solidFill>
                <a:latin typeface="Arial"/>
                <a:ea typeface="Arial"/>
                <a:cs typeface="Arial"/>
              </a:rPr>
              <a:t>Area terang dan gelap dapat membutuhkan perlakuan berbeda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667F1A-067C-47D3-88F2-E472B9289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5810250"/>
            <a:ext cx="2333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6239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425" b="1">
                <a:solidFill>
                  <a:srgbClr val="56636B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56636B"/>
                </a:solidFill>
                <a:latin typeface="Arial"/>
                <a:ea typeface="Arial"/>
                <a:cs typeface="Arial"/>
              </a:rPr>
              <a:t>Histogram hasil tidak harus rata sempurna.</a:t>
            </a:r>
          </a:p>
        </p:txBody>
      </p:sp>
    </p:spTree>
    <p:extLst>
      <p:ext uri="{BB962C8B-B14F-4D97-AF65-F5344CB8AC3E}">
        <p14:creationId xmlns:p14="http://schemas.microsoft.com/office/powerpoint/2010/main" val="64976731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6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F7BF482D-7AFB-4FD7-B11E-E9D18FB2F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38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A7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5CED35-B91A-4A8A-A833-57752040C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"/>
            <a:ext cx="533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E36C1E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E36C1E"/>
                </a:solidFill>
                <a:latin typeface="Arial"/>
                <a:ea typeface="Arial"/>
                <a:cs typeface="Arial"/>
              </a:rPr>
              <a:t>KONTRAS LOKAL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CE6342-5861-4BED-907C-3CA9873F4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0620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625" b="1">
                <a:solidFill>
                  <a:srgbClr val="17252E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7252E"/>
                </a:solidFill>
                <a:latin typeface="Arial"/>
                <a:ea typeface="Arial"/>
                <a:cs typeface="Arial"/>
              </a:rPr>
              <a:t>CLAHE membagi citra dan membatasi penguatan kontras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8BA31C-0B32-44A4-B8EA-73B0E261C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2857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1">
                <a:solidFill>
                  <a:srgbClr val="56636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6636B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CC53E3-3507-4D48-8B16-2F382F4A5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571625"/>
            <a:ext cx="4762500" cy="3905250"/>
          </a:xfrm>
          <a:prstGeom xmlns:a="http://schemas.openxmlformats.org/drawingml/2006/main" prst="roundRect">
            <a:avLst>
              <a:gd name="adj" fmla="val 2927"/>
            </a:avLst>
          </a:prstGeom>
          <a:solidFill xmlns:a="http://schemas.openxmlformats.org/drawingml/2006/main">
            <a:srgbClr val="DFF3F1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86A776-3A73-45A2-9662-F0815E0F1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857375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99941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025" b="1">
                <a:solidFill>
                  <a:srgbClr val="008F8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8F8F"/>
                </a:solidFill>
                <a:latin typeface="Arial"/>
                <a:ea typeface="Arial"/>
                <a:cs typeface="Arial"/>
              </a:rPr>
              <a:t>Citra dibagi menjadi wilayah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844A03-4218-4287-B318-8527BDA14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524125"/>
            <a:ext cx="36195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D1ECE8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FBF3C6-183C-4425-B881-E58F6D4CF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2524125"/>
            <a:ext cx="36195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A7DCD6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C11A86-FB57-4E21-9FFB-B801A4A83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524125"/>
            <a:ext cx="36195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D1ECE8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5B3B1B-A276-47A4-BE88-7CF9EECC3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2524125"/>
            <a:ext cx="36195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A7DCD6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1E3605-CBF2-418C-99FB-E75B43082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524125"/>
            <a:ext cx="36195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D1ECE8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2AE2ED-0E22-470B-9A5D-80ACB2F3B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524125"/>
            <a:ext cx="36195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A7DCD6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AA0179-0DC7-4BA2-B90D-008698316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524125"/>
            <a:ext cx="36195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D1ECE8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F8D0863-DECC-4570-8D89-FD6A1152C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2524125"/>
            <a:ext cx="36195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A7DCD6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28E856A-6F97-49DC-9797-E9B6EB441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905125"/>
            <a:ext cx="36195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A7DCD6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77B3BA-F1FE-4E0E-B1AB-24052EF82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2905125"/>
            <a:ext cx="36195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D1ECE8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A2F482A-7217-4CC9-B2C9-A2BE63E2E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905125"/>
            <a:ext cx="36195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A7DCD6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34DDAD1-AD2E-4AE8-B6BC-3E2F0B444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2905125"/>
            <a:ext cx="36195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D1ECE8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042A19D-FC1D-4446-8252-708C07AEC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905125"/>
            <a:ext cx="36195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A7DCD6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0BDDA56-2491-4FF6-95B2-D4AC38DF3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905125"/>
            <a:ext cx="36195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D1ECE8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7BBA4F2-3015-46D6-84D3-CDB0FC88B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905125"/>
            <a:ext cx="36195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A7DCD6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63B9BCF-A04D-414D-A442-7C69C06C1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2905125"/>
            <a:ext cx="36195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D1ECE8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5D94520-33B8-4CEF-8C14-B9B65A5B6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286125"/>
            <a:ext cx="36195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D1ECE8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EC745D0-216F-44C0-8B28-5F7419765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3286125"/>
            <a:ext cx="36195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A7DCD6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268325F-1507-4D59-A910-19ACF96E7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3286125"/>
            <a:ext cx="36195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D1ECE8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C016DEA-E2EC-446B-A6D4-DACFD2707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3286125"/>
            <a:ext cx="36195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A7DCD6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7CEE1E2-5974-4BAF-9193-FAEA876D4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3286125"/>
            <a:ext cx="36195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D1ECE8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7BA1572-15A9-438D-90DD-038064EA2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3286125"/>
            <a:ext cx="36195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A7DCD6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F3D85FD-0F67-49AD-8A3C-B8251AF9C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3286125"/>
            <a:ext cx="36195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D1ECE8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1C029AE-2C79-4B92-8A85-A5DEEBAC5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3286125"/>
            <a:ext cx="36195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A7DCD6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4DBC185-3626-4B2B-A6A8-F26FA4E5F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667125"/>
            <a:ext cx="36195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A7DCD6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0ED83DE-F749-4899-A1CD-7CF60810A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3667125"/>
            <a:ext cx="36195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D1ECE8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C76BE01-FC48-42D9-B5FF-8F3464941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3667125"/>
            <a:ext cx="36195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A7DCD6"/>
          </a:solidFill>
          <a:ln xmlns:a="http://schemas.openxmlformats.org/drawingml/2006/main" w="0">
            <a:noFill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7BE80C6-B47E-45A3-8507-0B2B60293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3667125"/>
            <a:ext cx="36195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D1ECE8"/>
          </a:solidFill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B8257F3-7090-4277-99B5-58BDB6421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3667125"/>
            <a:ext cx="36195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A7DCD6"/>
          </a:solidFill>
          <a:ln xmlns:a="http://schemas.openxmlformats.org/drawingml/2006/main" w="0">
            <a:noFill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9BD367D-7724-4DE8-97D2-C56CC3A63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3667125"/>
            <a:ext cx="36195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D1ECE8"/>
          </a:solidFill>
          <a:ln xmlns:a="http://schemas.openxmlformats.org/drawingml/2006/main" w="0">
            <a:noFill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7C9189D-4350-405A-A788-B277FA9E3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3667125"/>
            <a:ext cx="36195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A7DCD6"/>
          </a:solidFill>
          <a:ln xmlns:a="http://schemas.openxmlformats.org/drawingml/2006/main" w="0">
            <a:noFill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71498CA-236D-41D3-82C4-CFD4D46CC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3667125"/>
            <a:ext cx="36195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D1ECE8"/>
          </a:solidFill>
          <a:ln xmlns:a="http://schemas.openxmlformats.org/drawingml/2006/main" w="0">
            <a:noFill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0898950-C6B8-4801-8A68-A1579B916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048125"/>
            <a:ext cx="36195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D1ECE8"/>
          </a:solidFill>
          <a:ln xmlns:a="http://schemas.openxmlformats.org/drawingml/2006/main" w="0">
            <a:noFill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A3A8927-B853-42FC-8C35-ADBC64A7B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4048125"/>
            <a:ext cx="36195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A7DCD6"/>
          </a:solidFill>
          <a:ln xmlns:a="http://schemas.openxmlformats.org/drawingml/2006/main" w="0">
            <a:noFill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6CD0BDE-677C-4E21-888F-22867850E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4048125"/>
            <a:ext cx="36195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D1ECE8"/>
          </a:solidFill>
          <a:ln xmlns:a="http://schemas.openxmlformats.org/drawingml/2006/main" w="0">
            <a:noFill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C0B689B-8D55-490B-825B-A71E4749E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4048125"/>
            <a:ext cx="36195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A7DCD6"/>
          </a:solidFill>
          <a:ln xmlns:a="http://schemas.openxmlformats.org/drawingml/2006/main" w="0">
            <a:noFill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46AFD8D-0896-4779-99CB-CB0B78DB5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4048125"/>
            <a:ext cx="36195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D1ECE8"/>
          </a:solidFill>
          <a:ln xmlns:a="http://schemas.openxmlformats.org/drawingml/2006/main" w="0">
            <a:noFill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4F2D536-F594-4CD1-83CA-8CC918625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4048125"/>
            <a:ext cx="36195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A7DCD6"/>
          </a:solidFill>
          <a:ln xmlns:a="http://schemas.openxmlformats.org/drawingml/2006/main" w="0">
            <a:noFill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66FF48B-7DF8-4536-A494-04D8122D6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4048125"/>
            <a:ext cx="36195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D1ECE8"/>
          </a:solidFill>
          <a:ln xmlns:a="http://schemas.openxmlformats.org/drawingml/2006/main" w="0">
            <a:noFill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51CB1D6-7AE8-4E97-94BF-990D59CC9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4048125"/>
            <a:ext cx="36195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A7DCD6"/>
          </a:solidFill>
          <a:ln xmlns:a="http://schemas.openxmlformats.org/drawingml/2006/main" w="0">
            <a:noFill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10D228A-D470-4603-B59F-F2B5A54A2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429125"/>
            <a:ext cx="36195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A7DCD6"/>
          </a:solidFill>
          <a:ln xmlns:a="http://schemas.openxmlformats.org/drawingml/2006/main" w="0">
            <a:noFill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A19D353-904A-4705-91C2-213A33383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4429125"/>
            <a:ext cx="36195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D1ECE8"/>
          </a:solidFill>
          <a:ln xmlns:a="http://schemas.openxmlformats.org/drawingml/2006/main" w="0">
            <a:noFill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1E3CA7F-585E-4211-9A86-3AF67774C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4429125"/>
            <a:ext cx="36195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A7DCD6"/>
          </a:solidFill>
          <a:ln xmlns:a="http://schemas.openxmlformats.org/drawingml/2006/main" w="0">
            <a:noFill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EE8AF01B-5718-43FA-B9C0-5C8A65E70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4429125"/>
            <a:ext cx="36195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D1ECE8"/>
          </a:solidFill>
          <a:ln xmlns:a="http://schemas.openxmlformats.org/drawingml/2006/main" w="0">
            <a:noFill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2D1C7FA-1522-41CD-9C5F-7C8718189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4429125"/>
            <a:ext cx="36195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A7DCD6"/>
          </a:solidFill>
          <a:ln xmlns:a="http://schemas.openxmlformats.org/drawingml/2006/main" w="0">
            <a:noFill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69B5F1B-8FE5-4C6B-B5B5-8CD391D9B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4429125"/>
            <a:ext cx="36195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D1ECE8"/>
          </a:solidFill>
          <a:ln xmlns:a="http://schemas.openxmlformats.org/drawingml/2006/main" w="0">
            <a:noFill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587C9ED0-5CD1-4B41-93D3-84B19CD78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4429125"/>
            <a:ext cx="36195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A7DCD6"/>
          </a:solidFill>
          <a:ln xmlns:a="http://schemas.openxmlformats.org/drawingml/2006/main" w="0">
            <a:noFill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D8EA5318-B2FD-4748-9F83-9B9B40A89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4429125"/>
            <a:ext cx="361950" cy="361950"/>
          </a:xfrm>
          <a:prstGeom xmlns:a="http://schemas.openxmlformats.org/drawingml/2006/main" prst="roundRect">
            <a:avLst>
              <a:gd name="adj" fmla="val 31579"/>
            </a:avLst>
          </a:prstGeom>
          <a:solidFill xmlns:a="http://schemas.openxmlformats.org/drawingml/2006/main">
            <a:srgbClr val="D1ECE8"/>
          </a:solidFill>
          <a:ln xmlns:a="http://schemas.openxmlformats.org/drawingml/2006/main" w="0">
            <a:noFill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94C0478F-3208-482C-9654-8AEDEB498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000625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0">
                <a:solidFill>
                  <a:srgbClr val="56636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6636B"/>
                </a:solidFill>
                <a:latin typeface="Arial"/>
                <a:ea typeface="Arial"/>
                <a:cs typeface="Arial"/>
              </a:rPr>
              <a:t>Contoh visual pembagian wilayah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926F060C-5E13-4425-B49E-61929F1F7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809750"/>
            <a:ext cx="49530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FBE9DC"/>
          </a:solidFill>
          <a:ln xmlns:a="http://schemas.openxmlformats.org/drawingml/2006/main" w="0">
            <a:noFill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3DD056BB-B583-4319-BA87-CFF1FF921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05740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8503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E36C1E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E36C1E"/>
                </a:solidFill>
                <a:latin typeface="Arial"/>
                <a:ea typeface="Arial"/>
                <a:cs typeface="Arial"/>
              </a:rPr>
              <a:t>clipLimit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7D3EDFF9-8E1F-4366-B5B2-5A20E2D13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47650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17252E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252E"/>
                </a:solidFill>
                <a:latin typeface="Arial"/>
                <a:ea typeface="Arial"/>
                <a:cs typeface="Arial"/>
              </a:rPr>
              <a:t>membatasi penguatan kontras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5D84A0C1-48BD-47B8-963C-E4657661E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429000"/>
            <a:ext cx="49530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E7EFF9"/>
          </a:solidFill>
          <a:ln xmlns:a="http://schemas.openxmlformats.org/drawingml/2006/main" w="0">
            <a:noFill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F1312A42-62C2-4A81-8E91-D3EA317C4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67665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8503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>
                <a:solidFill>
                  <a:srgbClr val="153A7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53A70"/>
                </a:solidFill>
                <a:latin typeface="Arial"/>
                <a:ea typeface="Arial"/>
                <a:cs typeface="Arial"/>
              </a:rPr>
              <a:t>tileGridSize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C468C97B-FA1C-44D1-9320-92E02C299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09575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>
                <a:solidFill>
                  <a:srgbClr val="17252E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252E"/>
                </a:solidFill>
                <a:latin typeface="Arial"/>
                <a:ea typeface="Arial"/>
                <a:cs typeface="Arial"/>
              </a:rPr>
              <a:t>jumlah pembagian pada dua arah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A683AB3D-683B-420F-8848-D600369FE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334000"/>
            <a:ext cx="4953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9209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650" b="1">
                <a:solidFill>
                  <a:srgbClr val="17252E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252E"/>
                </a:solidFill>
                <a:latin typeface="Arial"/>
                <a:ea typeface="Arial"/>
                <a:cs typeface="Arial"/>
              </a:rPr>
              <a:t>Latihan utama: grid tetap (8,8), ubah clipLimit 1 dan 2.</a:t>
            </a:r>
          </a:p>
        </p:txBody>
      </p:sp>
    </p:spTree>
    <p:extLst>
      <p:ext uri="{BB962C8B-B14F-4D97-AF65-F5344CB8AC3E}">
        <p14:creationId xmlns:p14="http://schemas.microsoft.com/office/powerpoint/2010/main" val="162975294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6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8AF5AF-19DD-407E-AF9D-A153D3B97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38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A7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A00115-C527-4F3E-97B5-21ECEB2E5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"/>
            <a:ext cx="533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E36C1E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E36C1E"/>
                </a:solidFill>
                <a:latin typeface="Arial"/>
                <a:ea typeface="Arial"/>
                <a:cs typeface="Arial"/>
              </a:rPr>
              <a:t>EVALUASI HASIL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B77A76-2FC3-4AF1-84CD-2D94D2B9A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0620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625" b="1">
                <a:solidFill>
                  <a:srgbClr val="17252E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7252E"/>
                </a:solidFill>
                <a:latin typeface="Arial"/>
                <a:ea typeface="Arial"/>
                <a:cs typeface="Arial"/>
              </a:rPr>
              <a:t>Pilih metode dengan melihat bagian gambar yang sama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82494F-7048-4236-8B94-54177E2D8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2857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1">
                <a:solidFill>
                  <a:srgbClr val="56636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6636B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a9b9cb05514943"/>
          <a:stretch xmlns:a="http://schemas.openxmlformats.org/drawingml/2006/main"/>
        </p:blipFill>
        <p:spPr>
          <a:xfrm xmlns:a="http://schemas.openxmlformats.org/drawingml/2006/main">
            <a:off x="1508247" y="1381125"/>
            <a:ext cx="9165981" cy="45720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852FB3-581C-4989-AC92-F6EFDB13E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6048375"/>
            <a:ext cx="914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93795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650" b="1">
                <a:solidFill>
                  <a:srgbClr val="153A70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53A70"/>
                </a:solidFill>
                <a:latin typeface="Arial"/>
                <a:ea typeface="Arial"/>
                <a:cs typeface="Arial"/>
              </a:rPr>
              <a:t>Periksa detail sasaran, area terang, dan derau yang ikut terlihat.</a:t>
            </a:r>
          </a:p>
        </p:txBody>
      </p:sp>
    </p:spTree>
    <p:extLst>
      <p:ext uri="{BB962C8B-B14F-4D97-AF65-F5344CB8AC3E}">
        <p14:creationId xmlns:p14="http://schemas.microsoft.com/office/powerpoint/2010/main" val="42669100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6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BC59E33-CD28-4911-AB1E-BD5FECB5F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38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A7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FF2F8E-D77D-4913-836C-E1E0F66B3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"/>
            <a:ext cx="533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E36C1E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E36C1E"/>
                </a:solidFill>
                <a:latin typeface="Arial"/>
                <a:ea typeface="Arial"/>
                <a:cs typeface="Arial"/>
              </a:rPr>
              <a:t>LATIHAN WAJIB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9A1560-8782-47DE-813A-9ED358859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0620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625" b="1">
                <a:solidFill>
                  <a:srgbClr val="17252E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7252E"/>
                </a:solidFill>
                <a:latin typeface="Arial"/>
                <a:ea typeface="Arial"/>
                <a:cs typeface="Arial"/>
              </a:rPr>
              <a:t>Ulangi langkah yang sama pada citra koin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F320AE-15B2-4444-88A3-DBE0552BF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2857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1">
                <a:solidFill>
                  <a:srgbClr val="56636B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56636B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d55a24e08e4571"/>
          <a:stretch xmlns:a="http://schemas.openxmlformats.org/drawingml/2006/main"/>
        </p:blipFill>
        <p:spPr>
          <a:xfrm xmlns:a="http://schemas.openxmlformats.org/drawingml/2006/main">
            <a:off x="590550" y="2198093"/>
            <a:ext cx="7334250" cy="1604565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7280DB-075D-458D-A6AB-FB67C23F6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476375"/>
            <a:ext cx="295275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E7EFF9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F03371-621D-4003-BD07-5BA1942C8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1628775"/>
            <a:ext cx="333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725" b="1">
                <a:solidFill>
                  <a:srgbClr val="153A7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53A70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BE9A65-A973-4F9D-A627-4D3BC114D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1609725"/>
            <a:ext cx="2047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8289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17252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252E"/>
                </a:solidFill>
                <a:latin typeface="Arial"/>
                <a:ea typeface="Arial"/>
                <a:cs typeface="Arial"/>
              </a:rPr>
              <a:t>Coba gamma 0,50; 0,70; 1,00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D6D57A-8EDA-4241-8D74-93818A70D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314575"/>
            <a:ext cx="295275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DFF3F1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0F4ABA-DA52-41EA-9756-C1779E4C9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466975"/>
            <a:ext cx="333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725" b="1">
                <a:solidFill>
                  <a:srgbClr val="153A7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53A70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3134BF-9D50-4DF4-8F18-37E1073F6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447925"/>
            <a:ext cx="2047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17252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252E"/>
                </a:solidFill>
                <a:latin typeface="Arial"/>
                <a:ea typeface="Arial"/>
                <a:cs typeface="Arial"/>
              </a:rPr>
              <a:t>Pilih satu gamma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6090F3-1AD0-4F40-AF0E-D6F9AC593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152775"/>
            <a:ext cx="295275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E7EFF9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13F7BD-5440-4BF7-AB78-EFD48E036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305175"/>
            <a:ext cx="333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725" b="1">
                <a:solidFill>
                  <a:srgbClr val="153A7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53A70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B5AA10E-2BFC-4D3F-A380-ACA8C5B48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3286125"/>
            <a:ext cx="2047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17252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252E"/>
                </a:solidFill>
                <a:latin typeface="Arial"/>
                <a:ea typeface="Arial"/>
                <a:cs typeface="Arial"/>
              </a:rPr>
              <a:t>Jalankan equalization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895504E-97EC-4BB9-9C3E-C7EF9EA7F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990975"/>
            <a:ext cx="295275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DFF3F1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080EBD8-018E-4D88-8985-879341B22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143375"/>
            <a:ext cx="333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725" b="1">
                <a:solidFill>
                  <a:srgbClr val="153A7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53A70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93F8DD4-E73B-4AAC-B4A7-06E9A190B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4124325"/>
            <a:ext cx="2047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9534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17252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252E"/>
                </a:solidFill>
                <a:latin typeface="Arial"/>
                <a:ea typeface="Arial"/>
                <a:cs typeface="Arial"/>
              </a:rPr>
              <a:t>Coba CLAHE clip 1 dan 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14308DD-EE5F-4ADA-B83D-D99252827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829175"/>
            <a:ext cx="295275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5B841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7E39E56-265C-41DE-B453-DC9D7691A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981575"/>
            <a:ext cx="333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725" b="1">
                <a:solidFill>
                  <a:srgbClr val="153A70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53A70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60EA6A4-D0E1-4F86-9256-6887D1034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4962525"/>
            <a:ext cx="2047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1">
                <a:solidFill>
                  <a:srgbClr val="17252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252E"/>
                </a:solidFill>
                <a:latin typeface="Arial"/>
                <a:ea typeface="Arial"/>
                <a:cs typeface="Arial"/>
              </a:rPr>
              <a:t>Isi tabel pengamatan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CC8F25C-D9F1-4DC5-8677-D9548CB15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381625"/>
            <a:ext cx="647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8125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725" b="1">
                <a:solidFill>
                  <a:srgbClr val="E36C1E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E36C1E"/>
                </a:solidFill>
                <a:latin typeface="Arial"/>
                <a:ea typeface="Arial"/>
                <a:cs typeface="Arial"/>
              </a:rPr>
              <a:t>Kode dan fungsi bantu sudah tersedia. Ubah hanya parameter yang ditandai.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0A53967-F462-4402-BB2A-E51CC66F4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953125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0">
                <a:solidFill>
                  <a:srgbClr val="56636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6636B"/>
                </a:solidFill>
                <a:latin typeface="Arial"/>
                <a:ea typeface="Arial"/>
                <a:cs typeface="Arial"/>
              </a:rPr>
              <a:t>Opsional setelah selesai: gunakan gambar lain atau foto sendiri.</a:t>
            </a:r>
          </a:p>
        </p:txBody>
      </p:sp>
    </p:spTree>
    <p:extLst>
      <p:ext uri="{BB962C8B-B14F-4D97-AF65-F5344CB8AC3E}">
        <p14:creationId xmlns:p14="http://schemas.microsoft.com/office/powerpoint/2010/main" val="70394025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D2A5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32B1868-AC7A-4A15-BEBC-557CF743B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38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6C1E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100AE7-1C8A-4E9C-BBA2-E9D1B6AA6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"/>
            <a:ext cx="533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BBD3F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BBD3F5"/>
                </a:solidFill>
                <a:latin typeface="Arial"/>
                <a:ea typeface="Arial"/>
                <a:cs typeface="Arial"/>
              </a:rPr>
              <a:t>PENGUMPULAN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B76B24-8578-43D5-AC26-9C1CB398B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06203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26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Tunjukkan hasil dan alasan pilihanmu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14F6E5-67BC-42AD-8D56-6DC37B05B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2857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1125" b="1">
                <a:solidFill>
                  <a:srgbClr val="BBD3F5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BBD3F5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90E0B3-BFDA-4BBC-AA61-EA8199929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19250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9852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75" b="1">
                <a:solidFill>
                  <a:srgbClr val="F5B841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5B841"/>
                </a:solidFill>
                <a:latin typeface="Arial"/>
                <a:ea typeface="Arial"/>
                <a:cs typeface="Arial"/>
              </a:rPr>
              <a:t>Yang dikumpulkan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0BF692-BDE1-4650-9D07-97CBE0ED1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90750"/>
            <a:ext cx="5191125" cy="428625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204A83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D2973D-612C-4683-8F80-6A25D7650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86000"/>
            <a:ext cx="476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992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01  Notebook yang sudah dijalankan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F6C57C-C61B-4414-BC97-7C594D216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800350"/>
            <a:ext cx="5191125" cy="428625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73B68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1718FD-CE0D-4D12-A3BA-89FFD9DBD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95600"/>
            <a:ext cx="476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992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02  Empat gambar perbandingan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F72F28-9823-4B2A-9B04-921EAD0FA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409950"/>
            <a:ext cx="5191125" cy="428625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204A83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4C189D-5953-4EC2-9B32-4F1719828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05200"/>
            <a:ext cx="476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992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03  Gamma dan clipLimit pilihan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F84397-B781-4E7F-B62D-CD648AE6D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19550"/>
            <a:ext cx="5191125" cy="428625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73B68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BA3A67-C52B-4786-A409-BCC59466B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14800"/>
            <a:ext cx="476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992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04  Tabel pengamatan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17F5AF7-6F6E-4177-8D6F-F89B374E6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629150"/>
            <a:ext cx="5191125" cy="428625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204A83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3D479F9-22CF-443F-AE23-D37E7D79E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724400"/>
            <a:ext cx="476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992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05  Kesimpulan 2–4 kalimat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A630F69-AE20-4886-A314-E3E1716A9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762125"/>
            <a:ext cx="4381500" cy="3000375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97C437F-EFBA-4C65-BC46-DD75422FD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09550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99941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025" b="1">
                <a:solidFill>
                  <a:srgbClr val="153A7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53A70"/>
                </a:solidFill>
                <a:latin typeface="Arial"/>
                <a:ea typeface="Arial"/>
                <a:cs typeface="Arial"/>
              </a:rPr>
              <a:t>Kesimpulan yang cukup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A655EA7-EB04-4CF1-B88D-3834D4A12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809875"/>
            <a:ext cx="34290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rmAutofit fontScale="8611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00" b="1">
                <a:solidFill>
                  <a:srgbClr val="17252E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252E"/>
                </a:solidFill>
                <a:latin typeface="Arial"/>
                <a:ea typeface="Arial"/>
                <a:cs typeface="Arial"/>
              </a:rPr>
              <a:t>Saya memilih ... karena bagian ... menjadi lebih terlihat. Efek yang kurang diinginkan adalah 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C688CAA-05F0-4B85-9E21-28AC14C08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257675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9518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E36C1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E36C1E"/>
                </a:solidFill>
                <a:latin typeface="Arial"/>
                <a:ea typeface="Arial"/>
                <a:cs typeface="Arial"/>
              </a:rPr>
              <a:t>Sebutkan bagian gambar sebagai bukti.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4CCFBA5-EA18-45DB-AFF0-E61B93713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429250"/>
            <a:ext cx="4572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 fontScale="9312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7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Pertanyaan penutup: mengapa hasil yang lebih kontras belum tentu menjadi hasil pilihan?</a:t>
            </a:r>
          </a:p>
        </p:txBody>
      </p:sp>
    </p:spTree>
    <p:extLst>
      <p:ext uri="{BB962C8B-B14F-4D97-AF65-F5344CB8AC3E}">
        <p14:creationId xmlns:p14="http://schemas.microsoft.com/office/powerpoint/2010/main" val="105799503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2026-09-14T19:07:44.9180000Z</dcterms:created>
  <dcterms:modified xsi:type="dcterms:W3CDTF">2026-09-14T19:07:44.9180000Z</dcterms:modified>
</coreProperties>
</file>