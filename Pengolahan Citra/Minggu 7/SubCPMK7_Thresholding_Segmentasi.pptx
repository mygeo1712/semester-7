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6f179710fcc47dc" /><Relationship Type="http://schemas.openxmlformats.org/officeDocument/2006/relationships/extended-properties" Target="/docProps/app.xml" Id="R5108f30c427646d5" /><Relationship Type="http://schemas.openxmlformats.org/officeDocument/2006/relationships/officeDocument" Target="/ppt/presentation.xml" Id="R36ece0a496db4d35" /></Relationships>
</file>

<file path=ppt/presentation.xml><?xml version="1.0" encoding="utf-8"?>
<p:presentation xmlns:p="http://schemas.openxmlformats.org/presentationml/2006/main">
  <p:sldMasterIdLst>
    <p:sldMasterId xmlns:r="http://schemas.openxmlformats.org/officeDocument/2006/relationships" id="2147483648" r:id="Rb51b9c043d804c7d"/>
  </p:sldMasterIdLst>
  <p:notesMasterIdLst>
    <p:notesMasterId xmlns:r="http://schemas.openxmlformats.org/officeDocument/2006/relationships" r:id="Rffbabcf745844aef"/>
  </p:notesMasterIdLst>
  <p:sldIdLst>
    <p:sldId xmlns:r="http://schemas.openxmlformats.org/officeDocument/2006/relationships" id="256" r:id="R4a5995f9558448c6"/>
    <p:sldId xmlns:r="http://schemas.openxmlformats.org/officeDocument/2006/relationships" id="257" r:id="R3805b68488434884"/>
    <p:sldId xmlns:r="http://schemas.openxmlformats.org/officeDocument/2006/relationships" id="258" r:id="R9a5ca5a3d3434729"/>
    <p:sldId xmlns:r="http://schemas.openxmlformats.org/officeDocument/2006/relationships" id="259" r:id="R430a0ac821dc4484"/>
    <p:sldId xmlns:r="http://schemas.openxmlformats.org/officeDocument/2006/relationships" id="260" r:id="R3040074fbf1f410a"/>
    <p:sldId xmlns:r="http://schemas.openxmlformats.org/officeDocument/2006/relationships" id="261" r:id="Rf321cf0db193458e"/>
    <p:sldId xmlns:r="http://schemas.openxmlformats.org/officeDocument/2006/relationships" id="262" r:id="Rd71a403e55d448e6"/>
    <p:sldId xmlns:r="http://schemas.openxmlformats.org/officeDocument/2006/relationships" id="263" r:id="R436e684e3dd341c8"/>
    <p:sldId xmlns:r="http://schemas.openxmlformats.org/officeDocument/2006/relationships" id="264" r:id="R481a9b12ccb642ac"/>
    <p:sldId xmlns:r="http://schemas.openxmlformats.org/officeDocument/2006/relationships" id="265" r:id="R80ec40c3223c4c65"/>
    <p:sldId xmlns:r="http://schemas.openxmlformats.org/officeDocument/2006/relationships" id="266" r:id="R206e716ae23f4ef2"/>
    <p:sldId xmlns:r="http://schemas.openxmlformats.org/officeDocument/2006/relationships" id="267" r:id="R43fc201c50c045cc"/>
    <p:sldId xmlns:r="http://schemas.openxmlformats.org/officeDocument/2006/relationships" id="268" r:id="R000c6921c28a4161"/>
    <p:sldId xmlns:r="http://schemas.openxmlformats.org/officeDocument/2006/relationships" id="269" r:id="Rf6c9bcfdea5f4ec9"/>
    <p:sldId xmlns:r="http://schemas.openxmlformats.org/officeDocument/2006/relationships" id="270" r:id="Ra04ee8b99d674dcd"/>
    <p:sldId xmlns:r="http://schemas.openxmlformats.org/officeDocument/2006/relationships" id="271" r:id="R324bf34b68464eff"/>
    <p:sldId xmlns:r="http://schemas.openxmlformats.org/officeDocument/2006/relationships" id="272" r:id="Rcde2f72d938e4bae"/>
    <p:sldId xmlns:r="http://schemas.openxmlformats.org/officeDocument/2006/relationships" id="273" r:id="Ra1b3d7257512439e"/>
    <p:sldId xmlns:r="http://schemas.openxmlformats.org/officeDocument/2006/relationships" id="274" r:id="R75748009584e4dfa"/>
    <p:sldId xmlns:r="http://schemas.openxmlformats.org/officeDocument/2006/relationships" id="275" r:id="R5112f9092e984d0f"/>
    <p:sldId xmlns:r="http://schemas.openxmlformats.org/officeDocument/2006/relationships" id="276" r:id="R163991e6f83244aa"/>
    <p:sldId xmlns:r="http://schemas.openxmlformats.org/officeDocument/2006/relationships" id="277" r:id="Rbf1a666ac34948c2"/>
    <p:sldId xmlns:r="http://schemas.openxmlformats.org/officeDocument/2006/relationships" id="278" r:id="Rdfc86007debc43be"/>
    <p:sldId xmlns:r="http://schemas.openxmlformats.org/officeDocument/2006/relationships" id="279" r:id="R8ae7036fc6944505"/>
    <p:sldId xmlns:r="http://schemas.openxmlformats.org/officeDocument/2006/relationships" id="280" r:id="R97458a813ac947d8"/>
    <p:sldId xmlns:r="http://schemas.openxmlformats.org/officeDocument/2006/relationships" id="281" r:id="R3f296d8e40b447ac"/>
    <p:sldId xmlns:r="http://schemas.openxmlformats.org/officeDocument/2006/relationships" id="282" r:id="R976860d12c1a4760"/>
    <p:sldId xmlns:r="http://schemas.openxmlformats.org/officeDocument/2006/relationships" id="283" r:id="Re70a5d304c3c4ffe"/>
    <p:sldId xmlns:r="http://schemas.openxmlformats.org/officeDocument/2006/relationships" id="284" r:id="R156b3f0c98e24903"/>
    <p:sldId xmlns:r="http://schemas.openxmlformats.org/officeDocument/2006/relationships" id="285" r:id="Rb70cb92eee494301"/>
    <p:sldId xmlns:r="http://schemas.openxmlformats.org/officeDocument/2006/relationships" id="286" r:id="R3498925335174c75"/>
    <p:sldId xmlns:r="http://schemas.openxmlformats.org/officeDocument/2006/relationships" id="287" r:id="R0011af8d67ec4ac2"/>
    <p:sldId xmlns:r="http://schemas.openxmlformats.org/officeDocument/2006/relationships" id="288" r:id="R19957f5690654ad9"/>
    <p:sldId xmlns:r="http://schemas.openxmlformats.org/officeDocument/2006/relationships" id="289" r:id="Re18d2cfb70bb4ee5"/>
    <p:sldId xmlns:r="http://schemas.openxmlformats.org/officeDocument/2006/relationships" id="290" r:id="Rf6b848082dd44374"/>
    <p:sldId xmlns:r="http://schemas.openxmlformats.org/officeDocument/2006/relationships" id="291" r:id="Rc8b18a3f07f64ee2"/>
    <p:sldId xmlns:r="http://schemas.openxmlformats.org/officeDocument/2006/relationships" id="292" r:id="Rab063de10a3c4b98"/>
    <p:sldId xmlns:r="http://schemas.openxmlformats.org/officeDocument/2006/relationships" id="293" r:id="R4f1b702f4d884dc7"/>
    <p:sldId xmlns:r="http://schemas.openxmlformats.org/officeDocument/2006/relationships" id="294" r:id="Rae6b037caaab4b6a"/>
    <p:sldId xmlns:r="http://schemas.openxmlformats.org/officeDocument/2006/relationships" id="295" r:id="Redd97f71761146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fa9e147b4f42ea" /><Relationship Type="http://schemas.openxmlformats.org/officeDocument/2006/relationships/slideMaster" Target="/ppt/slideMasters/slideMaster1.xml" Id="Rb51b9c043d804c7d" /><Relationship Type="http://schemas.openxmlformats.org/officeDocument/2006/relationships/notesMaster" Target="/ppt/notesMasters/notesMaster1.xml" Id="Rffbabcf745844aef" /><Relationship Type="http://schemas.openxmlformats.org/officeDocument/2006/relationships/presProps" Target="/ppt/presProps.xml" Id="R3482f5dc908e47e4" /><Relationship Type="http://schemas.openxmlformats.org/officeDocument/2006/relationships/tableStyles" Target="/ppt/tableStyles.xml" Id="Re48ee1c331c143a1" /><Relationship Type="http://schemas.openxmlformats.org/officeDocument/2006/relationships/slide" Target="/ppt/slides/slide1.xml" Id="R4a5995f9558448c6" /><Relationship Type="http://schemas.openxmlformats.org/officeDocument/2006/relationships/slide" Target="/ppt/slides/slide2.xml" Id="R3805b68488434884" /><Relationship Type="http://schemas.openxmlformats.org/officeDocument/2006/relationships/slide" Target="/ppt/slides/slide3.xml" Id="R9a5ca5a3d3434729" /><Relationship Type="http://schemas.openxmlformats.org/officeDocument/2006/relationships/slide" Target="/ppt/slides/slide4.xml" Id="R430a0ac821dc4484" /><Relationship Type="http://schemas.openxmlformats.org/officeDocument/2006/relationships/slide" Target="/ppt/slides/slide5.xml" Id="R3040074fbf1f410a" /><Relationship Type="http://schemas.openxmlformats.org/officeDocument/2006/relationships/slide" Target="/ppt/slides/slide6.xml" Id="Rf321cf0db193458e" /><Relationship Type="http://schemas.openxmlformats.org/officeDocument/2006/relationships/slide" Target="/ppt/slides/slide7.xml" Id="Rd71a403e55d448e6" /><Relationship Type="http://schemas.openxmlformats.org/officeDocument/2006/relationships/slide" Target="/ppt/slides/slide8.xml" Id="R436e684e3dd341c8" /><Relationship Type="http://schemas.openxmlformats.org/officeDocument/2006/relationships/slide" Target="/ppt/slides/slide9.xml" Id="R481a9b12ccb642ac" /><Relationship Type="http://schemas.openxmlformats.org/officeDocument/2006/relationships/slide" Target="/ppt/slides/slide10.xml" Id="R80ec40c3223c4c65" /><Relationship Type="http://schemas.openxmlformats.org/officeDocument/2006/relationships/slide" Target="/ppt/slides/slide11.xml" Id="R206e716ae23f4ef2" /><Relationship Type="http://schemas.openxmlformats.org/officeDocument/2006/relationships/slide" Target="/ppt/slides/slide12.xml" Id="R43fc201c50c045cc" /><Relationship Type="http://schemas.openxmlformats.org/officeDocument/2006/relationships/slide" Target="/ppt/slides/slide13.xml" Id="R000c6921c28a4161" /><Relationship Type="http://schemas.openxmlformats.org/officeDocument/2006/relationships/slide" Target="/ppt/slides/slide14.xml" Id="Rf6c9bcfdea5f4ec9" /><Relationship Type="http://schemas.openxmlformats.org/officeDocument/2006/relationships/slide" Target="/ppt/slides/slide15.xml" Id="Ra04ee8b99d674dcd" /><Relationship Type="http://schemas.openxmlformats.org/officeDocument/2006/relationships/slide" Target="/ppt/slides/slide16.xml" Id="R324bf34b68464eff" /><Relationship Type="http://schemas.openxmlformats.org/officeDocument/2006/relationships/slide" Target="/ppt/slides/slide17.xml" Id="Rcde2f72d938e4bae" /><Relationship Type="http://schemas.openxmlformats.org/officeDocument/2006/relationships/slide" Target="/ppt/slides/slide18.xml" Id="Ra1b3d7257512439e" /><Relationship Type="http://schemas.openxmlformats.org/officeDocument/2006/relationships/slide" Target="/ppt/slides/slide19.xml" Id="R75748009584e4dfa" /><Relationship Type="http://schemas.openxmlformats.org/officeDocument/2006/relationships/slide" Target="/ppt/slides/slide20.xml" Id="R5112f9092e984d0f" /><Relationship Type="http://schemas.openxmlformats.org/officeDocument/2006/relationships/slide" Target="/ppt/slides/slide21.xml" Id="R163991e6f83244aa" /><Relationship Type="http://schemas.openxmlformats.org/officeDocument/2006/relationships/slide" Target="/ppt/slides/slide22.xml" Id="Rbf1a666ac34948c2" /><Relationship Type="http://schemas.openxmlformats.org/officeDocument/2006/relationships/slide" Target="/ppt/slides/slide23.xml" Id="Rdfc86007debc43be" /><Relationship Type="http://schemas.openxmlformats.org/officeDocument/2006/relationships/slide" Target="/ppt/slides/slide24.xml" Id="R8ae7036fc6944505" /><Relationship Type="http://schemas.openxmlformats.org/officeDocument/2006/relationships/slide" Target="/ppt/slides/slide25.xml" Id="R97458a813ac947d8" /><Relationship Type="http://schemas.openxmlformats.org/officeDocument/2006/relationships/slide" Target="/ppt/slides/slide26.xml" Id="R3f296d8e40b447ac" /><Relationship Type="http://schemas.openxmlformats.org/officeDocument/2006/relationships/slide" Target="/ppt/slides/slide27.xml" Id="R976860d12c1a4760" /><Relationship Type="http://schemas.openxmlformats.org/officeDocument/2006/relationships/slide" Target="/ppt/slides/slide28.xml" Id="Re70a5d304c3c4ffe" /><Relationship Type="http://schemas.openxmlformats.org/officeDocument/2006/relationships/slide" Target="/ppt/slides/slide29.xml" Id="R156b3f0c98e24903" /><Relationship Type="http://schemas.openxmlformats.org/officeDocument/2006/relationships/slide" Target="/ppt/slides/slide30.xml" Id="Rb70cb92eee494301" /><Relationship Type="http://schemas.openxmlformats.org/officeDocument/2006/relationships/slide" Target="/ppt/slides/slide31.xml" Id="R3498925335174c75" /><Relationship Type="http://schemas.openxmlformats.org/officeDocument/2006/relationships/slide" Target="/ppt/slides/slide32.xml" Id="R0011af8d67ec4ac2" /><Relationship Type="http://schemas.openxmlformats.org/officeDocument/2006/relationships/slide" Target="/ppt/slides/slide33.xml" Id="R19957f5690654ad9" /><Relationship Type="http://schemas.openxmlformats.org/officeDocument/2006/relationships/slide" Target="/ppt/slides/slide34.xml" Id="Re18d2cfb70bb4ee5" /><Relationship Type="http://schemas.openxmlformats.org/officeDocument/2006/relationships/slide" Target="/ppt/slides/slide35.xml" Id="Rf6b848082dd44374" /><Relationship Type="http://schemas.openxmlformats.org/officeDocument/2006/relationships/slide" Target="/ppt/slides/slide36.xml" Id="Rc8b18a3f07f64ee2" /><Relationship Type="http://schemas.openxmlformats.org/officeDocument/2006/relationships/slide" Target="/ppt/slides/slide37.xml" Id="Rab063de10a3c4b98" /><Relationship Type="http://schemas.openxmlformats.org/officeDocument/2006/relationships/slide" Target="/ppt/slides/slide38.xml" Id="R4f1b702f4d884dc7" /><Relationship Type="http://schemas.openxmlformats.org/officeDocument/2006/relationships/slide" Target="/ppt/slides/slide39.xml" Id="Rae6b037caaab4b6a" /><Relationship Type="http://schemas.openxmlformats.org/officeDocument/2006/relationships/slide" Target="/ppt/slides/slide40.xml" Id="Redd97f71761146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2d0a063e4e42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d7f7e1b9ac420e" /><Relationship Type="http://schemas.openxmlformats.org/officeDocument/2006/relationships/notesMaster" Target="/ppt/notesMasters/notesMaster1.xml" Id="R0dca0e09ccca40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5e884f32944ba7" /><Relationship Type="http://schemas.openxmlformats.org/officeDocument/2006/relationships/notesMaster" Target="/ppt/notesMasters/notesMaster1.xml" Id="R4be55173855845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f1a716e74445c0" /><Relationship Type="http://schemas.openxmlformats.org/officeDocument/2006/relationships/notesMaster" Target="/ppt/notesMasters/notesMaster1.xml" Id="R72a2b6b7fb8f4f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d02ce1ae884f4a" /><Relationship Type="http://schemas.openxmlformats.org/officeDocument/2006/relationships/notesMaster" Target="/ppt/notesMasters/notesMaster1.xml" Id="R9951a15ecd884b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27fb2a0e574ce4" /><Relationship Type="http://schemas.openxmlformats.org/officeDocument/2006/relationships/notesMaster" Target="/ppt/notesMasters/notesMaster1.xml" Id="Rc1ffdf2563cf45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1aab721d064c69" /><Relationship Type="http://schemas.openxmlformats.org/officeDocument/2006/relationships/notesMaster" Target="/ppt/notesMasters/notesMaster1.xml" Id="R0d587918ee644b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370be287804d20" /><Relationship Type="http://schemas.openxmlformats.org/officeDocument/2006/relationships/notesMaster" Target="/ppt/notesMasters/notesMaster1.xml" Id="Rbf8ac50880c241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ca70061d6c4b54" /><Relationship Type="http://schemas.openxmlformats.org/officeDocument/2006/relationships/notesMaster" Target="/ppt/notesMasters/notesMaster1.xml" Id="R1fbb7679c5de4e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fbe547e726479d" /><Relationship Type="http://schemas.openxmlformats.org/officeDocument/2006/relationships/notesMaster" Target="/ppt/notesMasters/notesMaster1.xml" Id="Rb4a34acb037649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7c28f38ce048ba" /><Relationship Type="http://schemas.openxmlformats.org/officeDocument/2006/relationships/notesMaster" Target="/ppt/notesMasters/notesMaster1.xml" Id="R8034e9110fa745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30107e58f14b19" /><Relationship Type="http://schemas.openxmlformats.org/officeDocument/2006/relationships/notesMaster" Target="/ppt/notesMasters/notesMaster1.xml" Id="Rfa00fcca190f44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0e7b238a7a4e54" /><Relationship Type="http://schemas.openxmlformats.org/officeDocument/2006/relationships/notesMaster" Target="/ppt/notesMasters/notesMaster1.xml" Id="R94dcdf841cda4f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a2328e0e714da3" /><Relationship Type="http://schemas.openxmlformats.org/officeDocument/2006/relationships/notesMaster" Target="/ppt/notesMasters/notesMaster1.xml" Id="Ra045e79d9f8541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0d7127f6fd4505" /><Relationship Type="http://schemas.openxmlformats.org/officeDocument/2006/relationships/notesMaster" Target="/ppt/notesMasters/notesMaster1.xml" Id="Rd5052565de1b47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91fe03a9e14d84" /><Relationship Type="http://schemas.openxmlformats.org/officeDocument/2006/relationships/notesMaster" Target="/ppt/notesMasters/notesMaster1.xml" Id="Ra2c7cade2abe43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f2afb54eb84404" /><Relationship Type="http://schemas.openxmlformats.org/officeDocument/2006/relationships/notesMaster" Target="/ppt/notesMasters/notesMaster1.xml" Id="R6dda658ced0845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6117f0f8d84eda" /><Relationship Type="http://schemas.openxmlformats.org/officeDocument/2006/relationships/notesMaster" Target="/ppt/notesMasters/notesMaster1.xml" Id="Rd51f94e3ea1f4a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2a547592384818" /><Relationship Type="http://schemas.openxmlformats.org/officeDocument/2006/relationships/notesMaster" Target="/ppt/notesMasters/notesMaster1.xml" Id="R2d59883a7a2c44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61a977a4f34f41" /><Relationship Type="http://schemas.openxmlformats.org/officeDocument/2006/relationships/notesMaster" Target="/ppt/notesMasters/notesMaster1.xml" Id="Rd77f059badd746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e39adb528149ee" /><Relationship Type="http://schemas.openxmlformats.org/officeDocument/2006/relationships/notesMaster" Target="/ppt/notesMasters/notesMaster1.xml" Id="Rfbb3dc8b3bf348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149f1dac3042ef" /><Relationship Type="http://schemas.openxmlformats.org/officeDocument/2006/relationships/notesMaster" Target="/ppt/notesMasters/notesMaster1.xml" Id="Ra734b4cb49f84f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5f2650943c443e" /><Relationship Type="http://schemas.openxmlformats.org/officeDocument/2006/relationships/notesMaster" Target="/ppt/notesMasters/notesMaster1.xml" Id="R6e98a0e2604c45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565dff199b47f6" /><Relationship Type="http://schemas.openxmlformats.org/officeDocument/2006/relationships/notesMaster" Target="/ppt/notesMasters/notesMaster1.xml" Id="Rc34fafba42b54d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f5ee7e14574fc8" /><Relationship Type="http://schemas.openxmlformats.org/officeDocument/2006/relationships/notesMaster" Target="/ppt/notesMasters/notesMaster1.xml" Id="Rca7419003711438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c50412573e4c9e" /><Relationship Type="http://schemas.openxmlformats.org/officeDocument/2006/relationships/notesMaster" Target="/ppt/notesMasters/notesMaster1.xml" Id="R95203905149546c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467a66dbde42d5" /><Relationship Type="http://schemas.openxmlformats.org/officeDocument/2006/relationships/notesMaster" Target="/ppt/notesMasters/notesMaster1.xml" Id="R4c772b4b86f948c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f6e8caa31c4c6a" /><Relationship Type="http://schemas.openxmlformats.org/officeDocument/2006/relationships/notesMaster" Target="/ppt/notesMasters/notesMaster1.xml" Id="Racec195172a14a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314e0947a94666" /><Relationship Type="http://schemas.openxmlformats.org/officeDocument/2006/relationships/notesMaster" Target="/ppt/notesMasters/notesMaster1.xml" Id="Rd4f18c7455164f6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a000da7b4f419f" /><Relationship Type="http://schemas.openxmlformats.org/officeDocument/2006/relationships/notesMaster" Target="/ppt/notesMasters/notesMaster1.xml" Id="R0ba8a384e7a140d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89a64873b60413b" /><Relationship Type="http://schemas.openxmlformats.org/officeDocument/2006/relationships/notesMaster" Target="/ppt/notesMasters/notesMaster1.xml" Id="Rb48b1ef792834cb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7472ee57e994cb4" /><Relationship Type="http://schemas.openxmlformats.org/officeDocument/2006/relationships/notesMaster" Target="/ppt/notesMasters/notesMaster1.xml" Id="Rcf7283d4efaa44b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402350f766d4221" /><Relationship Type="http://schemas.openxmlformats.org/officeDocument/2006/relationships/notesMaster" Target="/ppt/notesMasters/notesMaster1.xml" Id="Rb963f3017c5b4e4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a2d05d7e1994b32" /><Relationship Type="http://schemas.openxmlformats.org/officeDocument/2006/relationships/notesMaster" Target="/ppt/notesMasters/notesMaster1.xml" Id="R8646f165ea00482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3aa8473a79b49ba" /><Relationship Type="http://schemas.openxmlformats.org/officeDocument/2006/relationships/notesMaster" Target="/ppt/notesMasters/notesMaster1.xml" Id="Redf12bee8d194c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47f160da0044ec4" /><Relationship Type="http://schemas.openxmlformats.org/officeDocument/2006/relationships/notesMaster" Target="/ppt/notesMasters/notesMaster1.xml" Id="R623e74226dec460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998ce5f10e644d8" /><Relationship Type="http://schemas.openxmlformats.org/officeDocument/2006/relationships/notesMaster" Target="/ppt/notesMasters/notesMaster1.xml" Id="Rb4e6ec1eecf145e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5a46006b81345a5" /><Relationship Type="http://schemas.openxmlformats.org/officeDocument/2006/relationships/notesMaster" Target="/ppt/notesMasters/notesMaster1.xml" Id="R9863bc19655f4cd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2da2123ea0348ff" /><Relationship Type="http://schemas.openxmlformats.org/officeDocument/2006/relationships/notesMaster" Target="/ppt/notesMasters/notesMaster1.xml" Id="Reb157d70788f41d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e54b4bf38434fbd" /><Relationship Type="http://schemas.openxmlformats.org/officeDocument/2006/relationships/notesMaster" Target="/ppt/notesMasters/notesMaster1.xml" Id="R36671e0db3b2452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cb7b93026284026" /><Relationship Type="http://schemas.openxmlformats.org/officeDocument/2006/relationships/notesMaster" Target="/ppt/notesMasters/notesMaster1.xml" Id="Rd9199e9d675f49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 Thresholding dan Segmentasi Citra.</a:t>
            </a:r>
          </a:p>
          <a:p xmlns:a="http://schemas.openxmlformats.org/drawingml/2006/main">
            <a:r>
              <a:t/>
            </a:r>
          </a:p>
          <a:p xmlns:a="http://schemas.openxmlformats.org/drawingml/2006/main">
            <a:r>
              <a:t>Sesi: Teori. Estimasi waktu: 1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Hari ini kita melanjutkan pengolahan citra ke tahap segmentasi. Hasilnya berupa keputusan tentang piksel dan wilayah objek. Tiga contoh yang akan dipakai adalah dokumen cetak, koin yang saling menyentuh, dan foto buah. Dokumen membantu kita memahami ambang intensitas. Foto buah menunjukkan pemilihan warna. Koin memperlihatkan alasan satu gumpalan putih belum tentu berarti satu benda. Semua contoh akan dijalankan dengan Python, lalu diulang pada notebook mahasiswa. Gambar hasil di dalam paket berasal dari input yang sama dengan notebook. Selama penjelasan saya akan menunjukkan bagian gambar yang berubah dan alasan perubahan itu terjadi. Pada sesi terakhir, pengamatan tersebut ditulis di tempat yang sudah disediakan.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Sampul dapat memakai ilustrasi konseptual berlabel. Foto input aktual berada pada overview. Jangan memperlakukan gambar sampul sebagai hasil algoritma. Tekankan bahwa ketiga kasus menggunakan keluaran komputasi yang dapat ditelusuri.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https://commons.wikimedia.org/wiki/File:PrideAndPrejudiceTitlePage.jpg</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https://commons.wikimedia.org/wiki/File:Red_apple_on_white_background.jpg</a:t>
            </a:r>
          </a:p>
          <a:p xmlns:a="http://schemas.openxmlformats.org/drawingml/2006/main">
            <a:r>
              <a:t/>
            </a:r>
          </a:p>
          <a:p xmlns:a="http://schemas.openxmlformats.org/drawingml/2006/main">
            <a:r>
              <a:t>https://commons.wikimedia.org/wiki/File:Orange-fruit.jpg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 Capaian dan alokasi 150 menit.</a:t>
            </a:r>
          </a:p>
          <a:p xmlns:a="http://schemas.openxmlformats.org/drawingml/2006/main">
            <a:r>
              <a:t/>
            </a:r>
          </a:p>
          <a:p xmlns:a="http://schemas.openxmlformats.org/drawingml/2006/main">
            <a:r>
              <a:t>Sesi: Teori. Estimasi waktu: 1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Capaian sesi ini adalah menjalankan Otsu, kedua adaptive threshold, segmentasi HSV, dan Watershed berbasis marker. Pembagian waktunya mengikuti materi dosen: lima puluh menit konsep, lima puluh menit demonstrasi, lalu lima puluh menit praktikum ulang. Pada demonstrasi, perhatikan urutan sel dan keluaran antara. Pada praktikum, notebook mahasiswa memakai data dan parameter inti yang sama. Kode wajib sudah lengkap agar waktu dipakai untuk membaca hasil dan memahami proses. Bagian eksperimen berada sesudah tugas inti. Ukuran keberhasilan praktikum adalah proses yang berjalan, keluaran yang tersedia, dan penjelasan yang merujuk bukti gambar. Tidak ada target akurasi seratus persen atau tuntutan menulis seluruh pipeline dari awal.</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Lima metode wajib dihitung: Otsu, Mean, Gaussian, HSV, Watershed. Dokumen/subkasus dianggap satu rangkaian replay. Total 150 menit mencakup eksekusi, inspeksi, dan aktivitas; naskah utama bukan 150 menit bicara terus menerus.</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 Peta tepi, mask, dan label objek.</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Pada minggu sebelumnya, tepi membantu memperlihatkan perubahan intensitas. Pada minggu ini kita memakai dua jenis keluaran lain. Mask biner menyatakan piksel terpilih dan piksel yang tidak dipilih. Contohnya, teks dapat menjadi foreground pada dokumen, atau koin menjadi foreground pada foto. Label instance menyimpan identitas wilayah objek. Dua koin dapat sama-sama putih pada mask, tetapi mempunyai label yang berbeda sesudah pemisahan. Karena itu, gambar tepi, mask, dan label menjawab kebutuhan berbeda. Kita tidak langsung menghitung garis tepi sebagai jumlah benda. Kita juga tidak menyamakan satu komponen putih dengan satu benda sebelum memeriksa apakah beberapa benda saling menyentuh. Perbedaan ini akan terlihat jelas pada demonstrasi koin.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Gunakan kata foreground sebagai piksel yang ingin diproses. Foreground dapat hitam pada visual dokumen, tetapi mask untuk morfologi/distance transform harus nonzero pada objek.</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4: Tiga kebutuhan aplikasi.</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Ada tiga kebutuhan aplikasi yang menjadi pengantar kasus. Pada dokumen, kita ingin mempertahankan goresan karakter sambil mengurangi latar yang mengganggu. Ini adalah persiapan yang dapat dipakai sebelum OCR, tetapi notebook ini belum menjalankan pengenalan teks. Pada foto koin, kita ingin mendapatkan wilayah benda yang terpisah sehingga hitungannya dapat diperiksa. Pada foto buah, kita memilih piksel yang masuk rentang warna tertentu. Hasilnya berguna untuk demonstrasi penyaringan warna pada kondisi yang terkendali. Nama buah tetap merupakan konteks foto, sementara algoritma hanya membaca rentang HSV. Penerapan seperti mesin sortir membutuhkan evaluasi tambahan atas pencahayaan, kamera, variasi benda, dan kecepatan proses. Sesi ini memusatkan perhatian pada mekanisme segmentasinya.</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Persiapan OCR tidak sama dengan akurasi OCR. Penghitungan objek tidak sama dengan ketepatan seluruh batas. Seleksi warna tidak sama dengan pengenalan jenis buah. Contoh aplikasi membantu tujuan tanpa menjanjikan performa industri.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https://commons.wikimedia.org/wiki/File:PrideAndPrejudiceTitlePage.jpg</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https://commons.wikimedia.org/wiki/File:Red_apple_on_white_background.jpg</a:t>
            </a:r>
          </a:p>
          <a:p xmlns:a="http://schemas.openxmlformats.org/drawingml/2006/main">
            <a:r>
              <a:t/>
            </a:r>
          </a:p>
          <a:p xmlns:a="http://schemas.openxmlformats.org/drawingml/2006/main">
            <a:r>
              <a:t>https://commons.wikimedia.org/wiki/File:Orange-fruit.jpg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5: Foreground, background, dan polarity.</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Sebelum membahas algoritma, tetapkan arti hitam dan putih. Pada THRESH_BINARY, piksel yang lebih terang daripada ambang menjadi dua ratus lima puluh lima, sedangkan yang lain menjadi nol. Pada THRESH_BINARY_INV, keputusan tampilan tersebut dibalik. Dokumen sering nyaman dibaca dengan huruf hitam dan kertas putih. Namun, operasi penghitungan komponen dan distance transform memerlukan objek sebagai piksel nonzero. Jadi tampilan yang enak dibaca dan mask untuk perhitungan dapat berbeda polarity. Kita harus menyebutkan keputusan ini di setiap kasus. Jika polarity keliru, distance transform justru mengukur jarak pada latar. Keluaran tetap dapat muncul, tetapi bentuk yang dihitung sudah berbeda dari tujuan awal. Nama variabel dan caption membantu mencegah kesalahan tersebut.</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https://docs.opencv.org/4.x/d7/d1b/group__imgproc__misc.html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6: Ambang global dan contoh angka.</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Ambang global memakai satu nilai untuk semua piksel. Misalnya kita mempunyai empat intensitas: empat puluh, delapan puluh, seratus dua puluh, dan dua ratus. Dengan ambang seratus pada mode BINARY, dua nilai pertama menjadi nol dan dua nilai terakhir menjadi dua ratus lima puluh lima. Contoh kecil ini menjelaskan keputusan per piksel tanpa memerlukan foto. Masalahnya muncul ketika kertas yang sama terlihat terang pada satu sisi dan gelap pada sisi lain. Intensitas kertas berbayang dapat menyerupai intensitas teks pada daerah terang. Satu angka tidak mengetahui posisi piksel tersebut. Karena itu, keberhasilan ambang global bergantung pada distribusi intensitas dan kondisi akuisisi. Otsu akan memilih angka secara otomatis, tetapi keputusan akhirnya masih global.</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Contoh angka dibuat untuk modul dan dapat dihitung manual. Pada threshold OpenCV, equality masuk sisi I≤T. Gunakan contoh 200 menjadi 255 untuk menunjukkan kuantisasi keluaran, bukan intensitas asli dipertahankan.</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https://docs.opencv.org/4.x/d7/d1b/group__imgproc__misc.html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7: Histogram dan ambang Otsu.</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Histogram menunjukkan berapa banyak piksel berada pada masing-masing intensitas. Sumbu horizontal berisi tingkat abu-abu, dan sumbu vertikal berisi frekuensinya. Otsu mencoba beberapa pemisahan intensitas lalu memilih yang paling baik menurut kriteria variansinya. Algoritma ini tidak membaca huruf, koin, atau jenis benda. Ia membaca distribusi angka. Pada citra yang mempunyai dua kelompok intensitas cukup terpisah, pemisahan tersebut dapat cocok dengan objek dan latar. Jika pencahayaan, tekstur, atau komposisi berubah, kelompok intensitas ikut berubah. Nilai ambang yang dikembalikan fungsi harus dicatat sebagai hasil input itu, bukan konstanta untuk semua gambar. Histogram juga tidak menyimpan lokasi, sehingga distribusi yang sama dapat berasal dari susunan piksel berbeda.</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Histogram pada slide dapat diagregasi per 16 intensitas untuk keterbacaan deck; ambang Otsu 130 tetap dihitung pada citra 256 tingkat. Histogram hanya frekuensi dan tidak membawa koordinat piksel.</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https://doi.org/10.1109/TSMC.1979.4310076</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8: Variansi antarkelas Otsu.</a:t>
            </a:r>
          </a:p>
          <a:p xmlns:a="http://schemas.openxmlformats.org/drawingml/2006/main">
            <a:r>
              <a:t/>
            </a:r>
          </a:p>
          <a:p xmlns:a="http://schemas.openxmlformats.org/drawingml/2006/main">
            <a:r>
              <a:t>Sesi: Teori. Estimasi waktu: 3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Rumus yang dipakai di sini adalah variansi antarkelas. w nol dan w satu menyatakan proporsi piksel dalam dua kelompok. Mu nol dan mu satu adalah rata-rata intensitas masing-masing kelompok. Perbedaan rata-ratanya dikuadratkan lalu dikalikan proporsi kedua kelompok. Contoh kita mempunyai intensitas dua puluh, dua puluh, tiga puluh, tiga puluh, seratus, seratus, seratus sepuluh, dan seratus sepuluh. Pada pemisahan setelah tiga puluh, kedua kelompok sama besar. Rata-ratanya dua puluh lima dan seratus lima. Nilai rumus menjadi seribu enam ratus. Kandidat pemisahan lain dapat dihitung dengan cara yang sama. Yang diperbesar adalah keterpisahan statistik. Kata optimal di sini selalu terikat pada kriteria tersebut; ia belum membuktikan kesesuaian dengan objek yang diinginkan.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Contoh T=20: w0=.25,w1=.75,mu 0=20,mu 1=80 -&gt; 675. T=30: .5*.5*(25-105)^2=1600. T=100: .75*.25*(50-110)^2=675. Ambang 30..99 mengelompokkan data sama; tie dapat terjadi.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https://doi.org/10.1109/TSMC.1979.4310076</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9: Otsu pada input nyata dan keterbatasan.</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Saat beralih ke input nyata, kita tidak cukup melihat nilai ambang. Kita perlu melihat daerah gambar yang semestinya menjadi objek dan latar. Pada dokumen kasus ini, scan nyata diberi bayangan digital yang terkontrol agar perubahan pencahayaan dapat dipelajari dengan input yang dapat diulang. Bayangan tersebut adalah simulasi, bukan kondisi pemotretan asli. Otsu akan memilih ambang berdasarkan histogram gambar setelah transformasi. Wilayah gelap dapat ikut masuk sebagai foreground atau membuat goresan tertentu sulit dipisahkan. Kondisi seperti ini menunjukkan keterbatasan satu ambang, tetapi tidak berarti Otsu selalu gagal pada pencahayaan tidak merata. Penilaian berikutnya memakai crop yang sama agar perbedaan tidak tertutup oleh tampilan gambar penuh.</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Scan asli dan transformasi merupakan dua provenance berbeda. Jangan menyebut foto faktur atau bayangan akuisisi. Jumlah piksel hitam tidak dapat dipakai sebagai akurasi tanpa anotasi referensi.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https://docs.opencv.org/4.x/d7/d4d/tutorial_py_thresholding.html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10: Ambang lokal pada pencahayaan tidak merata.</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Ambang lokal menggunakan informasi dari sekitar setiap piksel. Nilai T kini dapat berubah sesuai posisi x dan y. Pada bagian kertas yang lebih gelap, statistik lokal ikut turun. Pada bagian yang lebih terang, statistiknya meningkat. Pendekatan ini dapat membantu ketika variasi pencahayaan berlangsung lebih lambat daripada perubahan goresan teks. Namun, setiap lingkungan harus mengandung konteks yang cukup untuk memisahkan goresan dan latar. Lingkungan yang terlalu kecil bisa mengikuti tekstur atau noise. Lingkungan yang terlalu besar dapat kembali mencampurkan daerah dengan pencahayaan berbeda. Dua metode yang akan kita jalankan adalah Mean dan Gaussian. Keduanya dipakai pada input dan ukuran lingkungan yang sama agar perbandingan utamanya dapat dibaca dengan jelas.</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Jika panel ambang lokal tersedia, garis menunjukkan statistik 31×31 minusC 9 pada satu baris citra. Plot adalah potongan satu dimensi dari perhitungan dua dimensi, bukan adaptive threshold dihitung hanya sepanjang baris. Plot menggunakan profil baris y=220 dan statistik lokal float; pembulatan internal uint8 dapat memberi perbedaan kecil. Perhitungan adaptive tetap dua dimensi.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https://docs.opencv.org/4.x/d7/d4d/tutorial_py_thresholding.html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11: Adaptive Mean dan Gaussian.</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Adaptive Mean memakai rata-rata biasa di dalam jendela. Setiap piksel di lingkungan itu mempunyai bobot yang sama. Adaptive Gaussian memakai rata-rata berbobot; piksel yang lebih dekat ke pusat mendapat bobot lebih besar. Setelah statistik tersebut diperoleh, nilai C dikurangkan untuk membentuk ambang. Artinya, Gaussian di sini menjelaskan bobot perhitungan ambang lokal. Ia tidak boleh disamakan begitu saja dengan semua proses blur pada pipeline lain. Untuk contoh hitung Mean, lingkungan tiga kali tiga dapat mempunyai rata-rata seratus delapan puluh. Jika C bernilai sembilan, ambangnya seratus tujuh puluh satu. Piksel berintensitas seratus enam puluh akan menjadi hitam pada BINARY. Nilai tersebut hanya contoh hitung untuk memahami keputusan lokal.</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Contoh mean 3×3 berjumlah 1620, rata-rata 180. Gaussian memakai bobot dinormalisasi. Tampilannya dapat berbeda tanpa berarti selalu lebih baik. Parameter inti kedua metode identik 31/9.</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https://docs.opencv.org/4.x/d7/d1b/group__imgproc__misc.html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12: blockSize dan C.</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blockSize menentukan lebar dan tinggi lingkungan lokal. Nilainya harus ganjil dan lebih besar dari satu agar terdapat piksel pusat. Nilai sembilan belas berarti jendela sembilan belas kali sembilan belas, bukan sembilan belas piksel keseluruhan. C menentukan seberapa jauh ambang diturunkan dari rata-rata lokal. Tidak ada satu pasangan parameter yang cocok untuk semua resolusi dan dokumen. Goresan yang tampak tiga piksel pada satu gambar dapat berubah menjadi sepuluh piksel sesudah pembesaran. Karena itu, ukuran gambar dan langkah resize perlu dicatat bersama parameter. Pada perbandingan inti Mean dan Gaussian, keduanya memakai blockSize dan C yang sama. Eksperimen tambahan mengubah satu parameter supaya perubahan hasil mempunyai penjelasan yang jelas.</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Syarat API: blockSize ganjil dan&gt;1. Fungsi paket menambah pemeriksaan agar jendela tidak melebihi sisi pendek input untuk kemudahan eksperimen. Kebijakan paket tersebut dibedakan dari persyaratan universal API.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https://docs.opencv.org/4.x/d7/d1b/group__imgproc__misc.html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13: Dampak C dan polarity.</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Perubahan C sering menimbulkan kebingungan karena tampilan hitam putih dibaca sebagai objek tanpa menyebut polarity. Rumusnya tetap T sama dengan statistik lokal dikurangi C. Jika rata-rata lokal seratus delapan puluh dan C naik dari lima menjadi lima belas, ambang turun dari seratus tujuh puluh lima menjadi seratus enam puluh lima. Piksel seratus tujuh puluh pada BINARY berubah dari hitam menjadi putih. Jika huruf ditampilkan hitam, huruf dapat menipis atau bagian abu-abu hilang. Pada mode invers, piksel yang sama berpindah ke nol sehingga luas foreground nonzero dapat turun. Jadi perintah menaikkan C harus disertai penjelasan threshold dan polarity. Kita akan membaca perubahan berdasarkan piksel serta goresan, bukan menghafal bahwa C besar selalu lebih baik.</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Efek monoton tersebut berlaku pada input/statistik lokal/blockSize tetap. Jangan menyatakan seluruh kualitas naik/turun karena noise/goresan dapat memberi tradeoff.</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https://docs.opencv.org/4.x/d7/d1b/group__imgproc__misc.html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14: Perbandingan dokumen pada ROI sama.</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Sekarang perbandingan dibuat pada ROI yang sama. ROI adalah bagian citra yang dipilih untuk inspeksi. Kita menggunakan koordinat tetap, lalu menampilkan input, Otsu, Mean, dan Gaussian pada daerah itu. Perhatikan goresan yang terputus, bagian huruf yang terlalu tebal, serta latar yang ikut menjadi hitam. Tampilan crop membantu melihat kesalahan yang sulit terbaca pada gambar penuh. Kita belum mempunyai mask referensi piksel untuk dokumen ini, sehingga tidak menghitung IoU atau mengumumkan akurasi OCR. Pengamatan ditulis sebagai temuan visual pada bagian gambar tertentu. Hasil yang lebih bersih pada satu crop juga perlu diperiksa pada daerah lain sebelum dianggap paling cocok untuk keseluruhan halaman.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Tampilkan zoom ROI dengan vmin 0 vmax 255 identik. Jangan memilih ROI berbeda untuk mengunggulkan metode.</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https://arxiv.org/html/2206.01653v8</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15: Warna BGR dan ruang HSV.</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Foto berwarna mempunyai tiga kanal, tetapi urutannya bergantung pada loader. OpenCV membaca gambar berwarna dalam urutan biru, hijau, merah atau BGR. Untuk menampilkan foto dengan Matplotlib, gambar dikonversi menjadi RGB. Untuk segmentasi warna di notebook, gambar BGR dikonversi langsung ke HSV memakai flag yang sesuai. HSV menyimpan Hue sebagai jenis warna, Saturation sebagai kejenuhan, dan Value sebagai tingkat terang. Pada representasi uint8 standar OpenCV, Hue memakai rentang nol sampai seratus tujuh puluh sembilan. S dan V memakai nol sampai dua ratus lima puluh lima. Jika foto tampak biru padahal objeknya merah, periksa urutan kanal sebelum mengubah rentang segmentasi. Kesalahan konversi dapat menghasilkan mask yang tampak meyakinkan untuk warna yang keliru.</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Flag COLOR_BGR2HSV benar karena loader OpenCV. Untuk display gunakan COLOR_BGR2RGB. Rentang H 0..179 berlaku HSV uint8 standar, berbeda dari HSV_FULL atau konversi float.</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https://docs.opencv.org/4.x/df/d9d/tutorial_py_colorspaces.html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16: Hue melingkar dan dua rentang merah.</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Hue mewakili lingkaran warna yang dibentangkan menjadi angka. Merah berada di sekitar titik awal sekaligus dekat ujung rentang. Karena itu, satu interval kecil dekat nol dapat melewatkan merah yang angkanya berada dekat seratus tujuh puluh sembilan. Kita membuat dua mask lalu menggabungkannya dengan OR. Sebuah piksel cukup memenuhi salah satu interval merah untuk dipilih. Ini berbeda dari AND, yang justru meminta piksel masuk kedua interval terpisah sekaligus. Batas final yang dipakai akan terlihat di notebook. Kita tidak mengambil angka Hue dari aplikasi lain tanpa memeriksa skala, karena sebagian perangkat lunak menggunakan derajat nol sampai tiga ratus enam puluh atau representasi pecahan.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Gabungan merah harus OR. S/V juga berlaku pada kedua interval. Hue dari piksel hampir abu-abu tidak cukup informatif. Batas 179 berasal dari representasi standar, bukan pengukuran derajat penuh.</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https://docs.opencv.org/4.x/df/d9d/tutorial_py_colorspaces.html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17: S/V, sorotan, dan piksel pengganggu.</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Rentang Hue saja belum cukup. Kertas putih, abu-abu, atau sorotan dapat mempunyai kejenuhan rendah sehingga angka Hue-nya tidak menunjukkan warna yang tegas. Dengan memberi batas Saturation, kita mengurangi pemilihan piksel yang hampir netral. Batas Value membantu menghindari daerah sangat gelap, tetapi batas yang terlalu tinggi dapat menghilangkan bagian buah yang berada dalam bayangan. Pada foto apel, sorotan yang mendekati putih dapat tidak masuk mask merah. Itu bukan berarti ada lubang fisik pada buah. Mask sedang menyatakan syarat warna per piksel. Bentuk mask dapat dibersihkan dengan morfologi jika sesuai tujuan, tetapi perubahan itu juga harus diakui. Foto yang mempunyai latar merah dapat membuat latar ikut terpilih karena algoritma tidak mengetahui mana buah.</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Mask dapat berisi sorotan putih yang tidak terpilih atau bagian gelap yang hilang. Hal itu menggambarkan seleksi warna per piksel. Jangan menyebut semua lubang sebagai cacat fisik buah. Tidak perlu menjanjikan invariansi HSV terhadap pencahayaan. S/V juga berubah oleh kondisi kamera dan iluminasi.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https://commons.wikimedia.org/wiki/File:Red_apple_on_white_background.jpg</a:t>
            </a:r>
          </a:p>
          <a:p xmlns:a="http://schemas.openxmlformats.org/drawingml/2006/main">
            <a:r>
              <a:t/>
            </a:r>
          </a:p>
          <a:p xmlns:a="http://schemas.openxmlformats.org/drawingml/2006/main">
            <a:r>
              <a:t>https://commons.wikimedia.org/wiki/File:Orange-fruit.jpg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18: Seleksi warna dan asumsi label buah.</a:t>
            </a:r>
          </a:p>
          <a:p xmlns:a="http://schemas.openxmlformats.org/drawingml/2006/main">
            <a:r>
              <a:t/>
            </a:r>
          </a:p>
          <a:p xmlns:a="http://schemas.openxmlformats.org/drawingml/2006/main">
            <a:r>
              <a:t>Sesi: Teori. Estimasi waktu: 1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Pada kasus buah, label yang paling tepat adalah wilayah merah dan wilayah oranye. Kita mengetahui konteks foto karena data sumber menampilkan apel dan jeruk, tetapi algoritma hanya memeriksa rentang HSV. Benda merah lain dapat ikut terpilih. Apel hijau dapat tidak masuk rentang merah meskipun tetap apel. Bounding box hanya merangkum posisi wilayah mask dalam persegi panjang. Ia tidak memberi probabilitas bahwa benda tersebut apel atau jeruk. Karena itu, kita tidak menambahkan tulisan seratus persen atau sembilan puluh sembilan persen pada kotak. Contoh ini berguna untuk memahami aturan seleksi warna pada foto yang dikendalikan. Sistem sortir dengan variasi warna, bentuk, dan pencahayaan memerlukan pengujian dan metode tambahan.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Satu box merah dan satu box oranye pada input utama. Box dibuat dari komponen berluas≥200 px. Luas mask semua piksel berbeda dari luas komponen yang mendapat box. Tidak ada probabilitas klasifikasi. Komposisi dua foto pada data final harus disebut komposisi digital, bukan foto dua buah bersama di conveyor.</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https://commons.wikimedia.org/wiki/File:Red_apple_on_white_background.jpg</a:t>
            </a:r>
          </a:p>
          <a:p xmlns:a="http://schemas.openxmlformats.org/drawingml/2006/main">
            <a:r>
              <a:t/>
            </a:r>
          </a:p>
          <a:p xmlns:a="http://schemas.openxmlformats.org/drawingml/2006/main">
            <a:r>
              <a:t>https://commons.wikimedia.org/wiki/File:Orange-fruit.jpg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19: Komponen mask dan identitas objek.</a:t>
            </a:r>
          </a:p>
          <a:p xmlns:a="http://schemas.openxmlformats.org/drawingml/2006/main">
            <a:r>
              <a:t/>
            </a:r>
          </a:p>
          <a:p xmlns:a="http://schemas.openxmlformats.org/drawingml/2006/main">
            <a:r>
              <a:t>Sesi: Teori. Estimasi waktu: 1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Connected components memberi identitas kepada kelompok piksel foreground yang terhubung. Penghubungnya dapat memakai tetangga empat arah atau delapan arah. Pada notebook, pilihan konektivitas dicatat agar hasil dapat diulang. Jika dua koin menyentuh dan masknya tersambung, fungsi tersebut menganggapnya satu komponen. Fungsi tidak mempunyai pengetahuan bahwa bagian itu berasal dari dua benda. Inilah alasan hitungan komponen mask awal dapat berbeda dari hitungan referensi visual. Sesudah Watershed, kita membaca ID label wilayah yang valid. Jika label itu dibuang menjadi satu mask biner lalu dihitung ulang, dua wilayah yang berdekatan dapat menyatu lagi. Identitas yang sudah dibuat perlu dipertahankan sampai tahap analisis hasil.</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Konektivitas 8 dipakai pada fungsi paket. Diagonal menjadi terhubung. Komponen awal 2 pada koin mencakup gumpalan utama dan 1 speck. Sesudah opening 1 komponen; bukan 1 koin.</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https://docs.opencv.org/4.x/d3/dc0/group__imgproc__shape.html</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20: Objek menyentuh dan oklusi.</a:t>
            </a:r>
          </a:p>
          <a:p xmlns:a="http://schemas.openxmlformats.org/drawingml/2006/main">
            <a:r>
              <a:t/>
            </a:r>
          </a:p>
          <a:p xmlns:a="http://schemas.openxmlformats.org/drawingml/2006/main">
            <a:r>
              <a:t>Sesi: Teori. Estimasi waktu: 1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Dua kondisi perlu dibedakan: benda saling menyentuh dan benda saling menutupi. Pada benda yang menyentuh, bentuk luar masing-masing sering masih cukup terlihat sehingga inti objek dapat diperkirakan. Pada oklusi, sebagian bentuk memang tidak terlihat di gambar. Watershed dapat membagi wilayah yang ada berdasarkan marker dan perbedaan citra, tetapi tidak otomatis menebak bentuk yang hilang. Contoh koin kita dipilih untuk mempelajari sentuhan. Jika hasilnya dibawa ke tumpukan benda atau foto dengan perspektif besar, asumsi geometrinya berubah. Aplikasi penghitungan yang serius perlu mencatat posisi kamera, objek terpotong di tepi, dan kondisi tumpang tindih. Penjelasan batas ini mencegah hasil dari satu foto kecil dibaca sebagai kemampuan universal.</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Bedakan overlapping secara proyeksi dari touching; jangan menjanjikan pemisahan bagian yang tidak tampak.</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21: Peta jarak untuk inti objek.</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Distance transform mulai dari mask biner dengan objek nonzero dan latar nol. Untuk setiap piksel objek, dihitung jarak ke piksel nol terdekat. Nilai kecil berada dekat batas dan nilai besar cenderung berada di interior yang tebal. Pada peta warna, bagian terang menunjukkan jarak yang lebih besar, bukan confidence model. Kita memakai bagian yang jauh dari batas sebagai kandidat inti atau seed. Sebuah benda panjang dapat mempunyai punggung nilai tinggi, sementara sebuah benda kecil mempunyai puncak lebih rendah daripada benda besar. Karena itu, puncak terang tidak selalu sama dengan satu pusat untuk setiap benda. Kesalahan mask awal juga berubah menjadi kesalahan peta jarak. Polarity harus benar sebelum tahap ini dijalankan.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DIST_L2 maskSize 5 dipakai pada pilot. Distance menyatakan jarak ke piksel nol, bukan pusat semantik atau confidence. Warna heatmap merupakan skala visual nilai numerik.</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https://docs.opencv.org/4.x/d7/d1b/group__imgproc__misc.html</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22: Seed dan rasio jarak.</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Seed dibentuk dengan memilih piksel yang jaraknya melampaui sebagian nilai maksimum. Rasio tersebut merupakan parameter. Jika rasio rendah, wilayah seed membesar dan dua inti dapat tersambung sehingga menjadi satu seed. Jika rasio tinggi, seed mengecil dan objek yang mempunyai puncak jarak lebih rendah dapat kehilangan seed. Kita menampilkan satu perbandingan rasio dari hasil komputasi untuk melihat perubahan ini. Jumlah seed dihitung melalui komponen terhubung pada sure foreground. Seed yang baik harus diperiksa letaknya pada gambar asli, bukan hanya jumlahnya. Sebuah objek dapat menerima dua seed, atau dua objek menerima satu seed. Watershed kemudian bekerja dari identitas awal tersebut. Parameter pilot membantu contoh ini, tetapi tidak menjamin hasil yang sama pada semua foto.</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Panel rasio telah dihitung: 0,35 menghasilkan 5 seed/5 label; 0,50 menghasilkan 24 seed/24 label. Ini ilustrasi wajib pengajar. Tugas replay memakai 0,50; rasio baru hanya sesudah tugas inti.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https://docs.opencv.org/4.x/d3/db4/tutorial_py_watershed.html</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23: Tiga wilayah marker.</a:t>
            </a:r>
          </a:p>
          <a:p xmlns:a="http://schemas.openxmlformats.org/drawingml/2006/main">
            <a:r>
              <a:t/>
            </a:r>
          </a:p>
          <a:p xmlns:a="http://schemas.openxmlformats.org/drawingml/2006/main">
            <a:r>
              <a:t>Sesi: Teori. Estimasi waktu: 3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Marker menyimpan keputusan awal sebelum Watershed. Ada latar yang sudah pasti, daerah yang masih belum diputuskan, dan inti masing-masing objek. Label satu dipakai untuk latar pasti. Nol dipakai untuk unknown. Seed objek diberi label dua dan seterusnya. Kita membentuk envelope dengan mendilasi mask bersih. Bagian di luar envelope menjadi kandidat latar pasti. Wilayah unknown diperoleh dari envelope dikurangi sure foreground. Nama sure_bg pada banyak contoh sebenarnya merujuk envelope putih hasil dilasi, sehingga warna putihnya tidak boleh langsung disebut semua latar. Sesudah connected components pada seed, label ditambah satu dan wilayah unknown diubah menjadi nol. Visual marker perlu diperiksa sebelum fungsi Watershed dijalankan karena kesalahan di sini dapat mengarahkan seluruh pembagian wilayah.</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Gunakan diagram knownBG/unknown/seed editable. Jelaskan koreksi kode dosen: markers[clean==0]=0 membalik wilayah pasti dan belum pasti. Jangan menyebut envelope sebagai background-white.</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https://docs.opencv.org/4.x/d3/d47/group__imgproc__segmentation.html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24: Watershed dan batas hasil.</a:t>
            </a:r>
          </a:p>
          <a:p xmlns:a="http://schemas.openxmlformats.org/drawingml/2006/main">
            <a:r>
              <a:t/>
            </a:r>
          </a:p>
          <a:p xmlns:a="http://schemas.openxmlformats.org/drawingml/2006/main">
            <a:r>
              <a:t>Sesi: Teori. Estimasi waktu: 3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Watershed dapat dibayangkan sebagai pembagian daerah dengan identitas awal yang berbeda. Saat wilayah dari seed berkembang dan bertemu, algoritma menentukan batas pemisahnya berdasarkan perubahan pada citra. Analogi topografi membantu memahami gagasan tersebut. Pada implementasi kita, distance transform dipakai untuk membuat seed, sedangkan fungsi cv2.watershed menerima citra berwarna BGR dan marker int32. Jadi input ke fungsi ini bukan sekadar peta jarak yang dibalik. Marker akan diubah menjadi hasil label, dan batas wilayah mendapat nilai minus satu. Kita membuat salinan untuk overlay agar foto asli tetap tersedia sebagai pembanding. Warna pada label hanya kode visual; mengganti palet tidak mengubah identitas atau akurasi wilayah. Letak batas tetap harus diperiksa pada foto.</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https://docs.opencv.org/4.x/d3/d47/group__imgproc__segmentation.html</a:t>
            </a:r>
          </a:p>
          <a:p xmlns:a="http://schemas.openxmlformats.org/drawingml/2006/main">
            <a:r>
              <a:t/>
            </a:r>
          </a:p>
          <a:p xmlns:a="http://schemas.openxmlformats.org/drawingml/2006/main">
            <a:r>
              <a:t>https://doi.org/10.1109/34.87344</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25: Count benar dan mask benar.</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Jumlah label dihitung dari kumpulan ID objek yang valid setelah mengabaikan label latar, unknown, dan boundary. Jangan memakai angka label terbesar sebagai jumlah benda. ID dapat mempunyai celah jika sebuah wilayah hilang atau difilter. Aturan luas minimum serta perlakuan objek tepi juga harus dinyatakan. Sesudah angka diperoleh, kita memeriksa overlay. Sebuah objek yang pecah menjadi dua disebut split, sedangkan dua objek yang menyatu menjadi satu disebut merge. Satu split dan satu merge dapat saling meniadakan pada total hitungan. Karena itu, total yang cocok dengan referensi visual belum membuktikan semua wilayah benar. Pada contoh ini, referensi hitungan dibaca dari foto. Kita tidak menyebutnya mask ground truth karena tidak ada anotasi piksel untuk batas setiap koin.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https://arxiv.org/html/2206.01653v8</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26: Ringkasan pemilihan teknik.</a:t>
            </a:r>
          </a:p>
          <a:p xmlns:a="http://schemas.openxmlformats.org/drawingml/2006/main">
            <a:r>
              <a:t/>
            </a:r>
          </a:p>
          <a:p xmlns:a="http://schemas.openxmlformats.org/drawingml/2006/main">
            <a:r>
              <a:t>Sesi: Teori. Estimasi waktu: 2 menit, termasuk kegiatan yang dijelaskan.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Pemilihan metode dimulai dari kebutuhan dan sifat input. Jika pemisahan intensitas objek dan latar cukup jelas, Otsu menjadi titik awal yang sederhana. Jika pencahayaan berubah di dalam halaman, ambang lokal layak dibandingkan. Jika ciri yang kita pilih adalah warna pada kondisi terkontrol, gunakan HSV dan tampilkan masknya. Jika beberapa benda tersambung pada mask, kita memerlukan informasi instance; seed dan Watershed memberi satu pendekatan. Pipeline dapat menggabungkan alat tersebut, tetapi setiap tahap harus mempunyai tujuan. Pada koin, Otsu menyediakan mask awal dan Watershed membagi wilayah. Sesudah ini kita beralih ke notebook. Urutan sel, data, parameter, dan keluaran yang ditunjukkan akan sama dengan bagian wajib praktikum mahasiswa.</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Teknik dapat disusun menjadi pipeline sesuai tujuan. Pada koin Otsu adalah mask awal, CCL memberi seed, lalu Watershed memberi label. Hindari memilih metode hanya karena hasil berwarna terlihat menarik.</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27: Data nyata, sumber, dan persiapan Colab.</a:t>
            </a:r>
          </a:p>
          <a:p xmlns:a="http://schemas.openxmlformats.org/drawingml/2006/main">
            <a:r>
              <a:t/>
            </a:r>
          </a:p>
          <a:p xmlns:a="http://schemas.openxmlformats.org/drawingml/2006/main">
            <a:r>
              <a:t>Sesi: Demonstrasi. Estimasi waktu: 4 menit, termasuk kegiatan yang dijelaskan.</a:t>
            </a:r>
          </a:p>
          <a:p xmlns:a="http://schemas.openxmlformats.org/drawingml/2006/main">
            <a:r>
              <a:t/>
            </a:r>
          </a:p>
          <a:p xmlns:a="http://schemas.openxmlformats.org/drawingml/2006/main">
            <a:r>
              <a:t>Sel notebook: A01 → A02 → A03.</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Notebook memakai data kecil yang sudah tertanam agar jalannya tugas inti tidak bergantung pada unduhan gambar. Sumber input tetap dicatat pada bagian kredit. Dokumen berasal dari scan halaman judul Pride and Prejudice, dengan bayangan digital deterministik untuk kasus pencahayaan. Koin berasal dari contoh OpenCV. Foto apel merah berasal dari Sprinno dengan CC0, dan foto jeruk berasal dari Andrius R. atau Knutux dengan pelepasan domain publik. Keduanya digunakan dalam komposisi digital berlabel. Komposisi itu bukan foto conveyor nyata. Saya membuka notebook pengajar, memilih runtime CPU, lalu menjalankan sel persiapan dan pemuatan data. Kita memeriksa shape, dtype, dan hash input. Langkah ini memastikan keluaran dihasilkan dari gambar yang dimaksud. Jika koneksi Colab bermasalah, keluaran notebook pengajar serta gambar pada slide menjadi cadangan penjelasan.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Durasi mencakup pembukaan Colab dan eksekusi A01/A02/A03. Kredit lengkap pada MANIFEST_DATA.json. Tidak ada unduhan input untuk tugas inti. Dokumen: scan 1813+simulasi bayangan; buah: dua foto Commons dalam komposisi digital.</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https://commons.wikimedia.org/wiki/File:PrideAndPrejudiceTitlePage.jpg</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https://commons.wikimedia.org/wiki/File:Red_apple_on_white_background.jpg</a:t>
            </a:r>
          </a:p>
          <a:p xmlns:a="http://schemas.openxmlformats.org/drawingml/2006/main">
            <a:r>
              <a:t/>
            </a:r>
          </a:p>
          <a:p xmlns:a="http://schemas.openxmlformats.org/drawingml/2006/main">
            <a:r>
              <a:t>https://commons.wikimedia.org/wiki/File:Orange-fruit.jpg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28: Demo A: input dan Otsu.</a:t>
            </a:r>
          </a:p>
          <a:p xmlns:a="http://schemas.openxmlformats.org/drawingml/2006/main">
            <a:r>
              <a:t/>
            </a:r>
          </a:p>
          <a:p xmlns:a="http://schemas.openxmlformats.org/drawingml/2006/main">
            <a:r>
              <a:t>Sesi: Demonstrasi. Estimasi waktu: 6 menit, termasuk kegiatan yang dijelaskan.</a:t>
            </a:r>
          </a:p>
          <a:p xmlns:a="http://schemas.openxmlformats.org/drawingml/2006/main">
            <a:r>
              <a:t/>
            </a:r>
          </a:p>
          <a:p xmlns:a="http://schemas.openxmlformats.org/drawingml/2006/main">
            <a:r>
              <a:t>Sel notebook: B01 → B02.</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Saya mulai dengan kasus dokumen. Panel pertama menunjukkan scan yang dipakai, dan panel berikutnya menunjukkan transformasi bayangan simulasi. Kita menyimpan keduanya agar asal perubahan jelas. Input diubah menjadi grayscale lalu diproses dengan Otsu. Nilai ambang yang tercetak berasal dari distribusi intensitas input ini. Histogram ditampilkan bersama garis ambang. Sesudah itu, lihat mask pada daerah terang dan daerah lebih gelap. Kita belum menetapkan hasil terbaik dari tampilannya saja. Keluaran ini disimpan sebagai pembanding untuk Mean dan Gaussian. Tidak ada pengenalan teks dalam sel ini. Yang kita nilai adalah apakah goresan karakter serta latar dapat dipisahkan pada gambar yang sama. Saya menunjuk bagian gambar yang akan diperbesar di langkah berikutnya. Pada input terkunci ini, ambang Otsu bernilai seratus tiga puluh.</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Periksa input shape 969×600 uint8. Histogram/ambang 130 berasal dari shadowed scan. Semua output tetap disimpan sebelum eksperimen. Pemilihan parameter 31/9 ditentukan melalui pilot, bukan menyalin 19/9 dari slide dosen. Tahan pada input dan histogram selama sel selesai. T Otsu 130 sudah dikunci. Jangan mengubah input/parameter inti ketika demo. B01 memuat input, B02 menghitung ketiga mask. Penilaian tanpa OCR atau mask referensi.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https://commons.wikimedia.org/wiki/File:PrideAndPrejudiceTitlePage.jpg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29: Demo A: Mean/Gaussian serta ROI.</a:t>
            </a:r>
          </a:p>
          <a:p xmlns:a="http://schemas.openxmlformats.org/drawingml/2006/main">
            <a:r>
              <a:t/>
            </a:r>
          </a:p>
          <a:p xmlns:a="http://schemas.openxmlformats.org/drawingml/2006/main">
            <a:r>
              <a:t>Sesi: Demonstrasi. Estimasi waktu: 7 menit, termasuk kegiatan yang dijelaskan.</a:t>
            </a:r>
          </a:p>
          <a:p xmlns:a="http://schemas.openxmlformats.org/drawingml/2006/main">
            <a:r>
              <a:t/>
            </a:r>
          </a:p>
          <a:p xmlns:a="http://schemas.openxmlformats.org/drawingml/2006/main">
            <a:r>
              <a:t>Sel notebook: B02 → B03.</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Sekarang saya menjalankan Adaptive Mean dan Adaptive Gaussian. Kedua metode menggunakan ukuran jendela serta C yang sama pada perbandingan utama. Yang berubah adalah pembobotan statistik lokalnya. Keluaran gambar penuh ditampilkan terlebih dahulu, kemudian kita masuk ke crop detail yang koordinatnya sudah ditetapkan. Saya membaca hasil dari goresan dan latar: bagian yang masih tersambung, goresan tipis yang hilang, dan piksel latar yang ikut menjadi hitam. Pengamatan tersebut harus merujuk lokasi yang terlihat. Kita tidak memberi nilai akurasi OCR karena OCR belum dijalankan. Tabel parameter pada notebook menjadi catatan yang dapat disalin ke pengamatan mahasiswa. Setelah demonstrasi dokumen selesai, semua hasil inti tetap disimpan dan tidak ditimpa oleh eksperimen opsional. Parameter inti yang digunakan adalah blockSize tiga puluh satu dan C sembilan.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ROIx 0=65,y0=110,x1=545,y1=355; NumPy memakai[y0:y1,x0:x1]. Hitam 339003/35679/29728 untuk Otsu/Mean/Gaussian hanya hitungan piksel seluruh citra. Bukan skor kualitas. Waktu mencakup eksekusi dan pembacaan crop. ROI, parameter, dan angka sudah dicocokkan dengan manifest pilot.</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https://commons.wikimedia.org/wiki/File:PrideAndPrejudiceTitlePage.jpg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30: Demo B: mask dan pembersihan.</a:t>
            </a:r>
          </a:p>
          <a:p xmlns:a="http://schemas.openxmlformats.org/drawingml/2006/main">
            <a:r>
              <a:t/>
            </a:r>
          </a:p>
          <a:p xmlns:a="http://schemas.openxmlformats.org/drawingml/2006/main">
            <a:r>
              <a:t>Sesi: Demonstrasi. Estimasi waktu: 5 menit, termasuk kegiatan yang dijelaskan.</a:t>
            </a:r>
          </a:p>
          <a:p xmlns:a="http://schemas.openxmlformats.org/drawingml/2006/main">
            <a:r>
              <a:t/>
            </a:r>
          </a:p>
          <a:p xmlns:a="http://schemas.openxmlformats.org/drawingml/2006/main">
            <a:r>
              <a:t>Sel notebook: C01 → C02.</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Pada kasus koin, saya menampilkan foto asli sebelum mask. Kita memakai grayscale dan Otsu dengan polarity yang membuat koin menjadi foreground nonzero. Sesudah itu, mask dibersihkan menggunakan opening yang parameternya sudah diuji pada input ini. Opening dapat mengurangi piksel kecil, tetapi juga dapat mengikis bentuk atau menghilangkan objek kecil. Karena itu, input mask dan hasil bersih ditampilkan berdampingan. Jumlah komponen terhubung dicatat pada tahap awal. Angka ini merupakan jumlah gumpalan mask, bukan langsung jumlah koin. Bagian yang menyentuh akan terlihat masih bergabung. Kita memakai hasil bersih untuk distance transform. Jika mask awal salah atau kehilangan benda, tahap berikutnya tidak dapat dianggap otomatis memulihkan semua informasi tersebut. Otsu memberi ambang seratus enam puluh dua. Dua komponen awal mencakup satu piksel pengganggu; sesudah opening tersisa satu komponen tersambung.</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Kernel 3×3, opening 2 iterasi; maskclean 1 komponen. T koin 162 dengan BINARY_INV. Satu speck hilang setelah opening. Gunakan panel asli dan clean untuk membuktikan pembersihan yang dilakukan. Periksa opening tidak menjadi topik panjang tersendiri. Dukung penjelasan dengan rawmask/cleanmask nyata.</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31: Demo B: distance map dan seed.</a:t>
            </a:r>
          </a:p>
          <a:p xmlns:a="http://schemas.openxmlformats.org/drawingml/2006/main">
            <a:r>
              <a:t/>
            </a:r>
          </a:p>
          <a:p xmlns:a="http://schemas.openxmlformats.org/drawingml/2006/main">
            <a:r>
              <a:t>Sesi: Demonstrasi. Estimasi waktu: 5 menit, termasuk kegiatan yang dijelaskan.</a:t>
            </a:r>
          </a:p>
          <a:p xmlns:a="http://schemas.openxmlformats.org/drawingml/2006/main">
            <a:r>
              <a:t/>
            </a:r>
          </a:p>
          <a:p xmlns:a="http://schemas.openxmlformats.org/drawingml/2006/main">
            <a:r>
              <a:t>Sel notebook: C03 → C05.</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Tahap berikutnya memakai hasil distance transform yang sudah dihitung pada C02. Sekarang saya menampilkan peta jarak dan mask sure foreground melalui C03. Warna terang berarti jarak lebih besar ke latar nol. Seed dipilih dari nilai yang melampaui rasio tertentu terhadap maksimum peta jarak. Notebook mencetak jumlah komponen seed yang dihasilkan. Kita melihat letak setiap seed pada foto dan membandingkannya dengan objek yang terlihat. Panel tambahan memperlihatkan perubahan seed ketika rasio diubah. Rasio yang terlalu rendah dapat membentuk inti yang tersambung; rasio tinggi dapat menghilangkan inti kecil. Ini membantu menjelaskan bahwa parameter seed memengaruhi pemisahan. Pada praktikum inti, mahasiswa tetap memakai parameter demonstrasi. Eksperimen tambahan boleh mengubah parameter sesudah seluruh keluaran wajib selesai. Rasio nol koma lima menghasilkan dua puluh empat seed. Pembanding nol koma tiga puluh lima menghasilkan lima seed.</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Sel C05 menyediakan perbandingan rasio. Sesudah panel tambahan, kembali gunakan objek hasil inti C02 dengan rasio 0,50. Jangan membiarkan variabel eksperimen menimpa hasil yang dinilai. Panel perubahan rasio wajib memakai hasil komputasi aktual dan jumlah seed terkunci. Jangan mengatakan seed selalu sama dengan count referensi.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32: Demo B: known background dan unknown.</a:t>
            </a:r>
          </a:p>
          <a:p xmlns:a="http://schemas.openxmlformats.org/drawingml/2006/main">
            <a:r>
              <a:t/>
            </a:r>
          </a:p>
          <a:p xmlns:a="http://schemas.openxmlformats.org/drawingml/2006/main">
            <a:r>
              <a:t>Sesi: Demonstrasi. Estimasi waktu: 5 menit, termasuk kegiatan yang dijelaskan.</a:t>
            </a:r>
          </a:p>
          <a:p xmlns:a="http://schemas.openxmlformats.org/drawingml/2006/main">
            <a:r>
              <a:t/>
            </a:r>
          </a:p>
          <a:p xmlns:a="http://schemas.openxmlformats.org/drawingml/2006/main">
            <a:r>
              <a:t>Sel notebook: C03.</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Saya memperlihatkan envelope hasil dilasi, seed, dan wilayah unknown. Dilasi memperluas mask ke sekitar batas objek. Unknown merupakan bagian envelope yang belum menjadi sure foreground. Di luar envelope terdapat daerah yang diperlakukan sebagai latar pasti. Tampilan ini perlu dibaca hati-hati karena nama sure_bg pada contoh umum sering membuat bagian putih dianggap sebagai seluruh background. Pada pipeline kita, putih envelope masih mencakup objek dan lingkungan batasnya. Yang menjadi known background adalah bagian di luar envelope. Selanjutnya, connected components memberi label pada seed. Label ditambah satu untuk menyediakan background satu, lalu unknown diubah menjadi nol. Sebelum menjalankan Watershed, saya menahan tampilan marker agar arti tiga wilayah ini terlihat.</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Envelope dilasi 3 iterasi. Unknown=envelope−sureforeground. Assert memeriksa bg 1 di luar envelope, unknown 0, seed≥2. Makna wilayah lebih penting daripada istilah sure_bg. Penjelasan ini sengaja menampilkan koreksi marker sumber dosen tanpa menjadikan kelas sesi audit. Cue kode marker mencakup unknown=envelope-surefg.</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33: Demo B: marker dan Watershed.</a:t>
            </a:r>
          </a:p>
          <a:p xmlns:a="http://schemas.openxmlformats.org/drawingml/2006/main">
            <a:r>
              <a:t/>
            </a:r>
          </a:p>
          <a:p xmlns:a="http://schemas.openxmlformats.org/drawingml/2006/main">
            <a:r>
              <a:t>Sesi: Demonstrasi. Estimasi waktu: 5 menit, termasuk kegiatan yang dijelaskan.</a:t>
            </a:r>
          </a:p>
          <a:p xmlns:a="http://schemas.openxmlformats.org/drawingml/2006/main">
            <a:r>
              <a:t/>
            </a:r>
          </a:p>
          <a:p xmlns:a="http://schemas.openxmlformats.org/drawingml/2006/main">
            <a:r>
              <a:t>Sel notebook: C02 → C03.</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Marker sebelum proses sekarang ditampilkan sebagai peta label. Warna background menunjukkan label satu, wilayah unknown menunjukkan nol, dan seed mempunyai ID dua ke atas. Array marker harus bertipe int32 serta mempunyai ukuran yang sama dengan citra. Fungsi Watershed sudah dijalankan pada C02 dengan salinan marker supaya kondisi awal tetap tersedia. Sekarang saya menampilkan hasilnya. Sesudah fungsi selesai, label wilayah berkembang dan boundary diberi nilai minus satu. Kita menampilkan label hasil dan overlay boundary pada foto asli. Panel sebelum dan sesudah membantu menjelaskan bahwa algoritma menerima identitas awal, lalu memperluas wilayah berdasarkan citra. Peta warna hanya alat melihat identitas. Keberhasilan eksekusi belum menjadi bukti bahwa setiap koin terpisah dengan benar. Tahap berikutnya memeriksa count bersama batas objek.</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OpenCV watershed memodifikasi marker in-place; salinan diperlukan untuk panel before. Overlay pakai copy gambar asli.</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https://docs.opencv.org/4.x/d3/d47/group__imgproc__segmentation.html</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34: Demo B: label, count, dan keterbatasan.</a:t>
            </a:r>
          </a:p>
          <a:p xmlns:a="http://schemas.openxmlformats.org/drawingml/2006/main">
            <a:r>
              <a:t/>
            </a:r>
          </a:p>
          <a:p xmlns:a="http://schemas.openxmlformats.org/drawingml/2006/main">
            <a:r>
              <a:t>Sesi: Demonstrasi. Estimasi waktu: 6 menit, termasuk kegiatan yang dijelaskan.</a:t>
            </a:r>
          </a:p>
          <a:p xmlns:a="http://schemas.openxmlformats.org/drawingml/2006/main">
            <a:r>
              <a:t/>
            </a:r>
          </a:p>
          <a:p xmlns:a="http://schemas.openxmlformats.org/drawingml/2006/main">
            <a:r>
              <a:t>Sel notebook: C04.</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Pada hasil akhir, notebook menyajikan referensi hitungan visual, komponen mask awal, jumlah seed, dan jumlah label objek valid. Kita membaca angka tersebut bersama overlay, bukan sebagai lomba mendapatkan satu angka. ID objek dihitung dengan mengabaikan background satu, unknown nol, dan boundary minus satu. Aturan luas atau objek tepi yang digunakan dicatat pada sel. Saya memeriksa apakah ada benda yang memperoleh dua wilayah, apakah dua benda tetap menyatu, dan apakah batas mengikuti bagian foto yang masuk akal. Referensi visual ini hanya referensi jumlah pada input terpilih. Ia bukan mask anotasi piksel. Karena itu, kesimpulan kita dibatasi pada pengamatan contoh ini. Hasil pilot juga tidak menjadi ukuran performa sistem penghitungan untuk kumpulan foto lain. Hasil pilot memberi dua puluh empat label valid, sama dengan referensi visual dua puluh empat. Label dekat tepi tetap disertakan sesuai aturan contoh.</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ValidID 2..25, count 24,minarea 50. Label dekat tepi 10,24,25 ikut. Nomor pada overlay adalah urutan 1..24, bukan ID mentah 2..25. Titik referensi visual bukan mask GT. Bacakan angka pada tabel pilot dan tunjuk lokasi split/merge yang terlihat bila ada. Jangan klaim instance akurat hanya dari count.</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https://github.com/opencv/opencv/blob/4.13.0/doc/py_tutorials/py_imgproc/py_watershed/images/water_coins.jpg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35: Demo C: HSV, mask, dan overlay.</a:t>
            </a:r>
          </a:p>
          <a:p xmlns:a="http://schemas.openxmlformats.org/drawingml/2006/main">
            <a:r>
              <a:t/>
            </a:r>
          </a:p>
          <a:p xmlns:a="http://schemas.openxmlformats.org/drawingml/2006/main">
            <a:r>
              <a:t>Sesi: Demonstrasi. Estimasi waktu: 7 menit, termasuk kegiatan yang dijelaskan.</a:t>
            </a:r>
          </a:p>
          <a:p xmlns:a="http://schemas.openxmlformats.org/drawingml/2006/main">
            <a:r>
              <a:t/>
            </a:r>
          </a:p>
          <a:p xmlns:a="http://schemas.openxmlformats.org/drawingml/2006/main">
            <a:r>
              <a:t>Sel notebook: D01 → D02 → E01.</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Kasus terakhir memakai komposisi digital dari dua foto buah nyata. Foto tidak diambil bersama di jalur sortir. Saya menjalankan konversi BGR ke HSV dan menampilkan rentang yang dipakai. Dua interval merah digabung dengan OR; oranye memakai rentangnya sendiri. Kedua mask ditampilkan sebelum overlay. Perhatikan bagian sorotan, bayangan, dan latar yang mungkin masuk atau hilang. Setelah itu, box ditambahkan untuk merangkum posisi wilayah terpilih sesuai aturan luas. Tulisan pada hasil menjelaskan warna yang dipilih, tanpa persentase confidence. Jumlah region warna bukan otomatis jumlah buah. Contoh ini menunjukkan pipeline seleksi piksel dengan aturan terkontrol. Setelah keluaran HSV selesai, tiga kasus demonstrasi sudah mencakup seluruh metode wajib. Selanjutnya mahasiswa mengulang urutannya pada notebook latihan. Rentang merah adalah nol sampai sepuluh serta seratus enam puluh lima sampai seratus tujuh puluh sembilan. Oranye memakai tiga belas sampai dua puluh delapan. Batas S delapan puluh dan V empat puluh lima.</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Merah 24807 px, oranye 21071 px; box utama masing-masing 1. Angka merupakan luas mask/region geometris. Dua foto disusun digital di kanvas 552×290; bukan pengujian conveyor atau real-time. Durasi mencakup transisi ke notebook mahasiswa dan penjelasan tugas. Periksa komposisi digital/caption data final.</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https://commons.wikimedia.org/wiki/File:Red_apple_on_white_background.jpg</a:t>
            </a:r>
          </a:p>
          <a:p xmlns:a="http://schemas.openxmlformats.org/drawingml/2006/main">
            <a:r>
              <a:t/>
            </a:r>
          </a:p>
          <a:p xmlns:a="http://schemas.openxmlformats.org/drawingml/2006/main">
            <a:r>
              <a:t>https://commons.wikimedia.org/wiki/File:Orange-fruit.jpg</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36: Replay mahasiswa 50 menit.</a:t>
            </a:r>
          </a:p>
          <a:p xmlns:a="http://schemas.openxmlformats.org/drawingml/2006/main">
            <a:r>
              <a:t/>
            </a:r>
          </a:p>
          <a:p xmlns:a="http://schemas.openxmlformats.org/drawingml/2006/main">
            <a:r>
              <a:t>Sesi: Praktikum. Estimasi waktu: 4 menit, termasuk kegiatan yang dijelaskan.</a:t>
            </a:r>
          </a:p>
          <a:p xmlns:a="http://schemas.openxmlformats.org/drawingml/2006/main">
            <a:r>
              <a:t/>
            </a:r>
          </a:p>
          <a:p xmlns:a="http://schemas.openxmlformats.org/drawingml/2006/main">
            <a:r>
              <a:t>Sel notebook: A01 → A03.</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Sekarang sesi praktikum ulang dimulai. Buka notebook mahasiswa, lengkapi identitas, dan jalankan bagian wajib dari atas ke bawah. Data utama sudah tertanam dan parameter inti sama dengan demonstrasi. Bagian wajib tidak mempunyai potongan kode yang harus ditebak. Setelah setiap kasus selesai, periksa apakah panel yang diminta muncul, lalu isi ruang pengamatan. Untuk dokumen, catat parameter serta bagian goresan atau latar yang berbeda. Untuk koin, catat komponen, seed, label valid, dan kesesuaian visual. Untuk HSV, catat rentang warna dan keterbatasan hasil. Empat menit pertama dipakai menyiapkan notebook. Waktu berikutnya dipakai menjalankan dan membaca keluaran. Saya menampilkan slide bukti pengumpulan sebagai panduan selama pengerjaan.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Notebook mahasiswa dibagikan bersih tanpa output, tetapi kode lengkap. Setelah eksekusi mahasiswa menyimpan output dan pengamatan. Replay pertama memakai data tertanam; jangan mulai dari unggah foto sendiri. Ini instruksi pendek kemudian tahan slide berikutnya. Tidak menunggu jawaban kelas. Waktu 4 menit termasuk pembukaan/setup.</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37: Bukti pengumpulan dan rubrik.</a:t>
            </a:r>
          </a:p>
          <a:p xmlns:a="http://schemas.openxmlformats.org/drawingml/2006/main">
            <a:r>
              <a:t/>
            </a:r>
          </a:p>
          <a:p xmlns:a="http://schemas.openxmlformats.org/drawingml/2006/main">
            <a:r>
              <a:t>Sesi: Praktikum. Estimasi waktu: 43 menit, termasuk kegiatan yang dijelaskan.</a:t>
            </a:r>
          </a:p>
          <a:p xmlns:a="http://schemas.openxmlformats.org/drawingml/2006/main">
            <a:r>
              <a:t/>
            </a:r>
          </a:p>
          <a:p xmlns:a="http://schemas.openxmlformats.org/drawingml/2006/main">
            <a:r>
              <a:t>Sel notebook: B01 … E02 (pengamatan).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Bukti pengumpulan berasal dari notebook yang sudah dijalankan. Bagian dokumen memuat tiga mask, crop detail, dan parameter. Bagian Watershed memuat mask, distance map, seed, marker, label akhir, serta tabel hitungan. Bagian HSV memuat mask merah, mask oranye, overlay, dan rentang warna. Pengamatan ditulis dengan menunjuk bagian gambar yang terlihat. Rubrik memberi tiga puluh persen untuk dokumen, empat puluh persen untuk Watershed, dua puluh persen untuk HSV, dan sepuluh persen untuk pengamatan. Count yang cocok belum mendapat nilai penuh jika alasan atau overlay tidak diperiksa. Pada sesi ini, slide ditahan sebagai panduan kerja. Empat puluh tiga menit berikutnya mencakup pengulangan ketiga kasus serta pengisian pengamatan. Naskah ini tidak dibaca sepanjang durasi tersebut.</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ACTIVITY HOLD 43: dokumen 10 +Watershed 20 +HSV 8 +pengamatan 5. Timer berjalan setelah instruksi. Pengajar dapat memberi penjelasan singkat satu arah bila banyak error sama; jangan membaca tambahan naskah berulang.</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38: Eksperimen opsional.</a:t>
            </a:r>
          </a:p>
          <a:p xmlns:a="http://schemas.openxmlformats.org/drawingml/2006/main">
            <a:r>
              <a:t/>
            </a:r>
          </a:p>
          <a:p xmlns:a="http://schemas.openxmlformats.org/drawingml/2006/main">
            <a:r>
              <a:t>Sesi: Praktikum. Estimasi waktu: 1 menit, termasuk kegiatan yang dijelaskan.</a:t>
            </a:r>
          </a:p>
          <a:p xmlns:a="http://schemas.openxmlformats.org/drawingml/2006/main">
            <a:r>
              <a:t/>
            </a:r>
          </a:p>
          <a:p xmlns:a="http://schemas.openxmlformats.org/drawingml/2006/main">
            <a:r>
              <a:t>Sel notebook: F01 / F02.</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Eksperimen tambahan boleh dijalankan setelah seluruh bukti wajib dan pengamatan selesai. Pilihan pertama mengubah satu parameter sehingga perubahan keluaran lebih mudah dijelaskan. Pilihan kedua memakai data sendiri melalui sel unggah yang disediakan. Data baru harus dapat dibaca dan memenuhi kebutuhan kasus. Untuk dokumen, gunakan gambar yang cukup tajam. Untuk pemisahan objek, pilih benda yang terlihat dari atas dan hindari oklusi berat. Untuk warna, gunakan benda dengan warna yang jelas. Sel opsional bekerja pada salinan sehingga keluaran inti tetap tersedia. Jika data tambahan tidak menghasilkan mask yang baik, tulis penyebab yang terlihat, seperti pencahayaan, warna latar serupa, atau seed yang tidak sesuai. Eksperimen ini tidak menjadi syarat nilai inti.</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Sampaikan saat menjelang akhir atau ketika mahasiswa sudah selesai. Jangan memperpanjang replay wajib untuk menambah eksperimen.</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39: Troubleshooting dan rencana cadangan.</a:t>
            </a:r>
          </a:p>
          <a:p xmlns:a="http://schemas.openxmlformats.org/drawingml/2006/main">
            <a:r>
              <a:t/>
            </a:r>
          </a:p>
          <a:p xmlns:a="http://schemas.openxmlformats.org/drawingml/2006/main">
            <a:r>
              <a:t>Sesi: Praktikum. Estimasi waktu: 1 menit, termasuk kegiatan yang dijelaskan.</a:t>
            </a:r>
          </a:p>
          <a:p xmlns:a="http://schemas.openxmlformats.org/drawingml/2006/main">
            <a:r>
              <a:t/>
            </a:r>
          </a:p>
          <a:p xmlns:a="http://schemas.openxmlformats.org/drawingml/2006/main">
            <a:r>
              <a:t>Sel notebook: A01.</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Jika muncul NameError, jalankan kembali sel sebelumnya sesuai urutan agar variabel tersedia. Jika mask kosong atau hampir seluruhnya putih, periksa input, polarity, serta rentang parameter sebelum mengubah banyak nilai. Untuk foto berwarna yang tampak salah, periksa konversi BGR dan RGB. Jika Watershed gagal, periksa apakah marker bertipe int32 dan berukuran sama dengan citra BGR. Runtime yang terputus membuat variabel hilang, sehingga notebook perlu dijalankan kembali dari persiapan. Jika koneksi kelas menghambat Colab, notebook pengajar yang telah menyimpan output dan gambar pada slide dapat dipakai untuk melanjutkan penjelasan. Bahan cadangan membantu membaca mekanisme, tetapi tidak boleh disebut sebagai eksekusi mahasiswa yang sudah selesai.</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Gunakan tabel troubleshooting modul untuk diagnosis lebih rinci. Satu menit ini cadangan akhir; masalah besar dicatat sebagai batas kelas.</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7 / Sub-CPMK 7. Slide 40: Ringkasan dan sumber belajar.</a:t>
            </a:r>
          </a:p>
          <a:p xmlns:a="http://schemas.openxmlformats.org/drawingml/2006/main">
            <a:r>
              <a:t/>
            </a:r>
          </a:p>
          <a:p xmlns:a="http://schemas.openxmlformats.org/drawingml/2006/main">
            <a:r>
              <a:t>Sesi: Praktikum. Estimasi waktu: 1 menit, termasuk kegiatan yang dijelaskan.</a:t>
            </a:r>
          </a:p>
          <a:p xmlns:a="http://schemas.openxmlformats.org/drawingml/2006/main">
            <a:r>
              <a:t/>
            </a:r>
          </a:p>
          <a:p xmlns:a="http://schemas.openxmlformats.org/drawingml/2006/main">
            <a:r>
              <a:t>Sel notebook: E02 (pengamatan).</a:t>
            </a:r>
          </a:p>
          <a:p xmlns:a="http://schemas.openxmlformats.org/drawingml/2006/main">
            <a:r>
              <a:t/>
            </a:r>
          </a:p>
          <a:p xmlns:a="http://schemas.openxmlformats.org/drawingml/2006/main">
            <a:r>
              <a:t>NARASI UTAMA</a:t>
            </a:r>
          </a:p>
          <a:p xmlns:a="http://schemas.openxmlformats.org/drawingml/2006/main">
            <a:r>
              <a:t/>
            </a:r>
          </a:p>
          <a:p xmlns:a="http://schemas.openxmlformats.org/drawingml/2006/main">
            <a:r>
              <a:t>Sesi ini menghasilkan tiga jenis pengalaman: membandingkan ambang pada dokumen, membagi objek yang menyentuh, dan memilih wilayah warna. Setiap hasil perlu dibaca bersama input serta keluaran antara. Nilai ambang, jumlah seed, dan label akhir mempunyai makna yang berbeda. Simpan notebook mahasiswa yang sudah dijalankan sesuai instruksi pengumpulan. Modul pembelajaran menyediakan penjelasan rumus, contoh hitung, diagnosis, glosarium, dan tautan sumber primer untuk belajar ulang. Naskah pengajar mengikuti judul dan urutan slide yang sama. Setelah kelas, materi tambahan dapat dipelajari dari dokumentasi resmi OpenCV dan paper klasik yang tercantum. Rangkaian inti sudah selesai; langkah berikutnya adalah memeriksa bahwa pengamatan serta keluaran wajib tersimpan dengan baik sebelum berkas diserahkan.</a:t>
            </a:r>
          </a:p>
          <a:p xmlns:a="http://schemas.openxmlformats.org/drawingml/2006/main">
            <a:r>
              <a:t/>
            </a:r>
          </a:p>
          <a:p xmlns:a="http://schemas.openxmlformats.org/drawingml/2006/main">
            <a:r>
              <a:t>CATATAN TAMBAHAN PENGAJAR</a:t>
            </a:r>
          </a:p>
          <a:p xmlns:a="http://schemas.openxmlformats.org/drawingml/2006/main">
            <a:r>
              <a:t/>
            </a:r>
          </a:p>
          <a:p xmlns:a="http://schemas.openxmlformats.org/drawingml/2006/main">
            <a:r>
              <a:t>Sumber primer dapat dibuka dari modul dan speaker notes. Tiga menit pemeriksaan pengumpulan keseluruhan tersebar pada slide 38..40. Total waktu merupakan estimasi penulis, belum diuji bersama kelas.</a:t>
            </a:r>
          </a:p>
          <a:p xmlns:a="http://schemas.openxmlformats.org/drawingml/2006/main">
            <a:r>
              <a:t/>
            </a:r>
          </a:p>
          <a:p xmlns:a="http://schemas.openxmlformats.org/drawingml/2006/main">
            <a:r>
              <a:t>Sumber materi dosen: Minggu_7_Teknik_Thresholding_08102026.pdf.</a:t>
            </a:r>
          </a:p>
          <a:p xmlns:a="http://schemas.openxmlformats.org/drawingml/2006/main">
            <a:r>
              <a:t/>
            </a:r>
          </a:p>
          <a:p xmlns:a="http://schemas.openxmlformats.org/drawingml/2006/main">
            <a:r>
              <a:t>https://docs.opencv.org/4.x/d7/d4d/tutorial_py_thresholding.html</a:t>
            </a:r>
          </a:p>
          <a:p xmlns:a="http://schemas.openxmlformats.org/drawingml/2006/main">
            <a:r>
              <a:t/>
            </a:r>
          </a:p>
          <a:p xmlns:a="http://schemas.openxmlformats.org/drawingml/2006/main">
            <a:r>
              <a:t>https://docs.opencv.org/4.x/df/d9d/tutorial_py_colorspaces.html</a:t>
            </a:r>
          </a:p>
          <a:p xmlns:a="http://schemas.openxmlformats.org/drawingml/2006/main">
            <a:r>
              <a:t/>
            </a:r>
          </a:p>
          <a:p xmlns:a="http://schemas.openxmlformats.org/drawingml/2006/main">
            <a:r>
              <a:t>https://docs.opencv.org/4.x/d3/db4/tutorial_py_watershed.html</a:t>
            </a:r>
          </a:p>
          <a:p xmlns:a="http://schemas.openxmlformats.org/drawingml/2006/main">
            <a:r>
              <a:t/>
            </a:r>
          </a:p>
          <a:p xmlns:a="http://schemas.openxmlformats.org/drawingml/2006/main">
            <a:r>
              <a:t>Kredit data dan transformasi lengkap: assets/subcpmk7/SOURCES.md. Gambar hasil berasal dari input dan parameter notebook yang sama. Bayangan scan serta komposisi buah yang disiapkan digital dinyatakan sebagai simulasi. Sampul adalah ilustrasi konseptual imagegen, bukan data praktikum.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92930ffc4949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61e8c75b2a434d" /><Relationship Type="http://schemas.openxmlformats.org/officeDocument/2006/relationships/slideLayout" Target="/ppt/slideLayouts/slideLayout1.xml" Id="R05a38ff20cd74d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a38ff20cd74d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e0294afd6f4523" /><Relationship Type="http://schemas.openxmlformats.org/officeDocument/2006/relationships/image" Target="/ppt/media/image.png" Id="Raa3eabef57264677" /><Relationship Type="http://schemas.openxmlformats.org/officeDocument/2006/relationships/notesSlide" Target="/ppt/notesSlides/notesSlide1.xml" Id="R86302ac544f24d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14008e6f1242db" /><Relationship Type="http://schemas.openxmlformats.org/officeDocument/2006/relationships/notesSlide" Target="/ppt/notesSlides/notesSlide2.xml" Id="Rf22e345f1a194a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2dfcca888f4611" /><Relationship Type="http://schemas.openxmlformats.org/officeDocument/2006/relationships/image" Target="/ppt/media/image2.png" Id="Ree70cff8620347e1" /><Relationship Type="http://schemas.openxmlformats.org/officeDocument/2006/relationships/notesSlide" Target="/ppt/notesSlides/notesSlide3.xml" Id="R25d9cb69737c47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44c6bad9674381" /><Relationship Type="http://schemas.openxmlformats.org/officeDocument/2006/relationships/image" Target="/ppt/media/image3.png" Id="Rfbe6be18e56c4813" /><Relationship Type="http://schemas.openxmlformats.org/officeDocument/2006/relationships/notesSlide" Target="/ppt/notesSlides/notesSlide4.xml" Id="Rb89643ccac3d45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5b09f6007d4d5c" /><Relationship Type="http://schemas.openxmlformats.org/officeDocument/2006/relationships/notesSlide" Target="/ppt/notesSlides/notesSlide5.xml" Id="R6541a785eda84d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2819b72a164978" /><Relationship Type="http://schemas.openxmlformats.org/officeDocument/2006/relationships/notesSlide" Target="/ppt/notesSlides/notesSlide6.xml" Id="R8a418aa5ea3249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b92f9aa5764721" /><Relationship Type="http://schemas.openxmlformats.org/officeDocument/2006/relationships/chart" Target="/ppt/slides/charts/chart1.xml" Id="R6742913adf8c47b5" /><Relationship Type="http://schemas.openxmlformats.org/officeDocument/2006/relationships/notesSlide" Target="/ppt/notesSlides/notesSlide7.xml" Id="R5d117f5a775641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7286d3b20c4924" /><Relationship Type="http://schemas.openxmlformats.org/officeDocument/2006/relationships/notesSlide" Target="/ppt/notesSlides/notesSlide8.xml" Id="Rb32f38f725ed45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03f63dc117434c" /><Relationship Type="http://schemas.openxmlformats.org/officeDocument/2006/relationships/image" Target="/ppt/media/image4.png" Id="Rb3e25d88813248d7" /><Relationship Type="http://schemas.openxmlformats.org/officeDocument/2006/relationships/notesSlide" Target="/ppt/notesSlides/notesSlide9.xml" Id="R90020f140a8e4f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bd7a2938eb4bbe" /><Relationship Type="http://schemas.openxmlformats.org/officeDocument/2006/relationships/image" Target="/ppt/media/image5.png" Id="Rcd979cb7365d4653" /><Relationship Type="http://schemas.openxmlformats.org/officeDocument/2006/relationships/notesSlide" Target="/ppt/notesSlides/notesSlide10.xml" Id="R5b58fe6621f346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986c49a6774bb4" /><Relationship Type="http://schemas.openxmlformats.org/officeDocument/2006/relationships/notesSlide" Target="/ppt/notesSlides/notesSlide11.xml" Id="Ra57fe191aff34d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06c8033f7c4742" /><Relationship Type="http://schemas.openxmlformats.org/officeDocument/2006/relationships/notesSlide" Target="/ppt/notesSlides/notesSlide12.xml" Id="Rcb9e716fbbe943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07f290a88f48ac" /><Relationship Type="http://schemas.openxmlformats.org/officeDocument/2006/relationships/notesSlide" Target="/ppt/notesSlides/notesSlide13.xml" Id="Rd0e3d632d1304d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684b250b324f49" /><Relationship Type="http://schemas.openxmlformats.org/officeDocument/2006/relationships/image" Target="/ppt/media/image6.png" Id="R276cb79af38d47fc" /><Relationship Type="http://schemas.openxmlformats.org/officeDocument/2006/relationships/notesSlide" Target="/ppt/notesSlides/notesSlide14.xml" Id="Ra8b328f6f2df47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abd2270de248af" /><Relationship Type="http://schemas.openxmlformats.org/officeDocument/2006/relationships/notesSlide" Target="/ppt/notesSlides/notesSlide15.xml" Id="R69e72e57a4ac45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928459eb2f4898" /><Relationship Type="http://schemas.openxmlformats.org/officeDocument/2006/relationships/notesSlide" Target="/ppt/notesSlides/notesSlide16.xml" Id="Rf7e56da6caca42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976a82c8174474" /><Relationship Type="http://schemas.openxmlformats.org/officeDocument/2006/relationships/image" Target="/ppt/media/image7.png" Id="R05ff2d65bd6c4ee1" /><Relationship Type="http://schemas.openxmlformats.org/officeDocument/2006/relationships/notesSlide" Target="/ppt/notesSlides/notesSlide17.xml" Id="Rfd07b3a91d104f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a7d106b2dc242e3" /><Relationship Type="http://schemas.openxmlformats.org/officeDocument/2006/relationships/image" Target="/ppt/media/image8.png" Id="R58e84c518ab44e73" /><Relationship Type="http://schemas.openxmlformats.org/officeDocument/2006/relationships/notesSlide" Target="/ppt/notesSlides/notesSlide18.xml" Id="R160d7033237147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f52fcce64ae4547" /><Relationship Type="http://schemas.openxmlformats.org/officeDocument/2006/relationships/image" Target="/ppt/media/image9.png" Id="Rba5b59c207984d9e" /><Relationship Type="http://schemas.openxmlformats.org/officeDocument/2006/relationships/notesSlide" Target="/ppt/notesSlides/notesSlide19.xml" Id="Rb40b7d00c9414c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3349381b95457b" /><Relationship Type="http://schemas.openxmlformats.org/officeDocument/2006/relationships/image" Target="/ppt/media/image10.png" Id="Rf9546f9b847646a7" /><Relationship Type="http://schemas.openxmlformats.org/officeDocument/2006/relationships/notesSlide" Target="/ppt/notesSlides/notesSlide20.xml" Id="Ra957fa0c25e2463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22aad109f2445cb" /><Relationship Type="http://schemas.openxmlformats.org/officeDocument/2006/relationships/image" Target="/ppt/media/image11.png" Id="Rd309364996504ba0" /><Relationship Type="http://schemas.openxmlformats.org/officeDocument/2006/relationships/notesSlide" Target="/ppt/notesSlides/notesSlide21.xml" Id="R12bbb53a4bb042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e95bd9f08ae4bf6" /><Relationship Type="http://schemas.openxmlformats.org/officeDocument/2006/relationships/image" Target="/ppt/media/image12.png" Id="Rd0be2ccd28dc4aae" /><Relationship Type="http://schemas.openxmlformats.org/officeDocument/2006/relationships/notesSlide" Target="/ppt/notesSlides/notesSlide22.xml" Id="Rd7bed5e4c1814a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de9923eb32d42aa" /><Relationship Type="http://schemas.openxmlformats.org/officeDocument/2006/relationships/notesSlide" Target="/ppt/notesSlides/notesSlide23.xml" Id="Rd1507c58dbe442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8a02822e86a4979" /><Relationship Type="http://schemas.openxmlformats.org/officeDocument/2006/relationships/image" Target="/ppt/media/image13.png" Id="R8e0f485e8e4645c9" /><Relationship Type="http://schemas.openxmlformats.org/officeDocument/2006/relationships/notesSlide" Target="/ppt/notesSlides/notesSlide24.xml" Id="R884524c47ef647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8126ddba28e4e49" /><Relationship Type="http://schemas.openxmlformats.org/officeDocument/2006/relationships/image" Target="/ppt/media/image14.png" Id="Rdb1413336feb456c" /><Relationship Type="http://schemas.openxmlformats.org/officeDocument/2006/relationships/notesSlide" Target="/ppt/notesSlides/notesSlide25.xml" Id="Rf2829d1d21cb45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18459e66c1244ce" /><Relationship Type="http://schemas.openxmlformats.org/officeDocument/2006/relationships/notesSlide" Target="/ppt/notesSlides/notesSlide26.xml" Id="Rc119e76245f54f5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570ee72b6b2400b" /><Relationship Type="http://schemas.openxmlformats.org/officeDocument/2006/relationships/image" Target="/ppt/media/image15.png" Id="R744d87022a75444e" /><Relationship Type="http://schemas.openxmlformats.org/officeDocument/2006/relationships/notesSlide" Target="/ppt/notesSlides/notesSlide27.xml" Id="Ra625c786f42e4c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528e08001f44bcd" /><Relationship Type="http://schemas.openxmlformats.org/officeDocument/2006/relationships/image" Target="/ppt/media/image16.png" Id="R94871df00662477e" /><Relationship Type="http://schemas.openxmlformats.org/officeDocument/2006/relationships/notesSlide" Target="/ppt/notesSlides/notesSlide28.xml" Id="R073198fcf9e247a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453fe60fcfb408e" /><Relationship Type="http://schemas.openxmlformats.org/officeDocument/2006/relationships/image" Target="/ppt/media/image17.png" Id="R70d1721bd2024aaf" /><Relationship Type="http://schemas.openxmlformats.org/officeDocument/2006/relationships/notesSlide" Target="/ppt/notesSlides/notesSlide29.xml" Id="R2a075c7b0c93426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8e280ce4ea04bb4" /><Relationship Type="http://schemas.openxmlformats.org/officeDocument/2006/relationships/image" Target="/ppt/media/image18.png" Id="R81d31b1df7224218" /><Relationship Type="http://schemas.openxmlformats.org/officeDocument/2006/relationships/notesSlide" Target="/ppt/notesSlides/notesSlide30.xml" Id="R93d56c6302d545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39191088120444d" /><Relationship Type="http://schemas.openxmlformats.org/officeDocument/2006/relationships/image" Target="/ppt/media/image19.png" Id="R4783142f4e8040eb" /><Relationship Type="http://schemas.openxmlformats.org/officeDocument/2006/relationships/notesSlide" Target="/ppt/notesSlides/notesSlide31.xml" Id="R3ad6f2aea7b0470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2b8a9695be74a36" /><Relationship Type="http://schemas.openxmlformats.org/officeDocument/2006/relationships/image" Target="/ppt/media/image20.png" Id="Rc519354ae3384874" /><Relationship Type="http://schemas.openxmlformats.org/officeDocument/2006/relationships/notesSlide" Target="/ppt/notesSlides/notesSlide32.xml" Id="Rc16a7c968d924e4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5e2139b5c8d4b42" /><Relationship Type="http://schemas.openxmlformats.org/officeDocument/2006/relationships/image" Target="/ppt/media/image21.png" Id="R7a237374b196458c" /><Relationship Type="http://schemas.openxmlformats.org/officeDocument/2006/relationships/notesSlide" Target="/ppt/notesSlides/notesSlide33.xml" Id="Reed88e16091345e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2908aa7f9224381" /><Relationship Type="http://schemas.openxmlformats.org/officeDocument/2006/relationships/image" Target="/ppt/media/image22.png" Id="Rc279bfdbd6554916" /><Relationship Type="http://schemas.openxmlformats.org/officeDocument/2006/relationships/notesSlide" Target="/ppt/notesSlides/notesSlide34.xml" Id="Ra02b8c5aab69490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97ebb6dbf254057" /><Relationship Type="http://schemas.openxmlformats.org/officeDocument/2006/relationships/image" Target="/ppt/media/image23.png" Id="R6cb60fbe321b4a7f" /><Relationship Type="http://schemas.openxmlformats.org/officeDocument/2006/relationships/notesSlide" Target="/ppt/notesSlides/notesSlide35.xml" Id="R3b51ab091a3145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54378e296204989" /><Relationship Type="http://schemas.openxmlformats.org/officeDocument/2006/relationships/notesSlide" Target="/ppt/notesSlides/notesSlide36.xml" Id="R67cf31f0df5f4a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7f53d5308194874" /><Relationship Type="http://schemas.openxmlformats.org/officeDocument/2006/relationships/notesSlide" Target="/ppt/notesSlides/notesSlide37.xml" Id="R0384164a779940d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d0736062cad4be3" /><Relationship Type="http://schemas.openxmlformats.org/officeDocument/2006/relationships/notesSlide" Target="/ppt/notesSlides/notesSlide38.xml" Id="R017342f92b114fc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6f5f1046c24e76" /><Relationship Type="http://schemas.openxmlformats.org/officeDocument/2006/relationships/notesSlide" Target="/ppt/notesSlides/notesSlide39.xml" Id="Rd5b88084fe434d4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6b449d9b74344cd" /><Relationship Type="http://schemas.openxmlformats.org/officeDocument/2006/relationships/notesSlide" Target="/ppt/notesSlides/notesSlide40.xml" Id="R130b1d7ef772478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Jumlah piksel</c:v>
          </c:tx>
          <c:spPr>
            <a:solidFill xmlns:a="http://schemas.openxmlformats.org/drawingml/2006/main">
              <a:srgbClr val="225CD6"/>
            </a:solidFill>
          </c:spPr>
          <c:cat>
            <c:numRef>
              <c:f>'Chart Data'!$A$2:$A$17</c:f>
              <c:numCache>
                <c:formatCode>General</c:formatCode>
                <c:ptCount val="16"/>
                <c:pt idx="0">
                  <c:v>0</c:v>
                </c:pt>
                <c:pt idx="1">
                  <c:v>16</c:v>
                </c:pt>
                <c:pt idx="2">
                  <c:v>32</c:v>
                </c:pt>
                <c:pt idx="3">
                  <c:v>48</c:v>
                </c:pt>
                <c:pt idx="4">
                  <c:v>64</c:v>
                </c:pt>
                <c:pt idx="5">
                  <c:v>80</c:v>
                </c:pt>
                <c:pt idx="6">
                  <c:v>96</c:v>
                </c:pt>
                <c:pt idx="7">
                  <c:v>112</c:v>
                </c:pt>
                <c:pt idx="8">
                  <c:v>128</c:v>
                </c:pt>
                <c:pt idx="9">
                  <c:v>144</c:v>
                </c:pt>
                <c:pt idx="10">
                  <c:v>160</c:v>
                </c:pt>
                <c:pt idx="11">
                  <c:v>176</c:v>
                </c:pt>
                <c:pt idx="12">
                  <c:v>192</c:v>
                </c:pt>
                <c:pt idx="13">
                  <c:v>208</c:v>
                </c:pt>
                <c:pt idx="14">
                  <c:v>224</c:v>
                </c:pt>
                <c:pt idx="15">
                  <c:v>240</c:v>
                </c:pt>
              </c:numCache>
            </c:numRef>
          </c:cat>
          <c:val>
            <c:numRef>
              <c:f>'Chart Data'!$B$2:$B$17</c:f>
              <c:numCache>
                <c:formatCode>#,##0</c:formatCode>
                <c:ptCount val="16"/>
                <c:pt idx="0">
                  <c:v>9593</c:v>
                </c:pt>
                <c:pt idx="1">
                  <c:v>8828</c:v>
                </c:pt>
                <c:pt idx="2">
                  <c:v>15902</c:v>
                </c:pt>
                <c:pt idx="3">
                  <c:v>33769</c:v>
                </c:pt>
                <c:pt idx="4">
                  <c:v>164332</c:v>
                </c:pt>
                <c:pt idx="5">
                  <c:v>51129</c:v>
                </c:pt>
                <c:pt idx="6">
                  <c:v>28642</c:v>
                </c:pt>
                <c:pt idx="7">
                  <c:v>22900</c:v>
                </c:pt>
                <c:pt idx="8">
                  <c:v>21959</c:v>
                </c:pt>
                <c:pt idx="9">
                  <c:v>27231</c:v>
                </c:pt>
                <c:pt idx="10">
                  <c:v>33882</c:v>
                </c:pt>
                <c:pt idx="11">
                  <c:v>42068</c:v>
                </c:pt>
                <c:pt idx="12">
                  <c:v>59088</c:v>
                </c:pt>
                <c:pt idx="13">
                  <c:v>60414</c:v>
                </c:pt>
                <c:pt idx="14">
                  <c:v>1663</c:v>
                </c:pt>
                <c:pt idx="15">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latin typeface="Arial"/>
                    <a:ea typeface="Arial"/>
                    <a:cs typeface="Arial"/>
                  </a:rPr>
                  <a:t>Batas bawah rentang intensitas (16 tingkat per batang)</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Jumlah piksel</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04B"/>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3eabef5726467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A65C09-E248-45F2-93B1-0AFF35E8B861}"/>
              </a:ext>
            </a:extLst>
          </p:cNvPr>
          <p:cNvSpPr>
            <a:spLocks xmlns:a="http://schemas.openxmlformats.org/drawingml/2006/main" noGrp="1"/>
          </p:cNvSpPr>
          <p:nvPr/>
        </p:nvSpPr>
        <p:spPr>
          <a:xfrm xmlns:a="http://schemas.openxmlformats.org/drawingml/2006/main">
            <a:off x="552450" y="71437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1">
                <a:solidFill>
                  <a:srgbClr val="76E5D9"/>
                </a:solidFill>
                <a:latin typeface="Arial"/>
                <a:ea typeface="Arial"/>
                <a:cs typeface="Arial"/>
              </a:defRPr>
            </a:pPr>
            <a:r>
              <a:rPr sz="2025" b="1">
                <a:solidFill>
                  <a:srgbClr val="76E5D9"/>
                </a:solidFill>
                <a:latin typeface="Arial"/>
                <a:ea typeface="Arial"/>
                <a:cs typeface="Arial"/>
              </a:rPr>
              <a:t>MINGGU 7</a:t>
            </a:r>
          </a:p>
        </p:txBody>
      </p:sp>
      <p:sp>
        <p:nvSpPr>
          <p:cNvPr id="3" name="">
            <a:extLst xmlns:a="http://schemas.openxmlformats.org/drawingml/2006/main">
              <a:ext uri="{FF2B5EF4-FFF2-40B4-BE49-F238E27FC236}">
                <a16:creationId xmlns:a16="http://schemas.microsoft.com/office/drawing/2014/main" id="{2C984749-4516-4588-9CAB-4D3B8B4B372A}"/>
              </a:ext>
            </a:extLst>
          </p:cNvPr>
          <p:cNvSpPr>
            <a:spLocks xmlns:a="http://schemas.openxmlformats.org/drawingml/2006/main" noGrp="1"/>
          </p:cNvSpPr>
          <p:nvPr/>
        </p:nvSpPr>
        <p:spPr>
          <a:xfrm xmlns:a="http://schemas.openxmlformats.org/drawingml/2006/main">
            <a:off x="552450" y="149542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4425" b="1">
                <a:solidFill>
                  <a:srgbClr val="FFFFFF"/>
                </a:solidFill>
                <a:latin typeface="Arial"/>
                <a:ea typeface="Arial"/>
                <a:cs typeface="Arial"/>
              </a:defRPr>
            </a:pPr>
            <a:r>
              <a:rPr sz="4425" b="1">
                <a:solidFill>
                  <a:srgbClr val="FFFFFF"/>
                </a:solidFill>
                <a:latin typeface="Arial"/>
                <a:ea typeface="Arial"/>
                <a:cs typeface="Arial"/>
              </a:rPr>
              <a:t>Thresholding</a:t>
            </a:r>
          </a:p>
          <a:p xmlns:a="http://schemas.openxmlformats.org/drawingml/2006/main">
            <a:pPr>
              <a:lnSpc>
                <a:spcPct val="106000"/>
              </a:lnSpc>
              <a:buNone/>
              <a:defRPr sz="4425" b="1">
                <a:solidFill>
                  <a:srgbClr val="FFFFFF"/>
                </a:solidFill>
                <a:latin typeface="Arial"/>
                <a:ea typeface="Arial"/>
                <a:cs typeface="Arial"/>
              </a:defRPr>
            </a:pPr>
            <a:r>
              <a:rPr sz="4425" b="1">
                <a:solidFill>
                  <a:srgbClr val="FFFFFF"/>
                </a:solidFill>
                <a:latin typeface="Arial"/>
                <a:ea typeface="Arial"/>
                <a:cs typeface="Arial"/>
              </a:rPr>
              <a:t>dan Segmentasi</a:t>
            </a:r>
          </a:p>
          <a:p xmlns:a="http://schemas.openxmlformats.org/drawingml/2006/main">
            <a:pPr>
              <a:lnSpc>
                <a:spcPct val="106000"/>
              </a:lnSpc>
              <a:buNone/>
              <a:defRPr sz="4425" b="1">
                <a:solidFill>
                  <a:srgbClr val="FFFFFF"/>
                </a:solidFill>
                <a:latin typeface="Arial"/>
                <a:ea typeface="Arial"/>
                <a:cs typeface="Arial"/>
              </a:defRPr>
            </a:pPr>
            <a:r>
              <a:rPr sz="4425" b="1">
                <a:solidFill>
                  <a:srgbClr val="FFFFFF"/>
                </a:solidFill>
                <a:latin typeface="Arial"/>
                <a:ea typeface="Arial"/>
                <a:cs typeface="Arial"/>
              </a:rPr>
              <a:t>Citra</a:t>
            </a:r>
          </a:p>
        </p:txBody>
      </p:sp>
      <p:sp>
        <p:nvSpPr>
          <p:cNvPr id="4" name="">
            <a:extLst xmlns:a="http://schemas.openxmlformats.org/drawingml/2006/main">
              <a:ext uri="{FF2B5EF4-FFF2-40B4-BE49-F238E27FC236}">
                <a16:creationId xmlns:a16="http://schemas.microsoft.com/office/drawing/2014/main" id="{51454947-69EA-4CC8-8210-669E3FDCC706}"/>
              </a:ext>
            </a:extLst>
          </p:cNvPr>
          <p:cNvSpPr>
            <a:spLocks xmlns:a="http://schemas.openxmlformats.org/drawingml/2006/main" noGrp="1"/>
          </p:cNvSpPr>
          <p:nvPr/>
        </p:nvSpPr>
        <p:spPr>
          <a:xfrm xmlns:a="http://schemas.openxmlformats.org/drawingml/2006/main">
            <a:off x="581025" y="428625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325" b="0">
                <a:solidFill>
                  <a:srgbClr val="FFE69D"/>
                </a:solidFill>
                <a:latin typeface="Arial"/>
                <a:ea typeface="Arial"/>
                <a:cs typeface="Arial"/>
              </a:defRPr>
            </a:pPr>
            <a:r>
              <a:rPr sz="2325" b="0">
                <a:solidFill>
                  <a:srgbClr val="FFE69D"/>
                </a:solidFill>
                <a:latin typeface="Arial"/>
                <a:ea typeface="Arial"/>
                <a:cs typeface="Arial"/>
              </a:rPr>
              <a:t>Piksel, warna, dan objek</a:t>
            </a:r>
          </a:p>
          <a:p xmlns:a="http://schemas.openxmlformats.org/drawingml/2006/main">
            <a:pPr>
              <a:lnSpc>
                <a:spcPct val="106000"/>
              </a:lnSpc>
              <a:buNone/>
              <a:defRPr sz="2325" b="0">
                <a:solidFill>
                  <a:srgbClr val="FFE69D"/>
                </a:solidFill>
                <a:latin typeface="Arial"/>
                <a:ea typeface="Arial"/>
                <a:cs typeface="Arial"/>
              </a:defRPr>
            </a:pPr>
            <a:r>
              <a:rPr sz="2325" b="0">
                <a:solidFill>
                  <a:srgbClr val="FFE69D"/>
                </a:solidFill>
                <a:latin typeface="Arial"/>
                <a:ea typeface="Arial"/>
                <a:cs typeface="Arial"/>
              </a:rPr>
              <a:t>yang saling menempel</a:t>
            </a:r>
          </a:p>
        </p:txBody>
      </p:sp>
      <p:sp>
        <p:nvSpPr>
          <p:cNvPr id="5" name="">
            <a:extLst xmlns:a="http://schemas.openxmlformats.org/drawingml/2006/main">
              <a:ext uri="{FF2B5EF4-FFF2-40B4-BE49-F238E27FC236}">
                <a16:creationId xmlns:a16="http://schemas.microsoft.com/office/drawing/2014/main" id="{641DB0DD-5BD5-4F7A-A1F1-8E556E8704EF}"/>
              </a:ext>
            </a:extLst>
          </p:cNvPr>
          <p:cNvSpPr>
            <a:spLocks xmlns:a="http://schemas.openxmlformats.org/drawingml/2006/main" noGrp="1"/>
          </p:cNvSpPr>
          <p:nvPr/>
        </p:nvSpPr>
        <p:spPr>
          <a:xfrm xmlns:a="http://schemas.openxmlformats.org/drawingml/2006/main">
            <a:off x="581025" y="595312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725" b="0">
                <a:solidFill>
                  <a:srgbClr val="C3EAF3"/>
                </a:solidFill>
                <a:latin typeface="Arial"/>
                <a:ea typeface="Arial"/>
                <a:cs typeface="Arial"/>
              </a:defRPr>
            </a:pPr>
            <a:r>
              <a:rPr sz="1725" b="0">
                <a:solidFill>
                  <a:srgbClr val="C3EAF3"/>
                </a:solidFill>
                <a:latin typeface="Arial"/>
                <a:ea typeface="Arial"/>
                <a:cs typeface="Arial"/>
              </a:rPr>
              <a:t>Sub-CPMK 7</a:t>
            </a:r>
          </a:p>
        </p:txBody>
      </p:sp>
    </p:spTree>
    <p:extLst>
      <p:ext uri="{BB962C8B-B14F-4D97-AF65-F5344CB8AC3E}">
        <p14:creationId xmlns:p14="http://schemas.microsoft.com/office/powerpoint/2010/main" val="138442949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6A741B-963C-4509-B9CA-2C910F2FFD87}"/>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Capaian dan alokasi 150 menit</a:t>
            </a:r>
          </a:p>
        </p:txBody>
      </p:sp>
      <p:sp>
        <p:nvSpPr>
          <p:cNvPr id="2" name="">
            <a:extLst xmlns:a="http://schemas.openxmlformats.org/drawingml/2006/main">
              <a:ext uri="{FF2B5EF4-FFF2-40B4-BE49-F238E27FC236}">
                <a16:creationId xmlns:a16="http://schemas.microsoft.com/office/drawing/2014/main" id="{0136F8E4-81A8-4E9B-B0BE-7A3CAC7E8FF1}"/>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8EA6161-5F20-4164-907C-C83A206B1D46}"/>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50 menit konsep • 50 menit demonstrasi • 50 menit replay.</a:t>
            </a:r>
          </a:p>
        </p:txBody>
      </p:sp>
      <p:graphicFrame>
        <p:nvGraphicFramePr>
          <p:cNvPr id="9" name=""/>
          <p:cNvGraphicFramePr/>
          <p:nvPr/>
        </p:nvGraphicFramePr>
        <p:xfrm>
          <a:off xmlns:a="http://schemas.openxmlformats.org/drawingml/2006/main" x="619125" y="2190750"/>
          <a:ext xmlns:a="http://schemas.openxmlformats.org/drawingml/2006/main" cx="10934700" cy="2476500"/>
        </p:xfrm>
        <a:graphic xmlns:a="http://schemas.openxmlformats.org/drawingml/2006/main">
          <a:graphicData uri="http://schemas.openxmlformats.org/drawingml/2006/table">
            <a:tbl>
              <a:tblPr firstRow="1" bandRow="0"/>
              <a:tblGrid>
                <a:gridCol w="3644900"/>
                <a:gridCol w="3644900"/>
                <a:gridCol w="3644900"/>
              </a:tblGrid>
              <a:tr h="619125">
                <a:tc>
                  <a:txBody>
                    <a:bodyPr/>
                    <a:lstStyle/>
                    <a:p>
                      <a:pPr algn="ctr"/>
                      <a:r>
                        <a:rPr sz="1875" b="1">
                          <a:solidFill>
                            <a:srgbClr val="FFFFFF"/>
                          </a:solidFill>
                          <a:latin typeface="Arial"/>
                          <a:ea typeface="Arial"/>
                          <a:cs typeface="Arial"/>
                        </a:rPr>
                        <a:t>Sesi</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Menit</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Fokus</a:t>
                      </a:r>
                    </a:p>
                  </a:txBody>
                  <a:tcPr marL="91440" marR="91440" marT="45720" marB="45720" anchor="ctr">
                    <a:solidFill>
                      <a:srgbClr val="10204B"/>
                    </a:solidFill>
                  </a:tcPr>
                </a:tc>
              </a:tr>
              <a:tr h="619125">
                <a:tc>
                  <a:txBody>
                    <a:bodyPr/>
                    <a:lstStyle/>
                    <a:p>
                      <a:pPr algn="ctr"/>
                      <a:r>
                        <a:rPr sz="1875" b="0">
                          <a:solidFill>
                            <a:srgbClr val="142443"/>
                          </a:solidFill>
                          <a:latin typeface="Arial"/>
                          <a:ea typeface="Arial"/>
                          <a:cs typeface="Arial"/>
                        </a:rPr>
                        <a:t>Konsep</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50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Cara kerja dan batas metode</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Demonstrasi</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50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Tiga kasus, keluaran antara</a:t>
                      </a:r>
                    </a:p>
                  </a:txBody>
                  <a:tcPr marL="91440" marR="91440" marT="45720" marB="45720" anchor="ctr">
                    <a:solidFill>
                      <a:srgbClr val="F3F7FC"/>
                    </a:solidFill>
                  </a:tcPr>
                </a:tc>
              </a:tr>
              <a:tr h="619125">
                <a:tc>
                  <a:txBody>
                    <a:bodyPr/>
                    <a:lstStyle/>
                    <a:p>
                      <a:pPr algn="ctr"/>
                      <a:r>
                        <a:rPr sz="1875" b="0">
                          <a:solidFill>
                            <a:srgbClr val="142443"/>
                          </a:solidFill>
                          <a:latin typeface="Arial"/>
                          <a:ea typeface="Arial"/>
                          <a:cs typeface="Arial"/>
                        </a:rPr>
                        <a:t>Replay</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50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Jalankan, periksa, tulis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E24FC6A-BA4C-4B79-918B-D985DDCEB1B2}"/>
              </a:ext>
            </a:extLst>
          </p:cNvPr>
          <p:cNvSpPr>
            <a:spLocks xmlns:a="http://schemas.openxmlformats.org/drawingml/2006/main" noGrp="1"/>
          </p:cNvSpPr>
          <p:nvPr/>
        </p:nvSpPr>
        <p:spPr>
          <a:xfrm xmlns:a="http://schemas.openxmlformats.org/drawingml/2006/main">
            <a:off x="647700" y="4933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Kode wajib lengkap; eksperimen tambahan dilakukan setelah tugas inti.</a:t>
            </a:r>
          </a:p>
        </p:txBody>
      </p:sp>
    </p:spTree>
    <p:extLst>
      <p:ext uri="{BB962C8B-B14F-4D97-AF65-F5344CB8AC3E}">
        <p14:creationId xmlns:p14="http://schemas.microsoft.com/office/powerpoint/2010/main" val="728975007"/>
      </p:ext>
    </p:extLst>
  </p:cSld>
</p:sld>
</file>

<file path=ppt/slides/slide3.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B4C192-E2F0-4280-B1CC-6CBB2DF395C0}"/>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Peta tepi, mask, dan label objek</a:t>
            </a:r>
          </a:p>
        </p:txBody>
      </p:sp>
      <p:sp>
        <p:nvSpPr>
          <p:cNvPr id="2" name="">
            <a:extLst xmlns:a="http://schemas.openxmlformats.org/drawingml/2006/main">
              <a:ext uri="{FF2B5EF4-FFF2-40B4-BE49-F238E27FC236}">
                <a16:creationId xmlns:a16="http://schemas.microsoft.com/office/drawing/2014/main" id="{CF4E2A9F-8C6A-4219-822F-AF348D59B422}"/>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e70cff8620347e1"/>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FD00BA-4118-4C6D-ADDA-719377825E31}"/>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Tepi: lokasi perubahan intensitas.</a:t>
            </a:r>
          </a:p>
        </p:txBody>
      </p:sp>
      <p:sp>
        <p:nvSpPr>
          <p:cNvPr id="5" name="">
            <a:extLst xmlns:a="http://schemas.openxmlformats.org/drawingml/2006/main">
              <a:ext uri="{FF2B5EF4-FFF2-40B4-BE49-F238E27FC236}">
                <a16:creationId xmlns:a16="http://schemas.microsoft.com/office/drawing/2014/main" id="{C481C665-5353-425C-99F5-BCF683A4E9E3}"/>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Mask: piksel terpilih atau tidak.</a:t>
            </a:r>
          </a:p>
        </p:txBody>
      </p:sp>
      <p:sp>
        <p:nvSpPr>
          <p:cNvPr id="6" name="">
            <a:extLst xmlns:a="http://schemas.openxmlformats.org/drawingml/2006/main">
              <a:ext uri="{FF2B5EF4-FFF2-40B4-BE49-F238E27FC236}">
                <a16:creationId xmlns:a16="http://schemas.microsoft.com/office/drawing/2014/main" id="{BE390360-5F1F-48E1-8A56-ECB3A4CE8312}"/>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Label: identitas wilayah objek.</a:t>
            </a:r>
          </a:p>
        </p:txBody>
      </p:sp>
    </p:spTree>
    <p:extLst>
      <p:ext uri="{BB962C8B-B14F-4D97-AF65-F5344CB8AC3E}">
        <p14:creationId xmlns:p14="http://schemas.microsoft.com/office/powerpoint/2010/main" val="1104092783"/>
      </p:ext>
    </p:extLst>
  </p:cSld>
</p:sld>
</file>

<file path=ppt/slides/slide4.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29E5ED-A1E4-4F76-A635-ABCA67A1CE5B}"/>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Tiga kebutuhan aplikasi</a:t>
            </a:r>
          </a:p>
        </p:txBody>
      </p:sp>
      <p:sp>
        <p:nvSpPr>
          <p:cNvPr id="2" name="">
            <a:extLst xmlns:a="http://schemas.openxmlformats.org/drawingml/2006/main">
              <a:ext uri="{FF2B5EF4-FFF2-40B4-BE49-F238E27FC236}">
                <a16:creationId xmlns:a16="http://schemas.microsoft.com/office/drawing/2014/main" id="{C3C443FE-EFB8-427E-85FF-79C8E434B6D5}"/>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be6be18e56c4813"/>
          <a:stretch xmlns:a="http://schemas.openxmlformats.org/drawingml/2006/main"/>
        </p:blipFill>
        <p:spPr>
          <a:xfrm xmlns:a="http://schemas.openxmlformats.org/drawingml/2006/main">
            <a:off x="1075828" y="1285875"/>
            <a:ext cx="1004034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4B08BA-8C2F-483B-A27A-F12C693447EF}"/>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Dokumen: siapkan binarisasi sebelum OCR.</a:t>
            </a:r>
          </a:p>
        </p:txBody>
      </p:sp>
      <p:sp>
        <p:nvSpPr>
          <p:cNvPr id="5" name="">
            <a:extLst xmlns:a="http://schemas.openxmlformats.org/drawingml/2006/main">
              <a:ext uri="{FF2B5EF4-FFF2-40B4-BE49-F238E27FC236}">
                <a16:creationId xmlns:a16="http://schemas.microsoft.com/office/drawing/2014/main" id="{5194FE57-03B7-4C78-9B88-1847732AA267}"/>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Koin: pisahkan benda yang menyentuh.</a:t>
            </a:r>
          </a:p>
        </p:txBody>
      </p:sp>
      <p:sp>
        <p:nvSpPr>
          <p:cNvPr id="6" name="">
            <a:extLst xmlns:a="http://schemas.openxmlformats.org/drawingml/2006/main">
              <a:ext uri="{FF2B5EF4-FFF2-40B4-BE49-F238E27FC236}">
                <a16:creationId xmlns:a16="http://schemas.microsoft.com/office/drawing/2014/main" id="{D0D79531-8B31-4C82-9298-F7E8945FB621}"/>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Buah: pilih wilayah berdasarkan warna.</a:t>
            </a:r>
          </a:p>
        </p:txBody>
      </p:sp>
    </p:spTree>
    <p:extLst>
      <p:ext uri="{BB962C8B-B14F-4D97-AF65-F5344CB8AC3E}">
        <p14:creationId xmlns:p14="http://schemas.microsoft.com/office/powerpoint/2010/main" val="882370747"/>
      </p:ext>
    </p:extLst>
  </p:cSld>
</p:sld>
</file>

<file path=ppt/slides/slide5.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782486-35CC-42C9-BA21-FB925C105F20}"/>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Foreground, background, dan polarity</a:t>
            </a:r>
          </a:p>
        </p:txBody>
      </p:sp>
      <p:sp>
        <p:nvSpPr>
          <p:cNvPr id="2" name="">
            <a:extLst xmlns:a="http://schemas.openxmlformats.org/drawingml/2006/main">
              <a:ext uri="{FF2B5EF4-FFF2-40B4-BE49-F238E27FC236}">
                <a16:creationId xmlns:a16="http://schemas.microsoft.com/office/drawing/2014/main" id="{B39827D5-97BF-427E-A5E1-80F8ECE6224F}"/>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A5998F3-2B8E-4156-961E-FE64E1C84A4A}"/>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BINARY: intensitas di atas ambang menjadi 255.</a:t>
            </a:r>
          </a:p>
        </p:txBody>
      </p:sp>
      <p:graphicFrame>
        <p:nvGraphicFramePr>
          <p:cNvPr id="9" name=""/>
          <p:cNvGraphicFramePr/>
          <p:nvPr/>
        </p:nvGraphicFramePr>
        <p:xfrm>
          <a:off xmlns:a="http://schemas.openxmlformats.org/drawingml/2006/main" x="619125" y="2190750"/>
          <a:ext xmlns:a="http://schemas.openxmlformats.org/drawingml/2006/main" cx="10934700" cy="1809750"/>
        </p:xfrm>
        <a:graphic xmlns:a="http://schemas.openxmlformats.org/drawingml/2006/main">
          <a:graphicData uri="http://schemas.openxmlformats.org/drawingml/2006/table">
            <a:tbl>
              <a:tblPr firstRow="1" bandRow="0"/>
              <a:tblGrid>
                <a:gridCol w="3644900"/>
                <a:gridCol w="3644900"/>
                <a:gridCol w="3644900"/>
              </a:tblGrid>
              <a:tr h="603250">
                <a:tc>
                  <a:txBody>
                    <a:bodyPr/>
                    <a:lstStyle/>
                    <a:p>
                      <a:pPr algn="ctr"/>
                      <a:r>
                        <a:rPr sz="1875" b="1">
                          <a:solidFill>
                            <a:srgbClr val="FFFFFF"/>
                          </a:solidFill>
                          <a:latin typeface="Arial"/>
                          <a:ea typeface="Arial"/>
                          <a:cs typeface="Arial"/>
                        </a:rPr>
                        <a:t>Mode</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I &gt; T</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I ≤ T</a:t>
                      </a:r>
                    </a:p>
                  </a:txBody>
                  <a:tcPr marL="91440" marR="91440" marT="45720" marB="45720" anchor="ctr">
                    <a:solidFill>
                      <a:srgbClr val="10204B"/>
                    </a:solidFill>
                  </a:tcPr>
                </a:tc>
              </a:tr>
              <a:tr h="603250">
                <a:tc>
                  <a:txBody>
                    <a:bodyPr/>
                    <a:lstStyle/>
                    <a:p>
                      <a:pPr algn="ctr"/>
                      <a:r>
                        <a:rPr sz="1875" b="0">
                          <a:solidFill>
                            <a:srgbClr val="142443"/>
                          </a:solidFill>
                          <a:latin typeface="Arial"/>
                          <a:ea typeface="Arial"/>
                          <a:cs typeface="Arial"/>
                        </a:rPr>
                        <a:t>BINARY</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255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a:t>
                      </a:r>
                    </a:p>
                  </a:txBody>
                  <a:tcPr marL="91440" marR="91440" marT="45720" marB="45720" anchor="ctr">
                    <a:solidFill>
                      <a:srgbClr val="FFFFFF"/>
                    </a:solidFill>
                  </a:tcPr>
                </a:tc>
              </a:tr>
              <a:tr h="603250">
                <a:tc>
                  <a:txBody>
                    <a:bodyPr/>
                    <a:lstStyle/>
                    <a:p>
                      <a:pPr algn="ctr"/>
                      <a:r>
                        <a:rPr sz="1875" b="0">
                          <a:solidFill>
                            <a:srgbClr val="142443"/>
                          </a:solidFill>
                          <a:latin typeface="Arial"/>
                          <a:ea typeface="Arial"/>
                          <a:cs typeface="Arial"/>
                        </a:rPr>
                        <a:t>BINARY_INV</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255</a:t>
                      </a:r>
                    </a:p>
                  </a:txBody>
                  <a:tcPr marL="91440" marR="91440" marT="45720" marB="45720" anchor="ctr">
                    <a:solidFill>
                      <a:srgbClr val="F3F7FC"/>
                    </a:solidFill>
                  </a:tcPr>
                </a:tc>
              </a:tr>
            </a:tbl>
          </a:graphicData>
        </a:graphic>
      </p:graphicFrame>
      <p:sp>
        <p:nvSpPr>
          <p:cNvPr id="5" name="">
            <a:extLst xmlns:a="http://schemas.openxmlformats.org/drawingml/2006/main">
              <a:ext uri="{FF2B5EF4-FFF2-40B4-BE49-F238E27FC236}">
                <a16:creationId xmlns:a16="http://schemas.microsoft.com/office/drawing/2014/main" id="{1712FB1E-383D-482F-A396-EB2250B4A448}"/>
              </a:ext>
            </a:extLst>
          </p:cNvPr>
          <p:cNvSpPr>
            <a:spLocks xmlns:a="http://schemas.openxmlformats.org/drawingml/2006/main" noGrp="1"/>
          </p:cNvSpPr>
          <p:nvPr/>
        </p:nvSpPr>
        <p:spPr>
          <a:xfrm xmlns:a="http://schemas.openxmlformats.org/drawingml/2006/main">
            <a:off x="647700" y="426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BINARY_INV: intensitas di atas ambang menjadi 0.</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Pastikan mask objek nonzero sebelum analisis bentuk.</a:t>
            </a:r>
          </a:p>
        </p:txBody>
      </p:sp>
    </p:spTree>
    <p:extLst>
      <p:ext uri="{BB962C8B-B14F-4D97-AF65-F5344CB8AC3E}">
        <p14:creationId xmlns:p14="http://schemas.microsoft.com/office/powerpoint/2010/main" val="1054620822"/>
      </p:ext>
    </p:extLst>
  </p:cSld>
</p:sld>
</file>

<file path=ppt/slides/slide6.xml><?xml version="1.0" encoding="utf-8"?>
<p:sld xmlns:p="http://schemas.openxmlformats.org/presentationml/2006/main">
  <p:cSld>
    <p:bg>
      <p:bgPr>
        <a:solidFill xmlns:a="http://schemas.openxmlformats.org/drawingml/2006/main">
          <a:srgbClr val="EEE9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A9338C-55AB-446A-8769-8357F5740551}"/>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Ambang global dan contoh angka</a:t>
            </a:r>
          </a:p>
        </p:txBody>
      </p:sp>
      <p:sp>
        <p:nvSpPr>
          <p:cNvPr id="2" name="">
            <a:extLst xmlns:a="http://schemas.openxmlformats.org/drawingml/2006/main">
              <a:ext uri="{FF2B5EF4-FFF2-40B4-BE49-F238E27FC236}">
                <a16:creationId xmlns:a16="http://schemas.microsoft.com/office/drawing/2014/main" id="{21047994-F214-4EC0-9DC1-259AE5CB85E4}"/>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B91F77B-9E78-4344-A4A7-EF942535F1E7}"/>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Satu nilai T digunakan di seluruh citra.</a:t>
            </a:r>
          </a:p>
        </p:txBody>
      </p:sp>
      <p:graphicFrame>
        <p:nvGraphicFramePr>
          <p:cNvPr id="9" name=""/>
          <p:cNvGraphicFramePr/>
          <p:nvPr/>
        </p:nvGraphicFramePr>
        <p:xfrm>
          <a:off xmlns:a="http://schemas.openxmlformats.org/drawingml/2006/main" x="619125" y="2190750"/>
          <a:ext xmlns:a="http://schemas.openxmlformats.org/drawingml/2006/main" cx="10934700" cy="1809750"/>
        </p:xfrm>
        <a:graphic xmlns:a="http://schemas.openxmlformats.org/drawingml/2006/main">
          <a:graphicData uri="http://schemas.openxmlformats.org/drawingml/2006/table">
            <a:tbl>
              <a:tblPr firstRow="1" bandRow="0"/>
              <a:tblGrid>
                <a:gridCol w="2186940"/>
                <a:gridCol w="2186940"/>
                <a:gridCol w="2186940"/>
                <a:gridCol w="2186940"/>
                <a:gridCol w="2186940"/>
              </a:tblGrid>
              <a:tr h="904875">
                <a:tc>
                  <a:txBody>
                    <a:bodyPr/>
                    <a:lstStyle/>
                    <a:p>
                      <a:pPr algn="ctr"/>
                      <a:r>
                        <a:rPr sz="1875" b="1">
                          <a:solidFill>
                            <a:srgbClr val="FFFFFF"/>
                          </a:solidFill>
                          <a:latin typeface="Arial"/>
                          <a:ea typeface="Arial"/>
                          <a:cs typeface="Arial"/>
                        </a:rPr>
                        <a:t>Input</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40</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80</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120</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200</a:t>
                      </a:r>
                    </a:p>
                  </a:txBody>
                  <a:tcPr marL="91440" marR="91440" marT="45720" marB="45720" anchor="ctr">
                    <a:solidFill>
                      <a:srgbClr val="10204B"/>
                    </a:solidFill>
                  </a:tcPr>
                </a:tc>
              </a:tr>
              <a:tr h="904875">
                <a:tc>
                  <a:txBody>
                    <a:bodyPr/>
                    <a:lstStyle/>
                    <a:p>
                      <a:pPr algn="ctr"/>
                      <a:r>
                        <a:rPr sz="1875" b="0">
                          <a:solidFill>
                            <a:srgbClr val="142443"/>
                          </a:solidFill>
                          <a:latin typeface="Arial"/>
                          <a:ea typeface="Arial"/>
                          <a:cs typeface="Arial"/>
                        </a:rPr>
                        <a:t>BINARY T=100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255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255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D51A9D4-07A7-4FB4-BE75-D1A524973286}"/>
              </a:ext>
            </a:extLst>
          </p:cNvPr>
          <p:cNvSpPr>
            <a:spLocks xmlns:a="http://schemas.openxmlformats.org/drawingml/2006/main" noGrp="1"/>
          </p:cNvSpPr>
          <p:nvPr/>
        </p:nvSpPr>
        <p:spPr>
          <a:xfrm xmlns:a="http://schemas.openxmlformats.org/drawingml/2006/main">
            <a:off x="647700" y="426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T = 100: [40, 80, 120, 200] → [0, 0, 255, 255].</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Kondisi cahaya menentukan kegunaan satu ambang.</a:t>
            </a:r>
          </a:p>
        </p:txBody>
      </p:sp>
    </p:spTree>
    <p:extLst>
      <p:ext uri="{BB962C8B-B14F-4D97-AF65-F5344CB8AC3E}">
        <p14:creationId xmlns:p14="http://schemas.microsoft.com/office/powerpoint/2010/main" val="274809652"/>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32BA85-0834-4DE9-B3DA-3F71B678CA19}"/>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Histogram dan ambang Otsu</a:t>
            </a:r>
          </a:p>
        </p:txBody>
      </p:sp>
      <p:sp>
        <p:nvSpPr>
          <p:cNvPr id="2" name="">
            <a:extLst xmlns:a="http://schemas.openxmlformats.org/drawingml/2006/main">
              <a:ext uri="{FF2B5EF4-FFF2-40B4-BE49-F238E27FC236}">
                <a16:creationId xmlns:a16="http://schemas.microsoft.com/office/drawing/2014/main" id="{9DCEEA39-090C-4DBB-B3E9-18988A83CFF0}"/>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07</a:t>
            </a:r>
          </a:p>
        </p:txBody>
      </p:sp>
      <p:graphicFrame>
        <p:nvGraphicFramePr>
          <p:cNvPr id="8" name="Chart"/>
          <p:cNvGraphicFramePr/>
          <p:nvPr/>
        </p:nvGraphicFramePr>
        <p:xfrm>
          <a:off xmlns:a="http://schemas.openxmlformats.org/drawingml/2006/main" x="638175" y="1457325"/>
          <a:ext xmlns:a="http://schemas.openxmlformats.org/drawingml/2006/main" cx="10934700" cy="3857625"/>
        </p:xfrm>
        <a:graphic xmlns:a="http://schemas.openxmlformats.org/drawingml/2006/main">
          <a:graphicData uri="http://schemas.openxmlformats.org/drawingml/2006/chart">
            <c:chart xmlns:r="http://schemas.openxmlformats.org/officeDocument/2006/relationships" xmlns:c="http://schemas.openxmlformats.org/drawingml/2006/chart" r:id="R6742913adf8c47b5"/>
          </a:graphicData>
        </a:graphic>
      </p:graphicFrame>
      <p:sp>
        <p:nvSpPr>
          <p:cNvPr id="4" name="">
            <a:extLst xmlns:a="http://schemas.openxmlformats.org/drawingml/2006/main">
              <a:ext uri="{FF2B5EF4-FFF2-40B4-BE49-F238E27FC236}">
                <a16:creationId xmlns:a16="http://schemas.microsoft.com/office/drawing/2014/main" id="{51342A75-A084-475F-8398-F3536674802A}"/>
              </a:ext>
            </a:extLst>
          </p:cNvPr>
          <p:cNvSpPr>
            <a:spLocks xmlns:a="http://schemas.openxmlformats.org/drawingml/2006/main" noGrp="1"/>
          </p:cNvSpPr>
          <p:nvPr/>
        </p:nvSpPr>
        <p:spPr>
          <a:xfrm xmlns:a="http://schemas.openxmlformats.org/drawingml/2006/main">
            <a:off x="666750" y="54768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325" b="1">
                <a:solidFill>
                  <a:srgbClr val="007D82"/>
                </a:solidFill>
                <a:latin typeface="Arial"/>
                <a:ea typeface="Arial"/>
                <a:cs typeface="Arial"/>
              </a:defRPr>
            </a:pPr>
            <a:r>
              <a:rPr sz="2325" b="1">
                <a:solidFill>
                  <a:srgbClr val="007D82"/>
                </a:solidFill>
                <a:latin typeface="Arial"/>
                <a:ea typeface="Arial"/>
                <a:cs typeface="Arial"/>
              </a:rPr>
              <a:t>Ambang Otsu pada scan berbayang: T = 130</a:t>
            </a:r>
          </a:p>
        </p:txBody>
      </p:sp>
      <p:sp>
        <p:nvSpPr>
          <p:cNvPr id="5" name="">
            <a:extLst xmlns:a="http://schemas.openxmlformats.org/drawingml/2006/main">
              <a:ext uri="{FF2B5EF4-FFF2-40B4-BE49-F238E27FC236}">
                <a16:creationId xmlns:a16="http://schemas.microsoft.com/office/drawing/2014/main" id="{260D86FF-C031-477D-A604-5D4288C0E5A5}"/>
              </a:ext>
            </a:extLst>
          </p:cNvPr>
          <p:cNvSpPr>
            <a:spLocks xmlns:a="http://schemas.openxmlformats.org/drawingml/2006/main" noGrp="1"/>
          </p:cNvSpPr>
          <p:nvPr/>
        </p:nvSpPr>
        <p:spPr>
          <a:xfrm xmlns:a="http://schemas.openxmlformats.org/drawingml/2006/main">
            <a:off x="666750" y="59531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Histogram menghitung frekuensi setiap intensitas.</a:t>
            </a:r>
          </a:p>
        </p:txBody>
      </p:sp>
    </p:spTree>
    <p:extLst>
      <p:ext uri="{BB962C8B-B14F-4D97-AF65-F5344CB8AC3E}">
        <p14:creationId xmlns:p14="http://schemas.microsoft.com/office/powerpoint/2010/main" val="947985452"/>
      </p:ext>
    </p:extLst>
  </p:cSld>
</p:sld>
</file>

<file path=ppt/slides/slide8.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3280CC-2B5A-470C-ACC3-47E56A236EB7}"/>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Variansi antarkelas Otsu</a:t>
            </a:r>
          </a:p>
        </p:txBody>
      </p:sp>
      <p:sp>
        <p:nvSpPr>
          <p:cNvPr id="2" name="">
            <a:extLst xmlns:a="http://schemas.openxmlformats.org/drawingml/2006/main">
              <a:ext uri="{FF2B5EF4-FFF2-40B4-BE49-F238E27FC236}">
                <a16:creationId xmlns:a16="http://schemas.microsoft.com/office/drawing/2014/main" id="{11F57E04-41ED-4F03-8004-97DEFA90E1FD}"/>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B3C19C7-BB69-4B5D-A686-F74A43F58320}"/>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σ²B(T) = w₀w₁(μ₀ − μ₁)².</a:t>
            </a:r>
          </a:p>
        </p:txBody>
      </p:sp>
      <p:graphicFrame>
        <p:nvGraphicFramePr>
          <p:cNvPr id="9" name=""/>
          <p:cNvGraphicFramePr/>
          <p:nvPr/>
        </p:nvGraphicFramePr>
        <p:xfrm>
          <a:off xmlns:a="http://schemas.openxmlformats.org/drawingml/2006/main" x="619125" y="2190750"/>
          <a:ext xmlns:a="http://schemas.openxmlformats.org/drawingml/2006/main" cx="10934700" cy="2476500"/>
        </p:xfrm>
        <a:graphic xmlns:a="http://schemas.openxmlformats.org/drawingml/2006/main">
          <a:graphicData uri="http://schemas.openxmlformats.org/drawingml/2006/table">
            <a:tbl>
              <a:tblPr firstRow="1" bandRow="0"/>
              <a:tblGrid>
                <a:gridCol w="1822450"/>
                <a:gridCol w="1822450"/>
                <a:gridCol w="1822450"/>
                <a:gridCol w="1822450"/>
                <a:gridCol w="1822450"/>
                <a:gridCol w="1822450"/>
              </a:tblGrid>
              <a:tr h="619125">
                <a:tc>
                  <a:txBody>
                    <a:bodyPr/>
                    <a:lstStyle/>
                    <a:p>
                      <a:pPr algn="ctr"/>
                      <a:r>
                        <a:rPr sz="1875" b="1">
                          <a:solidFill>
                            <a:srgbClr val="FFFFFF"/>
                          </a:solidFill>
                          <a:latin typeface="Arial"/>
                          <a:ea typeface="Arial"/>
                          <a:cs typeface="Arial"/>
                        </a:rPr>
                        <a:t>Kandidat T</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w₀</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w₁</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μ₀</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μ₁</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σ²B</a:t>
                      </a:r>
                    </a:p>
                  </a:txBody>
                  <a:tcPr marL="91440" marR="91440" marT="45720" marB="45720" anchor="ctr">
                    <a:solidFill>
                      <a:srgbClr val="10204B"/>
                    </a:solidFill>
                  </a:tcPr>
                </a:tc>
              </a:tr>
              <a:tr h="619125">
                <a:tc>
                  <a:txBody>
                    <a:bodyPr/>
                    <a:lstStyle/>
                    <a:p>
                      <a:pPr algn="ctr"/>
                      <a:r>
                        <a:rPr sz="1875" b="0">
                          <a:solidFill>
                            <a:srgbClr val="142443"/>
                          </a:solidFill>
                          <a:latin typeface="Arial"/>
                          <a:ea typeface="Arial"/>
                          <a:cs typeface="Arial"/>
                        </a:rPr>
                        <a:t>20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0,25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0,75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20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80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675</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30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0,5</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0,5</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25</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105</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1600</a:t>
                      </a:r>
                    </a:p>
                  </a:txBody>
                  <a:tcPr marL="91440" marR="91440" marT="45720" marB="45720" anchor="ctr">
                    <a:solidFill>
                      <a:srgbClr val="F3F7FC"/>
                    </a:solidFill>
                  </a:tcPr>
                </a:tc>
              </a:tr>
              <a:tr h="619125">
                <a:tc>
                  <a:txBody>
                    <a:bodyPr/>
                    <a:lstStyle/>
                    <a:p>
                      <a:pPr algn="ctr"/>
                      <a:r>
                        <a:rPr sz="1875" b="0">
                          <a:solidFill>
                            <a:srgbClr val="142443"/>
                          </a:solidFill>
                          <a:latin typeface="Arial"/>
                          <a:ea typeface="Arial"/>
                          <a:cs typeface="Arial"/>
                        </a:rPr>
                        <a:t>100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0,75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0,25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50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110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675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4B8F35-0EEF-4354-9DFC-D3862D1DD131}"/>
              </a:ext>
            </a:extLst>
          </p:cNvPr>
          <p:cNvSpPr>
            <a:spLocks xmlns:a="http://schemas.openxmlformats.org/drawingml/2006/main" noGrp="1"/>
          </p:cNvSpPr>
          <p:nvPr/>
        </p:nvSpPr>
        <p:spPr>
          <a:xfrm xmlns:a="http://schemas.openxmlformats.org/drawingml/2006/main">
            <a:off x="647700" y="4933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Kandidat terbaik memaksimalkan pemisahan kedua kelompok.</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Contoh delapan piksel menghasilkan variansi antarkelas 1600.</a:t>
            </a:r>
          </a:p>
        </p:txBody>
      </p:sp>
    </p:spTree>
    <p:extLst>
      <p:ext uri="{BB962C8B-B14F-4D97-AF65-F5344CB8AC3E}">
        <p14:creationId xmlns:p14="http://schemas.microsoft.com/office/powerpoint/2010/main" val="1817892744"/>
      </p:ext>
    </p:extLst>
  </p:cSld>
</p:sld>
</file>

<file path=ppt/slides/slide9.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C89BF4-C81C-4979-930E-AE9E49E0CBFD}"/>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Otsu pada input nyata dan keterbatasan</a:t>
            </a:r>
          </a:p>
        </p:txBody>
      </p:sp>
      <p:sp>
        <p:nvSpPr>
          <p:cNvPr id="2" name="">
            <a:extLst xmlns:a="http://schemas.openxmlformats.org/drawingml/2006/main">
              <a:ext uri="{FF2B5EF4-FFF2-40B4-BE49-F238E27FC236}">
                <a16:creationId xmlns:a16="http://schemas.microsoft.com/office/drawing/2014/main" id="{94C899EC-4AD5-416F-91B5-18B0B16D43DF}"/>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09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3e25d88813248d7"/>
          <a:stretch xmlns:a="http://schemas.openxmlformats.org/drawingml/2006/main"/>
        </p:blipFill>
        <p:spPr>
          <a:xfrm xmlns:a="http://schemas.openxmlformats.org/drawingml/2006/main">
            <a:off x="1864236" y="1285875"/>
            <a:ext cx="8463528"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7062B2-9111-4FE8-BBB2-7EDD6C1D389F}"/>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Ambang otomatis tetap merupakan keputusan global.</a:t>
            </a:r>
          </a:p>
        </p:txBody>
      </p:sp>
      <p:sp>
        <p:nvSpPr>
          <p:cNvPr id="5" name="">
            <a:extLst xmlns:a="http://schemas.openxmlformats.org/drawingml/2006/main">
              <a:ext uri="{FF2B5EF4-FFF2-40B4-BE49-F238E27FC236}">
                <a16:creationId xmlns:a16="http://schemas.microsoft.com/office/drawing/2014/main" id="{F6EB381C-D00C-47BC-AA1E-71B177D0C503}"/>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Bayangan dapat menggeser intensitas latar.</a:t>
            </a:r>
          </a:p>
        </p:txBody>
      </p:sp>
      <p:sp>
        <p:nvSpPr>
          <p:cNvPr id="6" name="">
            <a:extLst xmlns:a="http://schemas.openxmlformats.org/drawingml/2006/main">
              <a:ext uri="{FF2B5EF4-FFF2-40B4-BE49-F238E27FC236}">
                <a16:creationId xmlns:a16="http://schemas.microsoft.com/office/drawing/2014/main" id="{C1E807B5-4C60-43FD-A8EA-57AB1302CF29}"/>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Periksa karakter dan latar pada gambar hasil.</a:t>
            </a:r>
          </a:p>
        </p:txBody>
      </p:sp>
      <p:sp>
        <p:nvSpPr>
          <p:cNvPr id="7" name="">
            <a:extLst xmlns:a="http://schemas.openxmlformats.org/drawingml/2006/main">
              <a:ext uri="{FF2B5EF4-FFF2-40B4-BE49-F238E27FC236}">
                <a16:creationId xmlns:a16="http://schemas.microsoft.com/office/drawing/2014/main" id="{CA33F6F0-7A2F-401B-970C-61A4A67217E5}"/>
              </a:ext>
            </a:extLst>
          </p:cNvPr>
          <p:cNvSpPr>
            <a:spLocks xmlns:a="http://schemas.openxmlformats.org/drawingml/2006/main" noGrp="1"/>
          </p:cNvSpPr>
          <p:nvPr/>
        </p:nvSpPr>
        <p:spPr>
          <a:xfrm xmlns:a="http://schemas.openxmlformats.org/drawingml/2006/main">
            <a:off x="581025" y="6457950"/>
            <a:ext cx="1099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Scan nyata 1813 • bayangan DIGITAL simulasi</a:t>
            </a:r>
          </a:p>
        </p:txBody>
      </p:sp>
    </p:spTree>
    <p:extLst>
      <p:ext uri="{BB962C8B-B14F-4D97-AF65-F5344CB8AC3E}">
        <p14:creationId xmlns:p14="http://schemas.microsoft.com/office/powerpoint/2010/main" val="631400418"/>
      </p:ext>
    </p:extLst>
  </p:cSld>
</p:sld>
</file>

<file path=ppt/slides/slide10.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0132BB-998B-4FD6-9C4B-2AC31C9BB5CE}"/>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Ambang lokal pada pencahayaan tidak merata</a:t>
            </a:r>
          </a:p>
        </p:txBody>
      </p:sp>
      <p:sp>
        <p:nvSpPr>
          <p:cNvPr id="2" name="">
            <a:extLst xmlns:a="http://schemas.openxmlformats.org/drawingml/2006/main">
              <a:ext uri="{FF2B5EF4-FFF2-40B4-BE49-F238E27FC236}">
                <a16:creationId xmlns:a16="http://schemas.microsoft.com/office/drawing/2014/main" id="{FDDDC13A-7FF6-429E-8AF8-7E2519720C44}"/>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d979cb7365d4653"/>
          <a:stretch xmlns:a="http://schemas.openxmlformats.org/drawingml/2006/main"/>
        </p:blipFill>
        <p:spPr>
          <a:xfrm xmlns:a="http://schemas.openxmlformats.org/drawingml/2006/main">
            <a:off x="476250" y="1406100"/>
            <a:ext cx="11239500" cy="3188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4B2DD1-CFCD-4C98-BDEB-F0A7B3C35027}"/>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T(x,y) dihitung dari lingkungan piksel.</a:t>
            </a:r>
          </a:p>
        </p:txBody>
      </p:sp>
      <p:sp>
        <p:nvSpPr>
          <p:cNvPr id="5" name="">
            <a:extLst xmlns:a="http://schemas.openxmlformats.org/drawingml/2006/main">
              <a:ext uri="{FF2B5EF4-FFF2-40B4-BE49-F238E27FC236}">
                <a16:creationId xmlns:a16="http://schemas.microsoft.com/office/drawing/2014/main" id="{712C16E7-DFD2-4EA8-AC20-63E2F98AB69B}"/>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Wilayah terang dan gelap mendapat ambang berbeda.</a:t>
            </a:r>
          </a:p>
        </p:txBody>
      </p:sp>
      <p:sp>
        <p:nvSpPr>
          <p:cNvPr id="6" name="">
            <a:extLst xmlns:a="http://schemas.openxmlformats.org/drawingml/2006/main">
              <a:ext uri="{FF2B5EF4-FFF2-40B4-BE49-F238E27FC236}">
                <a16:creationId xmlns:a16="http://schemas.microsoft.com/office/drawing/2014/main" id="{614A75E3-FB78-4CFC-830C-BE7A4AFB068F}"/>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Ukuran lingkungan menjadi bagian keputusan metode.</a:t>
            </a:r>
          </a:p>
        </p:txBody>
      </p:sp>
    </p:spTree>
    <p:extLst>
      <p:ext uri="{BB962C8B-B14F-4D97-AF65-F5344CB8AC3E}">
        <p14:creationId xmlns:p14="http://schemas.microsoft.com/office/powerpoint/2010/main" val="1127965973"/>
      </p:ext>
    </p:extLst>
  </p:cSld>
</p:sld>
</file>

<file path=ppt/slides/slide11.xml><?xml version="1.0" encoding="utf-8"?>
<p:sld xmlns:p="http://schemas.openxmlformats.org/presentationml/2006/main">
  <p:cSld>
    <p:bg>
      <p:bgPr>
        <a:solidFill xmlns:a="http://schemas.openxmlformats.org/drawingml/2006/main">
          <a:srgbClr val="EEE9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23DEC8-04C7-4B56-B32F-19551EDD1175}"/>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Adaptive Mean dan Gaussian</a:t>
            </a:r>
          </a:p>
        </p:txBody>
      </p:sp>
      <p:sp>
        <p:nvSpPr>
          <p:cNvPr id="2" name="">
            <a:extLst xmlns:a="http://schemas.openxmlformats.org/drawingml/2006/main">
              <a:ext uri="{FF2B5EF4-FFF2-40B4-BE49-F238E27FC236}">
                <a16:creationId xmlns:a16="http://schemas.microsoft.com/office/drawing/2014/main" id="{7203BE20-0B99-4DFC-B580-4C50BE260743}"/>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713B7B6-CFF8-4BFE-82AC-A8C00382F6E3}"/>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Mean: semua piksel lingkungan berbobot sama.</a:t>
            </a:r>
          </a:p>
        </p:txBody>
      </p:sp>
      <p:graphicFrame>
        <p:nvGraphicFramePr>
          <p:cNvPr id="9" name=""/>
          <p:cNvGraphicFramePr/>
          <p:nvPr/>
        </p:nvGraphicFramePr>
        <p:xfrm>
          <a:off xmlns:a="http://schemas.openxmlformats.org/drawingml/2006/main" x="619125" y="2190750"/>
          <a:ext xmlns:a="http://schemas.openxmlformats.org/drawingml/2006/main" cx="10934700" cy="1809750"/>
        </p:xfrm>
        <a:graphic xmlns:a="http://schemas.openxmlformats.org/drawingml/2006/main">
          <a:graphicData uri="http://schemas.openxmlformats.org/drawingml/2006/table">
            <a:tbl>
              <a:tblPr firstRow="1" bandRow="0"/>
              <a:tblGrid>
                <a:gridCol w="3644900"/>
                <a:gridCol w="3644900"/>
                <a:gridCol w="3644900"/>
              </a:tblGrid>
              <a:tr h="603250">
                <a:tc>
                  <a:txBody>
                    <a:bodyPr/>
                    <a:lstStyle/>
                    <a:p>
                      <a:pPr algn="ctr"/>
                      <a:r>
                        <a:rPr sz="1875" b="1">
                          <a:solidFill>
                            <a:srgbClr val="FFFFFF"/>
                          </a:solidFill>
                          <a:latin typeface="Arial"/>
                          <a:ea typeface="Arial"/>
                          <a:cs typeface="Arial"/>
                        </a:rPr>
                        <a:t>Metode</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Statistik lokal</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Ambang</a:t>
                      </a:r>
                    </a:p>
                  </a:txBody>
                  <a:tcPr marL="91440" marR="91440" marT="45720" marB="45720" anchor="ctr">
                    <a:solidFill>
                      <a:srgbClr val="10204B"/>
                    </a:solidFill>
                  </a:tcPr>
                </a:tc>
              </a:tr>
              <a:tr h="603250">
                <a:tc>
                  <a:txBody>
                    <a:bodyPr/>
                    <a:lstStyle/>
                    <a:p>
                      <a:pPr algn="ctr"/>
                      <a:r>
                        <a:rPr sz="1875" b="0">
                          <a:solidFill>
                            <a:srgbClr val="142443"/>
                          </a:solidFill>
                          <a:latin typeface="Arial"/>
                          <a:ea typeface="Arial"/>
                          <a:cs typeface="Arial"/>
                        </a:rPr>
                        <a:t>Mean</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Rata-rata biasa</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mean − C</a:t>
                      </a:r>
                    </a:p>
                  </a:txBody>
                  <a:tcPr marL="91440" marR="91440" marT="45720" marB="45720" anchor="ctr">
                    <a:solidFill>
                      <a:srgbClr val="FFFFFF"/>
                    </a:solidFill>
                  </a:tcPr>
                </a:tc>
              </a:tr>
              <a:tr h="603250">
                <a:tc>
                  <a:txBody>
                    <a:bodyPr/>
                    <a:lstStyle/>
                    <a:p>
                      <a:pPr algn="ctr"/>
                      <a:r>
                        <a:rPr sz="1875" b="0">
                          <a:solidFill>
                            <a:srgbClr val="142443"/>
                          </a:solidFill>
                          <a:latin typeface="Arial"/>
                          <a:ea typeface="Arial"/>
                          <a:cs typeface="Arial"/>
                        </a:rPr>
                        <a:t>Gaussian</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Rata-rata berbobot</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weighted mean − C</a:t>
                      </a:r>
                    </a:p>
                  </a:txBody>
                  <a:tcPr marL="91440" marR="91440" marT="45720" marB="45720" anchor="ctr">
                    <a:solidFill>
                      <a:srgbClr val="F3F7FC"/>
                    </a:solidFill>
                  </a:tcPr>
                </a:tc>
              </a:tr>
            </a:tbl>
          </a:graphicData>
        </a:graphic>
      </p:graphicFrame>
      <p:sp>
        <p:nvSpPr>
          <p:cNvPr id="5" name="">
            <a:extLst xmlns:a="http://schemas.openxmlformats.org/drawingml/2006/main">
              <a:ext uri="{FF2B5EF4-FFF2-40B4-BE49-F238E27FC236}">
                <a16:creationId xmlns:a16="http://schemas.microsoft.com/office/drawing/2014/main" id="{042CEDB9-324D-4976-B28A-AF7E4B5D0B63}"/>
              </a:ext>
            </a:extLst>
          </p:cNvPr>
          <p:cNvSpPr>
            <a:spLocks xmlns:a="http://schemas.openxmlformats.org/drawingml/2006/main" noGrp="1"/>
          </p:cNvSpPr>
          <p:nvPr/>
        </p:nvSpPr>
        <p:spPr>
          <a:xfrm xmlns:a="http://schemas.openxmlformats.org/drawingml/2006/main">
            <a:off x="647700" y="426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Gaussian: piksel dekat pusat memperoleh bobot lebih besar.</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T lokal = statistik lingkungan − C.</a:t>
            </a:r>
          </a:p>
        </p:txBody>
      </p:sp>
    </p:spTree>
    <p:extLst>
      <p:ext uri="{BB962C8B-B14F-4D97-AF65-F5344CB8AC3E}">
        <p14:creationId xmlns:p14="http://schemas.microsoft.com/office/powerpoint/2010/main" val="1527873658"/>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7E285E-166B-4581-A4CF-B77D6ED27181}"/>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blockSize dan C</a:t>
            </a:r>
          </a:p>
        </p:txBody>
      </p:sp>
      <p:sp>
        <p:nvSpPr>
          <p:cNvPr id="2" name="">
            <a:extLst xmlns:a="http://schemas.openxmlformats.org/drawingml/2006/main">
              <a:ext uri="{FF2B5EF4-FFF2-40B4-BE49-F238E27FC236}">
                <a16:creationId xmlns:a16="http://schemas.microsoft.com/office/drawing/2014/main" id="{F80F6594-16A8-4261-A03D-54CEA5BA6941}"/>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560E86C-7FDB-4067-9E3C-D472EE973C80}"/>
              </a:ext>
            </a:extLst>
          </p:cNvPr>
          <p:cNvSpPr>
            <a:spLocks xmlns:a="http://schemas.openxmlformats.org/drawingml/2006/main" noGrp="1"/>
          </p:cNvSpPr>
          <p:nvPr/>
        </p:nvSpPr>
        <p:spPr>
          <a:xfrm xmlns:a="http://schemas.openxmlformats.org/drawingml/2006/main">
            <a:off x="666750" y="16192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1">
                <a:solidFill>
                  <a:srgbClr val="142443"/>
                </a:solidFill>
                <a:latin typeface="Arial"/>
                <a:ea typeface="Arial"/>
                <a:cs typeface="Arial"/>
              </a:defRPr>
            </a:pPr>
            <a:r>
              <a:rPr sz="2625" b="1">
                <a:solidFill>
                  <a:srgbClr val="142443"/>
                </a:solidFill>
                <a:latin typeface="Arial"/>
                <a:ea typeface="Arial"/>
                <a:cs typeface="Arial"/>
              </a:rPr>
              <a:t>blockSize harus ganjil dan lebih besar dari 1.</a:t>
            </a:r>
          </a:p>
        </p:txBody>
      </p:sp>
      <p:sp>
        <p:nvSpPr>
          <p:cNvPr id="4" name="">
            <a:extLst xmlns:a="http://schemas.openxmlformats.org/drawingml/2006/main">
              <a:ext uri="{FF2B5EF4-FFF2-40B4-BE49-F238E27FC236}">
                <a16:creationId xmlns:a16="http://schemas.microsoft.com/office/drawing/2014/main" id="{E2234DBD-6685-4CFE-90E2-EE40E29B987A}"/>
              </a:ext>
            </a:extLst>
          </p:cNvPr>
          <p:cNvSpPr>
            <a:spLocks xmlns:a="http://schemas.openxmlformats.org/drawingml/2006/main" noGrp="1"/>
          </p:cNvSpPr>
          <p:nvPr/>
        </p:nvSpPr>
        <p:spPr>
          <a:xfrm xmlns:a="http://schemas.openxmlformats.org/drawingml/2006/main">
            <a:off x="666750" y="285750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Jendela perlu mempertimbangkan goresan serta skala bayangan.</a:t>
            </a:r>
          </a:p>
        </p:txBody>
      </p:sp>
      <p:sp>
        <p:nvSpPr>
          <p:cNvPr id="5" name="">
            <a:extLst xmlns:a="http://schemas.openxmlformats.org/drawingml/2006/main">
              <a:ext uri="{FF2B5EF4-FFF2-40B4-BE49-F238E27FC236}">
                <a16:creationId xmlns:a16="http://schemas.microsoft.com/office/drawing/2014/main" id="{F28C5291-B115-4270-8C7A-DA6EB149EE25}"/>
              </a:ext>
            </a:extLst>
          </p:cNvPr>
          <p:cNvSpPr>
            <a:spLocks xmlns:a="http://schemas.openxmlformats.org/drawingml/2006/main" noGrp="1"/>
          </p:cNvSpPr>
          <p:nvPr/>
        </p:nvSpPr>
        <p:spPr>
          <a:xfrm xmlns:a="http://schemas.openxmlformats.org/drawingml/2006/main">
            <a:off x="666750" y="40957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Ubah satu parameter untuk membaca sebab dan akibat.</a:t>
            </a:r>
          </a:p>
        </p:txBody>
      </p:sp>
    </p:spTree>
    <p:extLst>
      <p:ext uri="{BB962C8B-B14F-4D97-AF65-F5344CB8AC3E}">
        <p14:creationId xmlns:p14="http://schemas.microsoft.com/office/powerpoint/2010/main" val="541737584"/>
      </p:ext>
    </p:extLst>
  </p:cSld>
</p:sld>
</file>

<file path=ppt/slides/slide13.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C2F0CA-1CF8-4B4C-AF04-8E152D67919C}"/>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Dampak C dan polarity</a:t>
            </a:r>
          </a:p>
        </p:txBody>
      </p:sp>
      <p:sp>
        <p:nvSpPr>
          <p:cNvPr id="2" name="">
            <a:extLst xmlns:a="http://schemas.openxmlformats.org/drawingml/2006/main">
              <a:ext uri="{FF2B5EF4-FFF2-40B4-BE49-F238E27FC236}">
                <a16:creationId xmlns:a16="http://schemas.microsoft.com/office/drawing/2014/main" id="{4A2E732B-B9B3-43B1-AC3D-BE8E839A6944}"/>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8BF59FCC-6A2B-4C76-8CE9-FDF7FBCBA28B}"/>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C naik → ambang lokal turun.</a:t>
            </a:r>
          </a:p>
        </p:txBody>
      </p:sp>
      <p:graphicFrame>
        <p:nvGraphicFramePr>
          <p:cNvPr id="9" name=""/>
          <p:cNvGraphicFramePr/>
          <p:nvPr/>
        </p:nvGraphicFramePr>
        <p:xfrm>
          <a:off xmlns:a="http://schemas.openxmlformats.org/drawingml/2006/main" x="619125" y="2190750"/>
          <a:ext xmlns:a="http://schemas.openxmlformats.org/drawingml/2006/main" cx="10934700" cy="1809750"/>
        </p:xfrm>
        <a:graphic xmlns:a="http://schemas.openxmlformats.org/drawingml/2006/main">
          <a:graphicData uri="http://schemas.openxmlformats.org/drawingml/2006/table">
            <a:tbl>
              <a:tblPr firstRow="1" bandRow="0"/>
              <a:tblGrid>
                <a:gridCol w="2733675"/>
                <a:gridCol w="2733675"/>
                <a:gridCol w="2733675"/>
                <a:gridCol w="2733675"/>
              </a:tblGrid>
              <a:tr h="603250">
                <a:tc>
                  <a:txBody>
                    <a:bodyPr/>
                    <a:lstStyle/>
                    <a:p>
                      <a:pPr algn="ctr"/>
                      <a:r>
                        <a:rPr sz="1875" b="1">
                          <a:solidFill>
                            <a:srgbClr val="FFFFFF"/>
                          </a:solidFill>
                          <a:latin typeface="Arial"/>
                          <a:ea typeface="Arial"/>
                          <a:cs typeface="Arial"/>
                        </a:rPr>
                        <a:t>C</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Rata-rata</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T lokal</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I=170, BINARY</a:t>
                      </a:r>
                    </a:p>
                  </a:txBody>
                  <a:tcPr marL="91440" marR="91440" marT="45720" marB="45720" anchor="ctr">
                    <a:solidFill>
                      <a:srgbClr val="10204B"/>
                    </a:solidFill>
                  </a:tcPr>
                </a:tc>
              </a:tr>
              <a:tr h="603250">
                <a:tc>
                  <a:txBody>
                    <a:bodyPr/>
                    <a:lstStyle/>
                    <a:p>
                      <a:pPr algn="ctr"/>
                      <a:r>
                        <a:rPr sz="1875" b="0">
                          <a:solidFill>
                            <a:srgbClr val="142443"/>
                          </a:solidFill>
                          <a:latin typeface="Arial"/>
                          <a:ea typeface="Arial"/>
                          <a:cs typeface="Arial"/>
                        </a:rPr>
                        <a:t>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180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175</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0 / hitam</a:t>
                      </a:r>
                    </a:p>
                  </a:txBody>
                  <a:tcPr marL="91440" marR="91440" marT="45720" marB="45720" anchor="ctr">
                    <a:solidFill>
                      <a:srgbClr val="FFFFFF"/>
                    </a:solidFill>
                  </a:tcPr>
                </a:tc>
              </a:tr>
              <a:tr h="603250">
                <a:tc>
                  <a:txBody>
                    <a:bodyPr/>
                    <a:lstStyle/>
                    <a:p>
                      <a:pPr algn="ctr"/>
                      <a:r>
                        <a:rPr sz="1875" b="0">
                          <a:solidFill>
                            <a:srgbClr val="142443"/>
                          </a:solidFill>
                          <a:latin typeface="Arial"/>
                          <a:ea typeface="Arial"/>
                          <a:cs typeface="Arial"/>
                        </a:rPr>
                        <a:t>15</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180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165</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255 / putih</a:t>
                      </a:r>
                    </a:p>
                  </a:txBody>
                  <a:tcPr marL="91440" marR="91440" marT="45720" marB="45720" anchor="ctr">
                    <a:solidFill>
                      <a:srgbClr val="F3F7FC"/>
                    </a:solidFill>
                  </a:tcPr>
                </a:tc>
              </a:tr>
            </a:tbl>
          </a:graphicData>
        </a:graphic>
      </p:graphicFrame>
      <p:sp>
        <p:nvSpPr>
          <p:cNvPr id="5" name="">
            <a:extLst xmlns:a="http://schemas.openxmlformats.org/drawingml/2006/main">
              <a:ext uri="{FF2B5EF4-FFF2-40B4-BE49-F238E27FC236}">
                <a16:creationId xmlns:a16="http://schemas.microsoft.com/office/drawing/2014/main" id="{50E68D8B-1EF2-486B-B7E0-6D72F9B7E4AF}"/>
              </a:ext>
            </a:extLst>
          </p:cNvPr>
          <p:cNvSpPr>
            <a:spLocks xmlns:a="http://schemas.openxmlformats.org/drawingml/2006/main" noGrp="1"/>
          </p:cNvSpPr>
          <p:nvPr/>
        </p:nvSpPr>
        <p:spPr>
          <a:xfrm xmlns:a="http://schemas.openxmlformats.org/drawingml/2006/main">
            <a:off x="647700" y="426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Pada BINARY, lebih banyak piksel dapat menjadi putih.</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Pada BINARY_INV, makna foreground harus dibaca kembali.</a:t>
            </a:r>
          </a:p>
        </p:txBody>
      </p:sp>
    </p:spTree>
    <p:extLst>
      <p:ext uri="{BB962C8B-B14F-4D97-AF65-F5344CB8AC3E}">
        <p14:creationId xmlns:p14="http://schemas.microsoft.com/office/powerpoint/2010/main" val="705513122"/>
      </p:ext>
    </p:extLst>
  </p:cSld>
</p:sld>
</file>

<file path=ppt/slides/slide14.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D9CC24-2E58-4B6B-96ED-6ACA78A295C3}"/>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Perbandingan dokumen pada ROI sama</a:t>
            </a:r>
          </a:p>
        </p:txBody>
      </p:sp>
      <p:sp>
        <p:nvSpPr>
          <p:cNvPr id="2" name="">
            <a:extLst xmlns:a="http://schemas.openxmlformats.org/drawingml/2006/main">
              <a:ext uri="{FF2B5EF4-FFF2-40B4-BE49-F238E27FC236}">
                <a16:creationId xmlns:a16="http://schemas.microsoft.com/office/drawing/2014/main" id="{CD0901B8-0699-405F-9FC1-8ADECE1B0FB6}"/>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6cb79af38d47fc"/>
          <a:stretch xmlns:a="http://schemas.openxmlformats.org/drawingml/2006/main"/>
        </p:blipFill>
        <p:spPr>
          <a:xfrm xmlns:a="http://schemas.openxmlformats.org/drawingml/2006/main">
            <a:off x="3012246" y="1285875"/>
            <a:ext cx="6167507"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2AFBF9-D210-4CDF-9AE4-9A24141A4FC9}"/>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Input, resize, dan ROI dibuat identik.</a:t>
            </a:r>
          </a:p>
        </p:txBody>
      </p:sp>
      <p:sp>
        <p:nvSpPr>
          <p:cNvPr id="5" name="">
            <a:extLst xmlns:a="http://schemas.openxmlformats.org/drawingml/2006/main">
              <a:ext uri="{FF2B5EF4-FFF2-40B4-BE49-F238E27FC236}">
                <a16:creationId xmlns:a16="http://schemas.microsoft.com/office/drawing/2014/main" id="{C0EAD2F6-59A6-4575-9725-FC510359BFD0}"/>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Periksa goresan tipis, latar, serta piksel pengganggu.</a:t>
            </a:r>
          </a:p>
        </p:txBody>
      </p:sp>
      <p:sp>
        <p:nvSpPr>
          <p:cNvPr id="6" name="">
            <a:extLst xmlns:a="http://schemas.openxmlformats.org/drawingml/2006/main">
              <a:ext uri="{FF2B5EF4-FFF2-40B4-BE49-F238E27FC236}">
                <a16:creationId xmlns:a16="http://schemas.microsoft.com/office/drawing/2014/main" id="{F1882A9C-179B-447E-B106-6FB4E648A045}"/>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Tanpa mask referensi, penilaian ini inspeksi visual.</a:t>
            </a:r>
          </a:p>
        </p:txBody>
      </p:sp>
      <p:sp>
        <p:nvSpPr>
          <p:cNvPr id="7" name="">
            <a:extLst xmlns:a="http://schemas.openxmlformats.org/drawingml/2006/main">
              <a:ext uri="{FF2B5EF4-FFF2-40B4-BE49-F238E27FC236}">
                <a16:creationId xmlns:a16="http://schemas.microsoft.com/office/drawing/2014/main" id="{25E34A74-0BAE-4F7A-AB95-2EA9BD30336E}"/>
              </a:ext>
            </a:extLst>
          </p:cNvPr>
          <p:cNvSpPr>
            <a:spLocks xmlns:a="http://schemas.openxmlformats.org/drawingml/2006/main" noGrp="1"/>
          </p:cNvSpPr>
          <p:nvPr/>
        </p:nvSpPr>
        <p:spPr>
          <a:xfrm xmlns:a="http://schemas.openxmlformats.org/drawingml/2006/main">
            <a:off x="581025" y="6457950"/>
            <a:ext cx="1099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Input/ROI identik • inspeksi visual tanpa mask referensi</a:t>
            </a:r>
          </a:p>
        </p:txBody>
      </p:sp>
    </p:spTree>
    <p:extLst>
      <p:ext uri="{BB962C8B-B14F-4D97-AF65-F5344CB8AC3E}">
        <p14:creationId xmlns:p14="http://schemas.microsoft.com/office/powerpoint/2010/main" val="2022737380"/>
      </p:ext>
    </p:extLst>
  </p:cSld>
</p:sld>
</file>

<file path=ppt/slides/slide15.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E99C8F-13D6-4A79-A8B8-735EC46BB95E}"/>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Warna BGR dan ruang HSV</a:t>
            </a:r>
          </a:p>
        </p:txBody>
      </p:sp>
      <p:sp>
        <p:nvSpPr>
          <p:cNvPr id="2" name="">
            <a:extLst xmlns:a="http://schemas.openxmlformats.org/drawingml/2006/main">
              <a:ext uri="{FF2B5EF4-FFF2-40B4-BE49-F238E27FC236}">
                <a16:creationId xmlns:a16="http://schemas.microsoft.com/office/drawing/2014/main" id="{D1B05427-C253-4DD1-AF0D-A64382CD03AF}"/>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1D1B708F-E763-4DB7-BCF6-42E07AD566F6}"/>
              </a:ext>
            </a:extLst>
          </p:cNvPr>
          <p:cNvSpPr>
            <a:spLocks xmlns:a="http://schemas.openxmlformats.org/drawingml/2006/main" noGrp="1"/>
          </p:cNvSpPr>
          <p:nvPr/>
        </p:nvSpPr>
        <p:spPr>
          <a:xfrm xmlns:a="http://schemas.openxmlformats.org/drawingml/2006/main">
            <a:off x="666750" y="16192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1">
                <a:solidFill>
                  <a:srgbClr val="142443"/>
                </a:solidFill>
                <a:latin typeface="Arial"/>
                <a:ea typeface="Arial"/>
                <a:cs typeface="Arial"/>
              </a:defRPr>
            </a:pPr>
            <a:r>
              <a:rPr sz="2625" b="1">
                <a:solidFill>
                  <a:srgbClr val="142443"/>
                </a:solidFill>
                <a:latin typeface="Arial"/>
                <a:ea typeface="Arial"/>
                <a:cs typeface="Arial"/>
              </a:rPr>
              <a:t>Loader OpenCV memakai BGR.</a:t>
            </a:r>
          </a:p>
        </p:txBody>
      </p:sp>
      <p:sp>
        <p:nvSpPr>
          <p:cNvPr id="4" name="">
            <a:extLst xmlns:a="http://schemas.openxmlformats.org/drawingml/2006/main">
              <a:ext uri="{FF2B5EF4-FFF2-40B4-BE49-F238E27FC236}">
                <a16:creationId xmlns:a16="http://schemas.microsoft.com/office/drawing/2014/main" id="{8CC24898-D908-45A3-8435-21C4D9404C82}"/>
              </a:ext>
            </a:extLst>
          </p:cNvPr>
          <p:cNvSpPr>
            <a:spLocks xmlns:a="http://schemas.openxmlformats.org/drawingml/2006/main" noGrp="1"/>
          </p:cNvSpPr>
          <p:nvPr/>
        </p:nvSpPr>
        <p:spPr>
          <a:xfrm xmlns:a="http://schemas.openxmlformats.org/drawingml/2006/main">
            <a:off x="666750" y="285750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Konversi: cv2.COLOR_BGR2HSV.</a:t>
            </a:r>
          </a:p>
        </p:txBody>
      </p:sp>
      <p:sp>
        <p:nvSpPr>
          <p:cNvPr id="5" name="">
            <a:extLst xmlns:a="http://schemas.openxmlformats.org/drawingml/2006/main">
              <a:ext uri="{FF2B5EF4-FFF2-40B4-BE49-F238E27FC236}">
                <a16:creationId xmlns:a16="http://schemas.microsoft.com/office/drawing/2014/main" id="{1A3F5D21-39DF-401B-AE59-947A9D95980F}"/>
              </a:ext>
            </a:extLst>
          </p:cNvPr>
          <p:cNvSpPr>
            <a:spLocks xmlns:a="http://schemas.openxmlformats.org/drawingml/2006/main" noGrp="1"/>
          </p:cNvSpPr>
          <p:nvPr/>
        </p:nvSpPr>
        <p:spPr>
          <a:xfrm xmlns:a="http://schemas.openxmlformats.org/drawingml/2006/main">
            <a:off x="666750" y="40957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HSV uint8: H 0..179; S/V 0..255.</a:t>
            </a:r>
          </a:p>
        </p:txBody>
      </p:sp>
    </p:spTree>
    <p:extLst>
      <p:ext uri="{BB962C8B-B14F-4D97-AF65-F5344CB8AC3E}">
        <p14:creationId xmlns:p14="http://schemas.microsoft.com/office/powerpoint/2010/main" val="1953292876"/>
      </p:ext>
    </p:extLst>
  </p:cSld>
</p:sld>
</file>

<file path=ppt/slides/slide16.xml><?xml version="1.0" encoding="utf-8"?>
<p:sld xmlns:p="http://schemas.openxmlformats.org/presentationml/2006/main">
  <p:cSld>
    <p:bg>
      <p:bgPr>
        <a:solidFill xmlns:a="http://schemas.openxmlformats.org/drawingml/2006/main">
          <a:srgbClr val="EEE9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17B5D4-DE73-46D7-AB92-FDFEE0681E07}"/>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Hue melingkar dan dua rentang merah</a:t>
            </a:r>
          </a:p>
        </p:txBody>
      </p:sp>
      <p:sp>
        <p:nvSpPr>
          <p:cNvPr id="2" name="">
            <a:extLst xmlns:a="http://schemas.openxmlformats.org/drawingml/2006/main">
              <a:ext uri="{FF2B5EF4-FFF2-40B4-BE49-F238E27FC236}">
                <a16:creationId xmlns:a16="http://schemas.microsoft.com/office/drawing/2014/main" id="{62BEA2DB-525B-4DB4-B12B-69420CAAE642}"/>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B92DD834-009B-4DBD-AAC5-282CFD6AB7A9}"/>
              </a:ext>
            </a:extLst>
          </p:cNvPr>
          <p:cNvSpPr>
            <a:spLocks xmlns:a="http://schemas.openxmlformats.org/drawingml/2006/main" noGrp="1"/>
          </p:cNvSpPr>
          <p:nvPr/>
        </p:nvSpPr>
        <p:spPr>
          <a:xfrm xmlns:a="http://schemas.openxmlformats.org/drawingml/2006/main">
            <a:off x="666750" y="16192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1">
                <a:solidFill>
                  <a:srgbClr val="142443"/>
                </a:solidFill>
                <a:latin typeface="Arial"/>
                <a:ea typeface="Arial"/>
                <a:cs typeface="Arial"/>
              </a:defRPr>
            </a:pPr>
            <a:r>
              <a:rPr sz="2625" b="1">
                <a:solidFill>
                  <a:srgbClr val="142443"/>
                </a:solidFill>
                <a:latin typeface="Arial"/>
                <a:ea typeface="Arial"/>
                <a:cs typeface="Arial"/>
              </a:rPr>
              <a:t>Merah berada di dekat kedua ujung skala Hue.</a:t>
            </a:r>
          </a:p>
        </p:txBody>
      </p:sp>
      <p:sp>
        <p:nvSpPr>
          <p:cNvPr id="4" name="">
            <a:extLst xmlns:a="http://schemas.openxmlformats.org/drawingml/2006/main">
              <a:ext uri="{FF2B5EF4-FFF2-40B4-BE49-F238E27FC236}">
                <a16:creationId xmlns:a16="http://schemas.microsoft.com/office/drawing/2014/main" id="{4B8EC1A3-4352-49A8-BEA6-2C2D5FE3D5A0}"/>
              </a:ext>
            </a:extLst>
          </p:cNvPr>
          <p:cNvSpPr>
            <a:spLocks xmlns:a="http://schemas.openxmlformats.org/drawingml/2006/main" noGrp="1"/>
          </p:cNvSpPr>
          <p:nvPr/>
        </p:nvSpPr>
        <p:spPr>
          <a:xfrm xmlns:a="http://schemas.openxmlformats.org/drawingml/2006/main">
            <a:off x="666750" y="285750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Mask merah = interval rendah OR interval tinggi.</a:t>
            </a:r>
          </a:p>
        </p:txBody>
      </p:sp>
      <p:sp>
        <p:nvSpPr>
          <p:cNvPr id="5" name="">
            <a:extLst xmlns:a="http://schemas.openxmlformats.org/drawingml/2006/main">
              <a:ext uri="{FF2B5EF4-FFF2-40B4-BE49-F238E27FC236}">
                <a16:creationId xmlns:a16="http://schemas.microsoft.com/office/drawing/2014/main" id="{53FEE40A-1CB8-4CCA-ABC9-2F387A42ED26}"/>
              </a:ext>
            </a:extLst>
          </p:cNvPr>
          <p:cNvSpPr>
            <a:spLocks xmlns:a="http://schemas.openxmlformats.org/drawingml/2006/main" noGrp="1"/>
          </p:cNvSpPr>
          <p:nvPr/>
        </p:nvSpPr>
        <p:spPr>
          <a:xfrm xmlns:a="http://schemas.openxmlformats.org/drawingml/2006/main">
            <a:off x="666750" y="40957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Batas akhir H uint8 standar adalah 179.</a:t>
            </a:r>
          </a:p>
        </p:txBody>
      </p:sp>
    </p:spTree>
    <p:extLst>
      <p:ext uri="{BB962C8B-B14F-4D97-AF65-F5344CB8AC3E}">
        <p14:creationId xmlns:p14="http://schemas.microsoft.com/office/powerpoint/2010/main" val="1440732919"/>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917D50-BCAE-4D22-9CB6-C62B9B701DBD}"/>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S/V, sorotan, dan piksel pengganggu</a:t>
            </a:r>
          </a:p>
        </p:txBody>
      </p:sp>
      <p:sp>
        <p:nvSpPr>
          <p:cNvPr id="2" name="">
            <a:extLst xmlns:a="http://schemas.openxmlformats.org/drawingml/2006/main">
              <a:ext uri="{FF2B5EF4-FFF2-40B4-BE49-F238E27FC236}">
                <a16:creationId xmlns:a16="http://schemas.microsoft.com/office/drawing/2014/main" id="{5870C45F-7046-40E0-8500-5E037714D314}"/>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5ff2d65bd6c4ee1"/>
          <a:stretch xmlns:a="http://schemas.openxmlformats.org/drawingml/2006/main"/>
        </p:blipFill>
        <p:spPr>
          <a:xfrm xmlns:a="http://schemas.openxmlformats.org/drawingml/2006/main">
            <a:off x="476250" y="1362278"/>
            <a:ext cx="11239500" cy="327619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042339F-7CF2-4EA0-B1EE-E369952E368E}"/>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S rendah: warna kurang tegas; Hue kurang informatif.</a:t>
            </a:r>
          </a:p>
        </p:txBody>
      </p:sp>
      <p:sp>
        <p:nvSpPr>
          <p:cNvPr id="5" name="">
            <a:extLst xmlns:a="http://schemas.openxmlformats.org/drawingml/2006/main">
              <a:ext uri="{FF2B5EF4-FFF2-40B4-BE49-F238E27FC236}">
                <a16:creationId xmlns:a16="http://schemas.microsoft.com/office/drawing/2014/main" id="{2766C8AD-FB39-413E-9359-DFD57CB10872}"/>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V rendah: bagian sangat gelap dapat sulit dibedakan.</a:t>
            </a:r>
          </a:p>
        </p:txBody>
      </p:sp>
      <p:sp>
        <p:nvSpPr>
          <p:cNvPr id="6" name="">
            <a:extLst xmlns:a="http://schemas.openxmlformats.org/drawingml/2006/main">
              <a:ext uri="{FF2B5EF4-FFF2-40B4-BE49-F238E27FC236}">
                <a16:creationId xmlns:a16="http://schemas.microsoft.com/office/drawing/2014/main" id="{E652E630-F1A1-4EDC-B498-F38D6CE7AE3A}"/>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Sorotan putih dapat menjadi lubang pada mask warna.</a:t>
            </a:r>
          </a:p>
        </p:txBody>
      </p:sp>
    </p:spTree>
    <p:extLst>
      <p:ext uri="{BB962C8B-B14F-4D97-AF65-F5344CB8AC3E}">
        <p14:creationId xmlns:p14="http://schemas.microsoft.com/office/powerpoint/2010/main" val="402255472"/>
      </p:ext>
    </p:extLst>
  </p:cSld>
</p:sld>
</file>

<file path=ppt/slides/slide18.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401B1B-5B47-4B7C-9F08-905660A2B1D1}"/>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Seleksi warna dan asumsi label buah</a:t>
            </a:r>
          </a:p>
        </p:txBody>
      </p:sp>
      <p:sp>
        <p:nvSpPr>
          <p:cNvPr id="2" name="">
            <a:extLst xmlns:a="http://schemas.openxmlformats.org/drawingml/2006/main">
              <a:ext uri="{FF2B5EF4-FFF2-40B4-BE49-F238E27FC236}">
                <a16:creationId xmlns:a16="http://schemas.microsoft.com/office/drawing/2014/main" id="{A94DB350-8F44-4E45-86A0-C03ED0F0C751}"/>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8e84c518ab44e73"/>
          <a:stretch xmlns:a="http://schemas.openxmlformats.org/drawingml/2006/main"/>
        </p:blipFill>
        <p:spPr>
          <a:xfrm xmlns:a="http://schemas.openxmlformats.org/drawingml/2006/main">
            <a:off x="3031527" y="1285875"/>
            <a:ext cx="6128945"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F255A4E-9776-4FF9-A1CD-406C86E9A755}"/>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Mask memilih piksel, bukan mengenali makna benda.</a:t>
            </a:r>
          </a:p>
        </p:txBody>
      </p:sp>
      <p:sp>
        <p:nvSpPr>
          <p:cNvPr id="5" name="">
            <a:extLst xmlns:a="http://schemas.openxmlformats.org/drawingml/2006/main">
              <a:ext uri="{FF2B5EF4-FFF2-40B4-BE49-F238E27FC236}">
                <a16:creationId xmlns:a16="http://schemas.microsoft.com/office/drawing/2014/main" id="{A7F5CE19-9352-43E1-887F-3C67019FC17B}"/>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Foto apel merah/oranye menjadi contoh terkontrol.</a:t>
            </a:r>
          </a:p>
        </p:txBody>
      </p:sp>
      <p:sp>
        <p:nvSpPr>
          <p:cNvPr id="6" name="">
            <a:extLst xmlns:a="http://schemas.openxmlformats.org/drawingml/2006/main">
              <a:ext uri="{FF2B5EF4-FFF2-40B4-BE49-F238E27FC236}">
                <a16:creationId xmlns:a16="http://schemas.microsoft.com/office/drawing/2014/main" id="{DEBCF639-E601-4B1E-A33E-F83CF18D8A70}"/>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Bounding box tidak menghasilkan confidence klasifikasi.</a:t>
            </a:r>
          </a:p>
        </p:txBody>
      </p:sp>
      <p:sp>
        <p:nvSpPr>
          <p:cNvPr id="7" name="">
            <a:extLst xmlns:a="http://schemas.openxmlformats.org/drawingml/2006/main">
              <a:ext uri="{FF2B5EF4-FFF2-40B4-BE49-F238E27FC236}">
                <a16:creationId xmlns:a16="http://schemas.microsoft.com/office/drawing/2014/main" id="{A1236118-18E8-455D-BD91-3FE0F85FBE0D}"/>
              </a:ext>
            </a:extLst>
          </p:cNvPr>
          <p:cNvSpPr>
            <a:spLocks xmlns:a="http://schemas.openxmlformats.org/drawingml/2006/main" noGrp="1"/>
          </p:cNvSpPr>
          <p:nvPr/>
        </p:nvSpPr>
        <p:spPr>
          <a:xfrm xmlns:a="http://schemas.openxmlformats.org/drawingml/2006/main">
            <a:off x="581025" y="6457950"/>
            <a:ext cx="1099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Dua foto nyata • komposisi DIGITAL • seleksi warna</a:t>
            </a:r>
          </a:p>
        </p:txBody>
      </p:sp>
    </p:spTree>
    <p:extLst>
      <p:ext uri="{BB962C8B-B14F-4D97-AF65-F5344CB8AC3E}">
        <p14:creationId xmlns:p14="http://schemas.microsoft.com/office/powerpoint/2010/main" val="223627166"/>
      </p:ext>
    </p:extLst>
  </p:cSld>
</p:sld>
</file>

<file path=ppt/slides/slide19.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8E4147-2441-461D-9C6E-14373CEF95C5}"/>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Komponen mask dan identitas objek</a:t>
            </a:r>
          </a:p>
        </p:txBody>
      </p:sp>
      <p:sp>
        <p:nvSpPr>
          <p:cNvPr id="2" name="">
            <a:extLst xmlns:a="http://schemas.openxmlformats.org/drawingml/2006/main">
              <a:ext uri="{FF2B5EF4-FFF2-40B4-BE49-F238E27FC236}">
                <a16:creationId xmlns:a16="http://schemas.microsoft.com/office/drawing/2014/main" id="{BDE96341-2C82-42C7-B25D-34436035B826}"/>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19</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5b59c207984d9e"/>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7A0E11-2E39-4703-93A0-4B4C09369D4B}"/>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Komponen terhubung menyatukan piksel yang saling tersambung.</a:t>
            </a:r>
          </a:p>
        </p:txBody>
      </p:sp>
      <p:sp>
        <p:nvSpPr>
          <p:cNvPr id="5" name="">
            <a:extLst xmlns:a="http://schemas.openxmlformats.org/drawingml/2006/main">
              <a:ext uri="{FF2B5EF4-FFF2-40B4-BE49-F238E27FC236}">
                <a16:creationId xmlns:a16="http://schemas.microsoft.com/office/drawing/2014/main" id="{B2E20B54-7DBC-4E96-A610-81845ACC890D}"/>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Dua benda menyentuh dapat menjadi satu komponen.</a:t>
            </a:r>
          </a:p>
        </p:txBody>
      </p:sp>
      <p:sp>
        <p:nvSpPr>
          <p:cNvPr id="6" name="">
            <a:extLst xmlns:a="http://schemas.openxmlformats.org/drawingml/2006/main">
              <a:ext uri="{FF2B5EF4-FFF2-40B4-BE49-F238E27FC236}">
                <a16:creationId xmlns:a16="http://schemas.microsoft.com/office/drawing/2014/main" id="{F37682F0-77EF-40A4-8A0B-F0AA09BC55DC}"/>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Label instance diperlukan untuk identitas terpisah.</a:t>
            </a:r>
          </a:p>
        </p:txBody>
      </p:sp>
    </p:spTree>
    <p:extLst>
      <p:ext uri="{BB962C8B-B14F-4D97-AF65-F5344CB8AC3E}">
        <p14:creationId xmlns:p14="http://schemas.microsoft.com/office/powerpoint/2010/main" val="1601122698"/>
      </p:ext>
    </p:extLst>
  </p:cSld>
</p:sld>
</file>

<file path=ppt/slides/slide20.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5108C4-5C1A-4AE1-A956-04F005051A14}"/>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Objek menyentuh dan oklusi</a:t>
            </a:r>
          </a:p>
        </p:txBody>
      </p:sp>
      <p:sp>
        <p:nvSpPr>
          <p:cNvPr id="2" name="">
            <a:extLst xmlns:a="http://schemas.openxmlformats.org/drawingml/2006/main">
              <a:ext uri="{FF2B5EF4-FFF2-40B4-BE49-F238E27FC236}">
                <a16:creationId xmlns:a16="http://schemas.microsoft.com/office/drawing/2014/main" id="{C6A1FF0D-267F-4648-AC9C-F37F954208BF}"/>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9546f9b847646a7"/>
          <a:stretch xmlns:a="http://schemas.openxmlformats.org/drawingml/2006/main"/>
        </p:blipFill>
        <p:spPr>
          <a:xfrm xmlns:a="http://schemas.openxmlformats.org/drawingml/2006/main">
            <a:off x="695527" y="1304925"/>
            <a:ext cx="3504796"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2535E1-04E9-499F-9624-2C210E16A143}"/>
              </a:ext>
            </a:extLst>
          </p:cNvPr>
          <p:cNvSpPr>
            <a:spLocks xmlns:a="http://schemas.openxmlformats.org/drawingml/2006/main" noGrp="1"/>
          </p:cNvSpPr>
          <p:nvPr/>
        </p:nvSpPr>
        <p:spPr>
          <a:xfrm xmlns:a="http://schemas.openxmlformats.org/drawingml/2006/main">
            <a:off x="4810125" y="1714500"/>
            <a:ext cx="67437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325" b="1">
                <a:solidFill>
                  <a:srgbClr val="142443"/>
                </a:solidFill>
                <a:latin typeface="Arial"/>
                <a:ea typeface="Arial"/>
                <a:cs typeface="Arial"/>
              </a:defRPr>
            </a:pPr>
            <a:r>
              <a:rPr sz="2325" b="1">
                <a:solidFill>
                  <a:srgbClr val="142443"/>
                </a:solidFill>
                <a:latin typeface="Arial"/>
                <a:ea typeface="Arial"/>
                <a:cs typeface="Arial"/>
              </a:rPr>
              <a:t>Menyentuh: batas berdekatan, banyak bentuk masih terlihat.</a:t>
            </a:r>
          </a:p>
        </p:txBody>
      </p:sp>
      <p:sp>
        <p:nvSpPr>
          <p:cNvPr id="5" name="">
            <a:extLst xmlns:a="http://schemas.openxmlformats.org/drawingml/2006/main">
              <a:ext uri="{FF2B5EF4-FFF2-40B4-BE49-F238E27FC236}">
                <a16:creationId xmlns:a16="http://schemas.microsoft.com/office/drawing/2014/main" id="{12CB1DCA-4AF6-467A-855F-B374DA518269}"/>
              </a:ext>
            </a:extLst>
          </p:cNvPr>
          <p:cNvSpPr>
            <a:spLocks xmlns:a="http://schemas.openxmlformats.org/drawingml/2006/main" noGrp="1"/>
          </p:cNvSpPr>
          <p:nvPr/>
        </p:nvSpPr>
        <p:spPr>
          <a:xfrm xmlns:a="http://schemas.openxmlformats.org/drawingml/2006/main">
            <a:off x="4810125" y="3048000"/>
            <a:ext cx="67437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325" b="0">
                <a:solidFill>
                  <a:srgbClr val="142443"/>
                </a:solidFill>
                <a:latin typeface="Arial"/>
                <a:ea typeface="Arial"/>
                <a:cs typeface="Arial"/>
              </a:defRPr>
            </a:pPr>
            <a:r>
              <a:rPr sz="2325" b="0">
                <a:solidFill>
                  <a:srgbClr val="142443"/>
                </a:solidFill>
                <a:latin typeface="Arial"/>
                <a:ea typeface="Arial"/>
                <a:cs typeface="Arial"/>
              </a:rPr>
              <a:t>Oklusi: sebagian benda tertutup benda lain.</a:t>
            </a:r>
          </a:p>
        </p:txBody>
      </p:sp>
      <p:sp>
        <p:nvSpPr>
          <p:cNvPr id="6" name="">
            <a:extLst xmlns:a="http://schemas.openxmlformats.org/drawingml/2006/main">
              <a:ext uri="{FF2B5EF4-FFF2-40B4-BE49-F238E27FC236}">
                <a16:creationId xmlns:a16="http://schemas.microsoft.com/office/drawing/2014/main" id="{45FC573A-BA45-45C0-9DEA-43CBC5406FBE}"/>
              </a:ext>
            </a:extLst>
          </p:cNvPr>
          <p:cNvSpPr>
            <a:spLocks xmlns:a="http://schemas.openxmlformats.org/drawingml/2006/main" noGrp="1"/>
          </p:cNvSpPr>
          <p:nvPr/>
        </p:nvSpPr>
        <p:spPr>
          <a:xfrm xmlns:a="http://schemas.openxmlformats.org/drawingml/2006/main">
            <a:off x="4810125" y="4381500"/>
            <a:ext cx="67437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325" b="0">
                <a:solidFill>
                  <a:srgbClr val="142443"/>
                </a:solidFill>
                <a:latin typeface="Arial"/>
                <a:ea typeface="Arial"/>
                <a:cs typeface="Arial"/>
              </a:defRPr>
            </a:pPr>
            <a:r>
              <a:rPr sz="2325" b="0">
                <a:solidFill>
                  <a:srgbClr val="142443"/>
                </a:solidFill>
                <a:latin typeface="Arial"/>
                <a:ea typeface="Arial"/>
                <a:cs typeface="Arial"/>
              </a:rPr>
              <a:t>Watershed tidak memulihkan bagian tersembunyi secara otomatis.</a:t>
            </a:r>
          </a:p>
        </p:txBody>
      </p:sp>
    </p:spTree>
    <p:extLst>
      <p:ext uri="{BB962C8B-B14F-4D97-AF65-F5344CB8AC3E}">
        <p14:creationId xmlns:p14="http://schemas.microsoft.com/office/powerpoint/2010/main" val="1073329627"/>
      </p:ext>
    </p:extLst>
  </p:cSld>
</p:sld>
</file>

<file path=ppt/slides/slide21.xml><?xml version="1.0" encoding="utf-8"?>
<p:sld xmlns:p="http://schemas.openxmlformats.org/presentationml/2006/main">
  <p:cSld>
    <p:bg>
      <p:bgPr>
        <a:solidFill xmlns:a="http://schemas.openxmlformats.org/drawingml/2006/main">
          <a:srgbClr val="EEE9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2C7252-6637-4B0F-B769-51ABEE18D254}"/>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Peta jarak untuk inti objek</a:t>
            </a:r>
          </a:p>
        </p:txBody>
      </p:sp>
      <p:sp>
        <p:nvSpPr>
          <p:cNvPr id="2" name="">
            <a:extLst xmlns:a="http://schemas.openxmlformats.org/drawingml/2006/main">
              <a:ext uri="{FF2B5EF4-FFF2-40B4-BE49-F238E27FC236}">
                <a16:creationId xmlns:a16="http://schemas.microsoft.com/office/drawing/2014/main" id="{06E0E97C-EE8C-45D7-ABC2-585EFA25F705}"/>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309364996504ba0"/>
          <a:stretch xmlns:a="http://schemas.openxmlformats.org/drawingml/2006/main"/>
        </p:blipFill>
        <p:spPr>
          <a:xfrm xmlns:a="http://schemas.openxmlformats.org/drawingml/2006/main">
            <a:off x="3270336" y="1285875"/>
            <a:ext cx="5651327"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A2D26A-B80B-4370-B95D-E53A4A9A6A28}"/>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Setiap piksel objek mengukur jarak ke piksel nol terdekat.</a:t>
            </a:r>
          </a:p>
        </p:txBody>
      </p:sp>
      <p:sp>
        <p:nvSpPr>
          <p:cNvPr id="5" name="">
            <a:extLst xmlns:a="http://schemas.openxmlformats.org/drawingml/2006/main">
              <a:ext uri="{FF2B5EF4-FFF2-40B4-BE49-F238E27FC236}">
                <a16:creationId xmlns:a16="http://schemas.microsoft.com/office/drawing/2014/main" id="{11CC204E-70EF-495A-9C5B-902D92B24007}"/>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Daerah jauh dari batas memberi kandidat inti.</a:t>
            </a:r>
          </a:p>
        </p:txBody>
      </p:sp>
      <p:sp>
        <p:nvSpPr>
          <p:cNvPr id="6" name="">
            <a:extLst xmlns:a="http://schemas.openxmlformats.org/drawingml/2006/main">
              <a:ext uri="{FF2B5EF4-FFF2-40B4-BE49-F238E27FC236}">
                <a16:creationId xmlns:a16="http://schemas.microsoft.com/office/drawing/2014/main" id="{46D1B849-6E26-4362-AFBF-1D5BB98C044E}"/>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Bentuk dan ukuran benda menentukan puncak jarak.</a:t>
            </a:r>
          </a:p>
        </p:txBody>
      </p:sp>
    </p:spTree>
    <p:extLst>
      <p:ext uri="{BB962C8B-B14F-4D97-AF65-F5344CB8AC3E}">
        <p14:creationId xmlns:p14="http://schemas.microsoft.com/office/powerpoint/2010/main" val="1499404402"/>
      </p:ext>
    </p:extLst>
  </p:cSld>
</p:sld>
</file>

<file path=ppt/slides/slide2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B3BA5C-E870-4D13-8CC7-73BD14BC23D2}"/>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Seed dan rasio jarak</a:t>
            </a:r>
          </a:p>
        </p:txBody>
      </p:sp>
      <p:sp>
        <p:nvSpPr>
          <p:cNvPr id="2" name="">
            <a:extLst xmlns:a="http://schemas.openxmlformats.org/drawingml/2006/main">
              <a:ext uri="{FF2B5EF4-FFF2-40B4-BE49-F238E27FC236}">
                <a16:creationId xmlns:a16="http://schemas.microsoft.com/office/drawing/2014/main" id="{C753AD55-6F4E-4EEC-B6DA-594AD2FD5EB0}"/>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0be2ccd28dc4aae"/>
          <a:stretch xmlns:a="http://schemas.openxmlformats.org/drawingml/2006/main"/>
        </p:blipFill>
        <p:spPr>
          <a:xfrm xmlns:a="http://schemas.openxmlformats.org/drawingml/2006/main">
            <a:off x="718144" y="1285875"/>
            <a:ext cx="10755712"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85F6CB-C6A9-4049-965B-5F2F93F2CB01}"/>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Seed: dist &gt; rasio × dist.max().</a:t>
            </a:r>
          </a:p>
        </p:txBody>
      </p:sp>
      <p:sp>
        <p:nvSpPr>
          <p:cNvPr id="5" name="">
            <a:extLst xmlns:a="http://schemas.openxmlformats.org/drawingml/2006/main">
              <a:ext uri="{FF2B5EF4-FFF2-40B4-BE49-F238E27FC236}">
                <a16:creationId xmlns:a16="http://schemas.microsoft.com/office/drawing/2014/main" id="{9ED767AD-C15F-4BA5-B268-BB5D172F8143}"/>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Rasio rendah dapat menyatukan seed.</a:t>
            </a:r>
          </a:p>
        </p:txBody>
      </p:sp>
      <p:sp>
        <p:nvSpPr>
          <p:cNvPr id="6" name="">
            <a:extLst xmlns:a="http://schemas.openxmlformats.org/drawingml/2006/main">
              <a:ext uri="{FF2B5EF4-FFF2-40B4-BE49-F238E27FC236}">
                <a16:creationId xmlns:a16="http://schemas.microsoft.com/office/drawing/2014/main" id="{FEF37D1C-85A4-4DCC-876C-0A7E04889BB6}"/>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Rasio tinggi dapat menghilangkan objek kecil.</a:t>
            </a:r>
          </a:p>
        </p:txBody>
      </p:sp>
      <p:sp>
        <p:nvSpPr>
          <p:cNvPr id="7" name="">
            <a:extLst xmlns:a="http://schemas.openxmlformats.org/drawingml/2006/main">
              <a:ext uri="{FF2B5EF4-FFF2-40B4-BE49-F238E27FC236}">
                <a16:creationId xmlns:a16="http://schemas.microsoft.com/office/drawing/2014/main" id="{17947985-EC11-4A34-AB44-A4C2E3575B43}"/>
              </a:ext>
            </a:extLst>
          </p:cNvPr>
          <p:cNvSpPr>
            <a:spLocks xmlns:a="http://schemas.openxmlformats.org/drawingml/2006/main" noGrp="1"/>
          </p:cNvSpPr>
          <p:nvPr/>
        </p:nvSpPr>
        <p:spPr>
          <a:xfrm xmlns:a="http://schemas.openxmlformats.org/drawingml/2006/main">
            <a:off x="581025" y="6457950"/>
            <a:ext cx="1099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Rasio 0,50: 24 seed • rasio 0,35: 5 seed</a:t>
            </a:r>
          </a:p>
        </p:txBody>
      </p:sp>
    </p:spTree>
    <p:extLst>
      <p:ext uri="{BB962C8B-B14F-4D97-AF65-F5344CB8AC3E}">
        <p14:creationId xmlns:p14="http://schemas.microsoft.com/office/powerpoint/2010/main" val="1728897026"/>
      </p:ext>
    </p:extLst>
  </p:cSld>
</p:sld>
</file>

<file path=ppt/slides/slide23.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58945B-3E37-4D8F-A6F6-4DCB0180F46F}"/>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Tiga wilayah marker</a:t>
            </a:r>
          </a:p>
        </p:txBody>
      </p:sp>
      <p:sp>
        <p:nvSpPr>
          <p:cNvPr id="2" name="">
            <a:extLst xmlns:a="http://schemas.openxmlformats.org/drawingml/2006/main">
              <a:ext uri="{FF2B5EF4-FFF2-40B4-BE49-F238E27FC236}">
                <a16:creationId xmlns:a16="http://schemas.microsoft.com/office/drawing/2014/main" id="{9ABD877D-6C7F-4BDC-86E8-D321D5CFBFCF}"/>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46AA3D1E-C4CF-4028-96EB-9387AADDE349}"/>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Known background = 1.</a:t>
            </a:r>
          </a:p>
        </p:txBody>
      </p:sp>
      <p:graphicFrame>
        <p:nvGraphicFramePr>
          <p:cNvPr id="9" name=""/>
          <p:cNvGraphicFramePr/>
          <p:nvPr/>
        </p:nvGraphicFramePr>
        <p:xfrm>
          <a:off xmlns:a="http://schemas.openxmlformats.org/drawingml/2006/main" x="619125" y="2190750"/>
          <a:ext xmlns:a="http://schemas.openxmlformats.org/drawingml/2006/main" cx="10934700" cy="2476500"/>
        </p:xfrm>
        <a:graphic xmlns:a="http://schemas.openxmlformats.org/drawingml/2006/main">
          <a:graphicData uri="http://schemas.openxmlformats.org/drawingml/2006/table">
            <a:tbl>
              <a:tblPr firstRow="1" bandRow="0"/>
              <a:tblGrid>
                <a:gridCol w="3644900"/>
                <a:gridCol w="3644900"/>
                <a:gridCol w="3644900"/>
              </a:tblGrid>
              <a:tr h="619125">
                <a:tc>
                  <a:txBody>
                    <a:bodyPr/>
                    <a:lstStyle/>
                    <a:p>
                      <a:pPr algn="ctr"/>
                      <a:r>
                        <a:rPr sz="1875" b="1">
                          <a:solidFill>
                            <a:srgbClr val="FFFFFF"/>
                          </a:solidFill>
                          <a:latin typeface="Arial"/>
                          <a:ea typeface="Arial"/>
                          <a:cs typeface="Arial"/>
                        </a:rPr>
                        <a:t>Wilayah</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Label</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Fungsi</a:t>
                      </a:r>
                    </a:p>
                  </a:txBody>
                  <a:tcPr marL="91440" marR="91440" marT="45720" marB="45720" anchor="ctr">
                    <a:solidFill>
                      <a:srgbClr val="10204B"/>
                    </a:solidFill>
                  </a:tcPr>
                </a:tc>
              </a:tr>
              <a:tr h="619125">
                <a:tc>
                  <a:txBody>
                    <a:bodyPr/>
                    <a:lstStyle/>
                    <a:p>
                      <a:pPr algn="ctr"/>
                      <a:r>
                        <a:rPr sz="1875" b="0">
                          <a:solidFill>
                            <a:srgbClr val="142443"/>
                          </a:solidFill>
                          <a:latin typeface="Arial"/>
                          <a:ea typeface="Arial"/>
                          <a:cs typeface="Arial"/>
                        </a:rPr>
                        <a:t>Di luar envelope</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1</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Latar pasti</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Envelope tanpa seed</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Ditentukan algoritma</a:t>
                      </a:r>
                    </a:p>
                  </a:txBody>
                  <a:tcPr marL="91440" marR="91440" marT="45720" marB="45720" anchor="ctr">
                    <a:solidFill>
                      <a:srgbClr val="F3F7FC"/>
                    </a:solidFill>
                  </a:tcPr>
                </a:tc>
              </a:tr>
              <a:tr h="619125">
                <a:tc>
                  <a:txBody>
                    <a:bodyPr/>
                    <a:lstStyle/>
                    <a:p>
                      <a:pPr algn="ctr"/>
                      <a:r>
                        <a:rPr sz="1875" b="0">
                          <a:solidFill>
                            <a:srgbClr val="142443"/>
                          </a:solidFill>
                          <a:latin typeface="Arial"/>
                          <a:ea typeface="Arial"/>
                          <a:cs typeface="Arial"/>
                        </a:rPr>
                        <a:t>Seed masing-masing</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≥2</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Identitas objek</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B39C583-F794-42E3-AC90-E69039650884}"/>
              </a:ext>
            </a:extLst>
          </p:cNvPr>
          <p:cNvSpPr>
            <a:spLocks xmlns:a="http://schemas.openxmlformats.org/drawingml/2006/main" noGrp="1"/>
          </p:cNvSpPr>
          <p:nvPr/>
        </p:nvSpPr>
        <p:spPr>
          <a:xfrm xmlns:a="http://schemas.openxmlformats.org/drawingml/2006/main">
            <a:off x="647700" y="4933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Unknown = 0.</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Seed objek = 2, 3, 4, …</a:t>
            </a:r>
          </a:p>
        </p:txBody>
      </p:sp>
    </p:spTree>
    <p:extLst>
      <p:ext uri="{BB962C8B-B14F-4D97-AF65-F5344CB8AC3E}">
        <p14:creationId xmlns:p14="http://schemas.microsoft.com/office/powerpoint/2010/main" val="1145838067"/>
      </p:ext>
    </p:extLst>
  </p:cSld>
</p:sld>
</file>

<file path=ppt/slides/slide24.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80D9AC-AECC-4A8B-A77D-1D82DE205139}"/>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Watershed dan batas hasil</a:t>
            </a:r>
          </a:p>
        </p:txBody>
      </p:sp>
      <p:sp>
        <p:nvSpPr>
          <p:cNvPr id="2" name="">
            <a:extLst xmlns:a="http://schemas.openxmlformats.org/drawingml/2006/main">
              <a:ext uri="{FF2B5EF4-FFF2-40B4-BE49-F238E27FC236}">
                <a16:creationId xmlns:a16="http://schemas.microsoft.com/office/drawing/2014/main" id="{778B6948-9A18-4F5F-88B9-7C2A95B78CB0}"/>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e0f485e8e4645c9"/>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5EF4461-9A76-4CC5-BCB4-0FE881E32E60}"/>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Marker memberi identitas awal pertumbuhan wilayah.</a:t>
            </a:r>
          </a:p>
        </p:txBody>
      </p:sp>
      <p:sp>
        <p:nvSpPr>
          <p:cNvPr id="5" name="">
            <a:extLst xmlns:a="http://schemas.openxmlformats.org/drawingml/2006/main">
              <a:ext uri="{FF2B5EF4-FFF2-40B4-BE49-F238E27FC236}">
                <a16:creationId xmlns:a16="http://schemas.microsoft.com/office/drawing/2014/main" id="{C269438E-9753-42A6-BD36-0E58C1D32DF3}"/>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cv2.watershed memakai citra BGR dan marker int32.</a:t>
            </a:r>
          </a:p>
        </p:txBody>
      </p:sp>
      <p:sp>
        <p:nvSpPr>
          <p:cNvPr id="6" name="">
            <a:extLst xmlns:a="http://schemas.openxmlformats.org/drawingml/2006/main">
              <a:ext uri="{FF2B5EF4-FFF2-40B4-BE49-F238E27FC236}">
                <a16:creationId xmlns:a16="http://schemas.microsoft.com/office/drawing/2014/main" id="{AC90193C-1234-42DF-8681-F96A4853F9B0}"/>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Batas akhir diberi label −1.</a:t>
            </a:r>
          </a:p>
        </p:txBody>
      </p:sp>
    </p:spTree>
    <p:extLst>
      <p:ext uri="{BB962C8B-B14F-4D97-AF65-F5344CB8AC3E}">
        <p14:creationId xmlns:p14="http://schemas.microsoft.com/office/powerpoint/2010/main" val="1942534816"/>
      </p:ext>
    </p:extLst>
  </p:cSld>
</p:sld>
</file>

<file path=ppt/slides/slide25.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F36C5D-9508-4794-9D24-6350DFCD232D}"/>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Count benar dan mask benar</a:t>
            </a:r>
          </a:p>
        </p:txBody>
      </p:sp>
      <p:sp>
        <p:nvSpPr>
          <p:cNvPr id="2" name="">
            <a:extLst xmlns:a="http://schemas.openxmlformats.org/drawingml/2006/main">
              <a:ext uri="{FF2B5EF4-FFF2-40B4-BE49-F238E27FC236}">
                <a16:creationId xmlns:a16="http://schemas.microsoft.com/office/drawing/2014/main" id="{5ECAB001-2D3C-44CB-8DCD-28D77E5B831A}"/>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1413336feb456c"/>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B99ADE7-1E65-4A32-BC53-09FC09E5D808}"/>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Hitung ID label valid, bukan nilai maksimum.</a:t>
            </a:r>
          </a:p>
        </p:txBody>
      </p:sp>
      <p:sp>
        <p:nvSpPr>
          <p:cNvPr id="5" name="">
            <a:extLst xmlns:a="http://schemas.openxmlformats.org/drawingml/2006/main">
              <a:ext uri="{FF2B5EF4-FFF2-40B4-BE49-F238E27FC236}">
                <a16:creationId xmlns:a16="http://schemas.microsoft.com/office/drawing/2014/main" id="{9279A011-15BA-451D-9B3D-CE3B5B76899D}"/>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Abaikan background, unknown, dan boundary.</a:t>
            </a:r>
          </a:p>
        </p:txBody>
      </p:sp>
      <p:sp>
        <p:nvSpPr>
          <p:cNvPr id="6" name="">
            <a:extLst xmlns:a="http://schemas.openxmlformats.org/drawingml/2006/main">
              <a:ext uri="{FF2B5EF4-FFF2-40B4-BE49-F238E27FC236}">
                <a16:creationId xmlns:a16="http://schemas.microsoft.com/office/drawing/2014/main" id="{BB9FC746-7605-467C-9034-AA59D075C115}"/>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Periksa split/merge bersama overlay.</a:t>
            </a:r>
          </a:p>
        </p:txBody>
      </p:sp>
      <p:sp>
        <p:nvSpPr>
          <p:cNvPr id="7" name="">
            <a:extLst xmlns:a="http://schemas.openxmlformats.org/drawingml/2006/main">
              <a:ext uri="{FF2B5EF4-FFF2-40B4-BE49-F238E27FC236}">
                <a16:creationId xmlns:a16="http://schemas.microsoft.com/office/drawing/2014/main" id="{0C7D1965-3F75-4AD9-B5E2-37640BCDC5F3}"/>
              </a:ext>
            </a:extLst>
          </p:cNvPr>
          <p:cNvSpPr>
            <a:spLocks xmlns:a="http://schemas.openxmlformats.org/drawingml/2006/main" noGrp="1"/>
          </p:cNvSpPr>
          <p:nvPr/>
        </p:nvSpPr>
        <p:spPr>
          <a:xfrm xmlns:a="http://schemas.openxmlformats.org/drawingml/2006/main">
            <a:off x="581025" y="6457950"/>
            <a:ext cx="1099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24 label valid • referensi visual 24 • tanpa mask GT</a:t>
            </a:r>
          </a:p>
        </p:txBody>
      </p:sp>
    </p:spTree>
    <p:extLst>
      <p:ext uri="{BB962C8B-B14F-4D97-AF65-F5344CB8AC3E}">
        <p14:creationId xmlns:p14="http://schemas.microsoft.com/office/powerpoint/2010/main" val="26829164"/>
      </p:ext>
    </p:extLst>
  </p:cSld>
</p:sld>
</file>

<file path=ppt/slides/slide26.xml><?xml version="1.0" encoding="utf-8"?>
<p:sld xmlns:p="http://schemas.openxmlformats.org/presentationml/2006/main">
  <p:cSld>
    <p:bg>
      <p:bgPr>
        <a:solidFill xmlns:a="http://schemas.openxmlformats.org/drawingml/2006/main">
          <a:srgbClr val="1020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6B1614-8667-440B-94DC-D92BC811D0EE}"/>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FFFFFF"/>
                </a:solidFill>
                <a:latin typeface="Arial"/>
                <a:ea typeface="Arial"/>
                <a:cs typeface="Arial"/>
              </a:defRPr>
            </a:pPr>
            <a:r>
              <a:rPr sz="3300" b="1">
                <a:solidFill>
                  <a:srgbClr val="FFFFFF"/>
                </a:solidFill>
                <a:latin typeface="Arial"/>
                <a:ea typeface="Arial"/>
                <a:cs typeface="Arial"/>
              </a:rPr>
              <a:t>Ringkasan pemilihan teknik</a:t>
            </a:r>
          </a:p>
        </p:txBody>
      </p:sp>
      <p:sp>
        <p:nvSpPr>
          <p:cNvPr id="2" name="">
            <a:extLst xmlns:a="http://schemas.openxmlformats.org/drawingml/2006/main">
              <a:ext uri="{FF2B5EF4-FFF2-40B4-BE49-F238E27FC236}">
                <a16:creationId xmlns:a16="http://schemas.microsoft.com/office/drawing/2014/main" id="{F1321A3B-7F76-467B-8436-038870F1143A}"/>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C3EAF3"/>
                </a:solidFill>
                <a:latin typeface="Arial"/>
                <a:ea typeface="Arial"/>
                <a:cs typeface="Arial"/>
              </a:defRPr>
            </a:pPr>
            <a:r>
              <a:rPr sz="1500" b="0">
                <a:solidFill>
                  <a:srgbClr val="C3EAF3"/>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B90B0728-F46E-4318-A52C-F8F33352EF50}"/>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FFFFFF"/>
                </a:solidFill>
                <a:latin typeface="Arial"/>
                <a:ea typeface="Arial"/>
                <a:cs typeface="Arial"/>
              </a:defRPr>
            </a:pPr>
            <a:r>
              <a:rPr sz="2175" b="1">
                <a:solidFill>
                  <a:srgbClr val="FFFFFF"/>
                </a:solidFill>
                <a:latin typeface="Arial"/>
                <a:ea typeface="Arial"/>
                <a:cs typeface="Arial"/>
              </a:rPr>
              <a:t>Intensitas terpisah: mulai dari Otsu.</a:t>
            </a:r>
          </a:p>
        </p:txBody>
      </p:sp>
      <p:graphicFrame>
        <p:nvGraphicFramePr>
          <p:cNvPr id="9" name=""/>
          <p:cNvGraphicFramePr/>
          <p:nvPr/>
        </p:nvGraphicFramePr>
        <p:xfrm>
          <a:off xmlns:a="http://schemas.openxmlformats.org/drawingml/2006/main" x="619125" y="2190750"/>
          <a:ext xmlns:a="http://schemas.openxmlformats.org/drawingml/2006/main" cx="10934700" cy="3095625"/>
        </p:xfrm>
        <a:graphic xmlns:a="http://schemas.openxmlformats.org/drawingml/2006/main">
          <a:graphicData uri="http://schemas.openxmlformats.org/drawingml/2006/table">
            <a:tbl>
              <a:tblPr firstRow="1" bandRow="0"/>
              <a:tblGrid>
                <a:gridCol w="3644900"/>
                <a:gridCol w="3644900"/>
                <a:gridCol w="3644900"/>
              </a:tblGrid>
              <a:tr h="619125">
                <a:tc>
                  <a:txBody>
                    <a:bodyPr/>
                    <a:lstStyle/>
                    <a:p>
                      <a:pPr algn="ctr"/>
                      <a:r>
                        <a:rPr sz="1875" b="1">
                          <a:solidFill>
                            <a:srgbClr val="FFFFFF"/>
                          </a:solidFill>
                          <a:latin typeface="Arial"/>
                          <a:ea typeface="Arial"/>
                          <a:cs typeface="Arial"/>
                        </a:rPr>
                        <a:t>Kebutuhan</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Titik awal</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Periksa</a:t>
                      </a:r>
                    </a:p>
                  </a:txBody>
                  <a:tcPr marL="91440" marR="91440" marT="45720" marB="45720" anchor="ctr">
                    <a:solidFill>
                      <a:srgbClr val="10204B"/>
                    </a:solidFill>
                  </a:tcPr>
                </a:tc>
              </a:tr>
              <a:tr h="619125">
                <a:tc>
                  <a:txBody>
                    <a:bodyPr/>
                    <a:lstStyle/>
                    <a:p>
                      <a:pPr algn="ctr"/>
                      <a:r>
                        <a:rPr sz="1875" b="0">
                          <a:solidFill>
                            <a:srgbClr val="142443"/>
                          </a:solidFill>
                          <a:latin typeface="Arial"/>
                          <a:ea typeface="Arial"/>
                          <a:cs typeface="Arial"/>
                        </a:rPr>
                        <a:t>Ambang otomatis</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Otsu</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Objek/latar</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Cahaya lokal berubah</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Mean/Gaussian</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Goresan dan latar</a:t>
                      </a:r>
                    </a:p>
                  </a:txBody>
                  <a:tcPr marL="91440" marR="91440" marT="45720" marB="45720" anchor="ctr">
                    <a:solidFill>
                      <a:srgbClr val="F3F7FC"/>
                    </a:solidFill>
                  </a:tcPr>
                </a:tc>
              </a:tr>
              <a:tr h="619125">
                <a:tc>
                  <a:txBody>
                    <a:bodyPr/>
                    <a:lstStyle/>
                    <a:p>
                      <a:pPr algn="ctr"/>
                      <a:r>
                        <a:rPr sz="1875" b="0">
                          <a:solidFill>
                            <a:srgbClr val="142443"/>
                          </a:solidFill>
                          <a:latin typeface="Arial"/>
                          <a:ea typeface="Arial"/>
                          <a:cs typeface="Arial"/>
                        </a:rPr>
                        <a:t>Warna tertentu</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HSV</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Piksel serupa</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Benda menyentuh</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Watershed</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Seed dan split/merge</a:t>
                      </a:r>
                    </a:p>
                  </a:txBody>
                  <a:tcPr marL="91440" marR="91440" marT="45720" marB="45720" anchor="ctr">
                    <a:solidFill>
                      <a:srgbClr val="F3F7FC"/>
                    </a:solidFill>
                  </a:tcPr>
                </a:tc>
              </a:tr>
            </a:tbl>
          </a:graphicData>
        </a:graphic>
      </p:graphicFrame>
      <p:sp>
        <p:nvSpPr>
          <p:cNvPr id="5" name="">
            <a:extLst xmlns:a="http://schemas.openxmlformats.org/drawingml/2006/main">
              <a:ext uri="{FF2B5EF4-FFF2-40B4-BE49-F238E27FC236}">
                <a16:creationId xmlns:a16="http://schemas.microsoft.com/office/drawing/2014/main" id="{77D41B20-DA5C-4C2C-A453-ACF6099FD404}"/>
              </a:ext>
            </a:extLst>
          </p:cNvPr>
          <p:cNvSpPr>
            <a:spLocks xmlns:a="http://schemas.openxmlformats.org/drawingml/2006/main" noGrp="1"/>
          </p:cNvSpPr>
          <p:nvPr/>
        </p:nvSpPr>
        <p:spPr>
          <a:xfrm xmlns:a="http://schemas.openxmlformats.org/drawingml/2006/main">
            <a:off x="647700" y="55530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FFFFFF"/>
                </a:solidFill>
                <a:latin typeface="Arial"/>
                <a:ea typeface="Arial"/>
                <a:cs typeface="Arial"/>
              </a:defRPr>
            </a:pPr>
            <a:r>
              <a:rPr sz="2025" b="0">
                <a:solidFill>
                  <a:srgbClr val="FFFFFF"/>
                </a:solidFill>
                <a:latin typeface="Arial"/>
                <a:ea typeface="Arial"/>
                <a:cs typeface="Arial"/>
              </a:rPr>
              <a:t>Pencahayaan berubah: bandingkan ambang lokal.</a:t>
            </a:r>
          </a:p>
          <a:p xmlns:a="http://schemas.openxmlformats.org/drawingml/2006/main">
            <a:pPr>
              <a:lnSpc>
                <a:spcPct val="106000"/>
              </a:lnSpc>
              <a:buNone/>
              <a:defRPr sz="2025" b="0">
                <a:solidFill>
                  <a:srgbClr val="FFFFFF"/>
                </a:solidFill>
                <a:latin typeface="Arial"/>
                <a:ea typeface="Arial"/>
                <a:cs typeface="Arial"/>
              </a:defRPr>
            </a:pPr>
            <a:r>
              <a:rPr sz="2025" b="0">
                <a:solidFill>
                  <a:srgbClr val="FFFFFF"/>
                </a:solidFill>
                <a:latin typeface="Arial"/>
                <a:ea typeface="Arial"/>
                <a:cs typeface="Arial"/>
              </a:rPr>
              <a:t>Warna terkontrol: HSV; objek menyentuh: marker + Watershed.</a:t>
            </a:r>
          </a:p>
        </p:txBody>
      </p:sp>
    </p:spTree>
    <p:extLst>
      <p:ext uri="{BB962C8B-B14F-4D97-AF65-F5344CB8AC3E}">
        <p14:creationId xmlns:p14="http://schemas.microsoft.com/office/powerpoint/2010/main" val="563666087"/>
      </p:ext>
    </p:extLst>
  </p:cSld>
</p:sld>
</file>

<file path=ppt/slides/slide2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7E57C7-A03E-45B1-B296-A07443589689}"/>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Data nyata, sumber, dan persiapan Colab</a:t>
            </a:r>
          </a:p>
        </p:txBody>
      </p:sp>
      <p:sp>
        <p:nvSpPr>
          <p:cNvPr id="2" name="">
            <a:extLst xmlns:a="http://schemas.openxmlformats.org/drawingml/2006/main">
              <a:ext uri="{FF2B5EF4-FFF2-40B4-BE49-F238E27FC236}">
                <a16:creationId xmlns:a16="http://schemas.microsoft.com/office/drawing/2014/main" id="{898BBAE6-EEE9-40D0-8F4E-73863D256A12}"/>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44d87022a75444e"/>
          <a:stretch xmlns:a="http://schemas.openxmlformats.org/drawingml/2006/main"/>
        </p:blipFill>
        <p:spPr>
          <a:xfrm xmlns:a="http://schemas.openxmlformats.org/drawingml/2006/main">
            <a:off x="1075828" y="1285875"/>
            <a:ext cx="1004034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4CAC68-205B-4693-836C-2C91F778A795}"/>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Input tertanam pada notebook; tugas inti tidak memerlukan unduhan data.</a:t>
            </a:r>
          </a:p>
        </p:txBody>
      </p:sp>
      <p:sp>
        <p:nvSpPr>
          <p:cNvPr id="5" name="">
            <a:extLst xmlns:a="http://schemas.openxmlformats.org/drawingml/2006/main">
              <a:ext uri="{FF2B5EF4-FFF2-40B4-BE49-F238E27FC236}">
                <a16:creationId xmlns:a16="http://schemas.microsoft.com/office/drawing/2014/main" id="{C78A1BFF-EC06-485F-A374-7DD0DF11852F}"/>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Data sumber nyata; transformasi simulasi diberi label.</a:t>
            </a:r>
          </a:p>
        </p:txBody>
      </p:sp>
      <p:sp>
        <p:nvSpPr>
          <p:cNvPr id="6" name="">
            <a:extLst xmlns:a="http://schemas.openxmlformats.org/drawingml/2006/main">
              <a:ext uri="{FF2B5EF4-FFF2-40B4-BE49-F238E27FC236}">
                <a16:creationId xmlns:a16="http://schemas.microsoft.com/office/drawing/2014/main" id="{23429C16-F338-49A8-BC4C-700E32088CE5}"/>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Pilih runtime CPU dan jalankan dari atas.</a:t>
            </a:r>
          </a:p>
        </p:txBody>
      </p:sp>
    </p:spTree>
    <p:extLst>
      <p:ext uri="{BB962C8B-B14F-4D97-AF65-F5344CB8AC3E}">
        <p14:creationId xmlns:p14="http://schemas.microsoft.com/office/powerpoint/2010/main" val="974995763"/>
      </p:ext>
    </p:extLst>
  </p:cSld>
</p:sld>
</file>

<file path=ppt/slides/slide28.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09FE0A-0058-46A9-BD25-51AE563A1E72}"/>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A: input dan Otsu</a:t>
            </a:r>
          </a:p>
        </p:txBody>
      </p:sp>
      <p:sp>
        <p:nvSpPr>
          <p:cNvPr id="2" name="">
            <a:extLst xmlns:a="http://schemas.openxmlformats.org/drawingml/2006/main">
              <a:ext uri="{FF2B5EF4-FFF2-40B4-BE49-F238E27FC236}">
                <a16:creationId xmlns:a16="http://schemas.microsoft.com/office/drawing/2014/main" id="{EFFBAEAE-E1D3-4210-8C34-077EB61D1746}"/>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4871df00662477e"/>
          <a:stretch xmlns:a="http://schemas.openxmlformats.org/drawingml/2006/main"/>
        </p:blipFill>
        <p:spPr>
          <a:xfrm xmlns:a="http://schemas.openxmlformats.org/drawingml/2006/main">
            <a:off x="2143426" y="1285875"/>
            <a:ext cx="7905147"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880A2F-CC45-4FEE-B06A-483109994824}"/>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Tampilkan scan serta bayangan simulasi.</a:t>
            </a:r>
          </a:p>
        </p:txBody>
      </p:sp>
      <p:sp>
        <p:nvSpPr>
          <p:cNvPr id="5" name="">
            <a:extLst xmlns:a="http://schemas.openxmlformats.org/drawingml/2006/main">
              <a:ext uri="{FF2B5EF4-FFF2-40B4-BE49-F238E27FC236}">
                <a16:creationId xmlns:a16="http://schemas.microsoft.com/office/drawing/2014/main" id="{81A4D7C6-B5D2-47D3-A5DB-D7CAE4F12337}"/>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Catat T Otsu dari hasil eksekusi.</a:t>
            </a:r>
          </a:p>
        </p:txBody>
      </p:sp>
      <p:sp>
        <p:nvSpPr>
          <p:cNvPr id="6" name="">
            <a:extLst xmlns:a="http://schemas.openxmlformats.org/drawingml/2006/main">
              <a:ext uri="{FF2B5EF4-FFF2-40B4-BE49-F238E27FC236}">
                <a16:creationId xmlns:a16="http://schemas.microsoft.com/office/drawing/2014/main" id="{5FCEDFB6-EF7A-47E1-B459-971131A0C30C}"/>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Pertahankan input yang sama untuk dua adaptive.</a:t>
            </a:r>
          </a:p>
        </p:txBody>
      </p:sp>
      <p:sp>
        <p:nvSpPr>
          <p:cNvPr id="7" name="">
            <a:extLst xmlns:a="http://schemas.openxmlformats.org/drawingml/2006/main">
              <a:ext uri="{FF2B5EF4-FFF2-40B4-BE49-F238E27FC236}">
                <a16:creationId xmlns:a16="http://schemas.microsoft.com/office/drawing/2014/main" id="{1571EF54-BCD8-4282-B2B1-B00EC4B0E84D}"/>
              </a:ext>
            </a:extLst>
          </p:cNvPr>
          <p:cNvSpPr>
            <a:spLocks xmlns:a="http://schemas.openxmlformats.org/drawingml/2006/main" noGrp="1"/>
          </p:cNvSpPr>
          <p:nvPr/>
        </p:nvSpPr>
        <p:spPr>
          <a:xfrm xmlns:a="http://schemas.openxmlformats.org/drawingml/2006/main">
            <a:off x="61436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Hasil pilot Otsu T = 130 pada input kasus A.</a:t>
            </a:r>
          </a:p>
        </p:txBody>
      </p:sp>
    </p:spTree>
    <p:extLst>
      <p:ext uri="{BB962C8B-B14F-4D97-AF65-F5344CB8AC3E}">
        <p14:creationId xmlns:p14="http://schemas.microsoft.com/office/powerpoint/2010/main" val="19430709"/>
      </p:ext>
    </p:extLst>
  </p:cSld>
</p:sld>
</file>

<file path=ppt/slides/slide29.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B1F198-7186-46FA-BE82-31A89085AC24}"/>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A: Mean/Gaussian serta ROI</a:t>
            </a:r>
          </a:p>
        </p:txBody>
      </p:sp>
      <p:sp>
        <p:nvSpPr>
          <p:cNvPr id="2" name="">
            <a:extLst xmlns:a="http://schemas.openxmlformats.org/drawingml/2006/main">
              <a:ext uri="{FF2B5EF4-FFF2-40B4-BE49-F238E27FC236}">
                <a16:creationId xmlns:a16="http://schemas.microsoft.com/office/drawing/2014/main" id="{0D8A01A4-9035-4464-A477-2C83A6EB2026}"/>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29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0d1721bd2024aaf"/>
          <a:stretch xmlns:a="http://schemas.openxmlformats.org/drawingml/2006/main"/>
        </p:blipFill>
        <p:spPr>
          <a:xfrm xmlns:a="http://schemas.openxmlformats.org/drawingml/2006/main">
            <a:off x="3012246" y="1285875"/>
            <a:ext cx="6167507"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B9DAA21-669B-47F8-8A08-82D97C8AD490}"/>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Mean dan Gaussian memakai parameter inti identik.</a:t>
            </a:r>
          </a:p>
        </p:txBody>
      </p:sp>
      <p:sp>
        <p:nvSpPr>
          <p:cNvPr id="5" name="">
            <a:extLst xmlns:a="http://schemas.openxmlformats.org/drawingml/2006/main">
              <a:ext uri="{FF2B5EF4-FFF2-40B4-BE49-F238E27FC236}">
                <a16:creationId xmlns:a16="http://schemas.microsoft.com/office/drawing/2014/main" id="{E72E79BB-9466-43DC-81D1-184EDC12F08F}"/>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Bandingkan input dan tiga mask pada ROI tetap.</a:t>
            </a:r>
          </a:p>
        </p:txBody>
      </p:sp>
      <p:sp>
        <p:nvSpPr>
          <p:cNvPr id="6" name="">
            <a:extLst xmlns:a="http://schemas.openxmlformats.org/drawingml/2006/main">
              <a:ext uri="{FF2B5EF4-FFF2-40B4-BE49-F238E27FC236}">
                <a16:creationId xmlns:a16="http://schemas.microsoft.com/office/drawing/2014/main" id="{F81E44C6-599E-442D-A057-5832B8965582}"/>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Tuliskan temuan visual, bukan skor OCR.</a:t>
            </a:r>
          </a:p>
        </p:txBody>
      </p:sp>
      <p:sp>
        <p:nvSpPr>
          <p:cNvPr id="7" name="">
            <a:extLst xmlns:a="http://schemas.openxmlformats.org/drawingml/2006/main">
              <a:ext uri="{FF2B5EF4-FFF2-40B4-BE49-F238E27FC236}">
                <a16:creationId xmlns:a16="http://schemas.microsoft.com/office/drawing/2014/main" id="{E7B62457-D3F1-48E1-92AE-A380F057C678}"/>
              </a:ext>
            </a:extLst>
          </p:cNvPr>
          <p:cNvSpPr>
            <a:spLocks xmlns:a="http://schemas.openxmlformats.org/drawingml/2006/main" noGrp="1"/>
          </p:cNvSpPr>
          <p:nvPr/>
        </p:nvSpPr>
        <p:spPr>
          <a:xfrm xmlns:a="http://schemas.openxmlformats.org/drawingml/2006/main">
            <a:off x="61436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blockSize 31 • C 9 • ROI [65,110,545,355].</a:t>
            </a:r>
          </a:p>
        </p:txBody>
      </p:sp>
    </p:spTree>
    <p:extLst>
      <p:ext uri="{BB962C8B-B14F-4D97-AF65-F5344CB8AC3E}">
        <p14:creationId xmlns:p14="http://schemas.microsoft.com/office/powerpoint/2010/main" val="476653902"/>
      </p:ext>
    </p:extLst>
  </p:cSld>
</p:sld>
</file>

<file path=ppt/slides/slide30.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306164-39D0-4EEC-B9F3-D9DC3B33B219}"/>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B: mask dan pembersihan</a:t>
            </a:r>
          </a:p>
        </p:txBody>
      </p:sp>
      <p:sp>
        <p:nvSpPr>
          <p:cNvPr id="2" name="">
            <a:extLst xmlns:a="http://schemas.openxmlformats.org/drawingml/2006/main">
              <a:ext uri="{FF2B5EF4-FFF2-40B4-BE49-F238E27FC236}">
                <a16:creationId xmlns:a16="http://schemas.microsoft.com/office/drawing/2014/main" id="{2F547AE1-CD0B-4AB3-9365-70C416959F60}"/>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1d31b1df7224218"/>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7A44DD-97D8-4624-80E6-29902151CFE6}"/>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Objek koin harus putih/nonzero pada mask.</a:t>
            </a:r>
          </a:p>
        </p:txBody>
      </p:sp>
      <p:sp>
        <p:nvSpPr>
          <p:cNvPr id="5" name="">
            <a:extLst xmlns:a="http://schemas.openxmlformats.org/drawingml/2006/main">
              <a:ext uri="{FF2B5EF4-FFF2-40B4-BE49-F238E27FC236}">
                <a16:creationId xmlns:a16="http://schemas.microsoft.com/office/drawing/2014/main" id="{666D89EE-BA50-47D7-83B9-A81E7E2AED6C}"/>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Opening hanya dipakai seperlunya.</a:t>
            </a:r>
          </a:p>
        </p:txBody>
      </p:sp>
      <p:sp>
        <p:nvSpPr>
          <p:cNvPr id="6" name="">
            <a:extLst xmlns:a="http://schemas.openxmlformats.org/drawingml/2006/main">
              <a:ext uri="{FF2B5EF4-FFF2-40B4-BE49-F238E27FC236}">
                <a16:creationId xmlns:a16="http://schemas.microsoft.com/office/drawing/2014/main" id="{F9DCBEFD-1CBA-43C3-9C0B-EFE0FB710E47}"/>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Catat komponen awal sebelum pemisahan.</a:t>
            </a:r>
          </a:p>
        </p:txBody>
      </p:sp>
      <p:sp>
        <p:nvSpPr>
          <p:cNvPr id="7" name="">
            <a:extLst xmlns:a="http://schemas.openxmlformats.org/drawingml/2006/main">
              <a:ext uri="{FF2B5EF4-FFF2-40B4-BE49-F238E27FC236}">
                <a16:creationId xmlns:a16="http://schemas.microsoft.com/office/drawing/2014/main" id="{0D250591-8652-419F-BF1A-6BF63A681F02}"/>
              </a:ext>
            </a:extLst>
          </p:cNvPr>
          <p:cNvSpPr>
            <a:spLocks xmlns:a="http://schemas.openxmlformats.org/drawingml/2006/main" noGrp="1"/>
          </p:cNvSpPr>
          <p:nvPr/>
        </p:nvSpPr>
        <p:spPr>
          <a:xfrm xmlns:a="http://schemas.openxmlformats.org/drawingml/2006/main">
            <a:off x="61436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Otsu T 162 • komponen awal 2 → bersih 1.</a:t>
            </a:r>
          </a:p>
        </p:txBody>
      </p:sp>
    </p:spTree>
    <p:extLst>
      <p:ext uri="{BB962C8B-B14F-4D97-AF65-F5344CB8AC3E}">
        <p14:creationId xmlns:p14="http://schemas.microsoft.com/office/powerpoint/2010/main" val="851619166"/>
      </p:ext>
    </p:extLst>
  </p:cSld>
</p:sld>
</file>

<file path=ppt/slides/slide31.xml><?xml version="1.0" encoding="utf-8"?>
<p:sld xmlns:p="http://schemas.openxmlformats.org/presentationml/2006/main">
  <p:cSld>
    <p:bg>
      <p:bgPr>
        <a:solidFill xmlns:a="http://schemas.openxmlformats.org/drawingml/2006/main">
          <a:srgbClr val="EEE9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FA8F02-76A1-42C7-BED7-DD1E13661C34}"/>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B: distance map dan seed</a:t>
            </a:r>
          </a:p>
        </p:txBody>
      </p:sp>
      <p:sp>
        <p:nvSpPr>
          <p:cNvPr id="2" name="">
            <a:extLst xmlns:a="http://schemas.openxmlformats.org/drawingml/2006/main">
              <a:ext uri="{FF2B5EF4-FFF2-40B4-BE49-F238E27FC236}">
                <a16:creationId xmlns:a16="http://schemas.microsoft.com/office/drawing/2014/main" id="{7B85DC66-64D9-4FFB-BAFD-0180F3457EC0}"/>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783142f4e8040eb"/>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33F6CC-91BD-4DF4-8047-B20B7CBE9F37}"/>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Peta jarak menonjolkan interior objek.</a:t>
            </a:r>
          </a:p>
        </p:txBody>
      </p:sp>
      <p:sp>
        <p:nvSpPr>
          <p:cNvPr id="5" name="">
            <a:extLst xmlns:a="http://schemas.openxmlformats.org/drawingml/2006/main">
              <a:ext uri="{FF2B5EF4-FFF2-40B4-BE49-F238E27FC236}">
                <a16:creationId xmlns:a16="http://schemas.microsoft.com/office/drawing/2014/main" id="{FCB40A9F-DAE3-4C0B-BA85-AC9E7D993D59}"/>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Rasio pilot memilih sure foreground.</a:t>
            </a:r>
          </a:p>
        </p:txBody>
      </p:sp>
      <p:sp>
        <p:nvSpPr>
          <p:cNvPr id="6" name="">
            <a:extLst xmlns:a="http://schemas.openxmlformats.org/drawingml/2006/main">
              <a:ext uri="{FF2B5EF4-FFF2-40B4-BE49-F238E27FC236}">
                <a16:creationId xmlns:a16="http://schemas.microsoft.com/office/drawing/2014/main" id="{BE05747E-5E11-4B03-BD75-79EEDE1FA79D}"/>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Bandingkan seed pada dua rasio untuk melihat keterbatasan.</a:t>
            </a:r>
          </a:p>
        </p:txBody>
      </p:sp>
      <p:sp>
        <p:nvSpPr>
          <p:cNvPr id="7" name="">
            <a:extLst xmlns:a="http://schemas.openxmlformats.org/drawingml/2006/main">
              <a:ext uri="{FF2B5EF4-FFF2-40B4-BE49-F238E27FC236}">
                <a16:creationId xmlns:a16="http://schemas.microsoft.com/office/drawing/2014/main" id="{1D1B8690-D375-4DD6-AD08-A5ED0EB2BDD0}"/>
              </a:ext>
            </a:extLst>
          </p:cNvPr>
          <p:cNvSpPr>
            <a:spLocks xmlns:a="http://schemas.openxmlformats.org/drawingml/2006/main" noGrp="1"/>
          </p:cNvSpPr>
          <p:nvPr/>
        </p:nvSpPr>
        <p:spPr>
          <a:xfrm xmlns:a="http://schemas.openxmlformats.org/drawingml/2006/main">
            <a:off x="61436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Rasio 0,50 → 24 seed; rasio 0,35 → 5 seed.</a:t>
            </a:r>
          </a:p>
        </p:txBody>
      </p:sp>
    </p:spTree>
    <p:extLst>
      <p:ext uri="{BB962C8B-B14F-4D97-AF65-F5344CB8AC3E}">
        <p14:creationId xmlns:p14="http://schemas.microsoft.com/office/powerpoint/2010/main" val="1825524611"/>
      </p:ext>
    </p:extLst>
  </p:cSld>
</p:sld>
</file>

<file path=ppt/slides/slide3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8D69DE-E169-441F-94B7-A7F6047A2EE3}"/>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B: known background dan unknown</a:t>
            </a:r>
          </a:p>
        </p:txBody>
      </p:sp>
      <p:sp>
        <p:nvSpPr>
          <p:cNvPr id="2" name="">
            <a:extLst xmlns:a="http://schemas.openxmlformats.org/drawingml/2006/main">
              <a:ext uri="{FF2B5EF4-FFF2-40B4-BE49-F238E27FC236}">
                <a16:creationId xmlns:a16="http://schemas.microsoft.com/office/drawing/2014/main" id="{7833F969-0AF2-4EF7-8686-99E718A8A85C}"/>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519354ae3384874"/>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49B11C-6C8C-44F9-9A53-2FF64BDDAA50}"/>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Envelope = dilasi mask bersih.</a:t>
            </a:r>
          </a:p>
        </p:txBody>
      </p:sp>
      <p:sp>
        <p:nvSpPr>
          <p:cNvPr id="5" name="">
            <a:extLst xmlns:a="http://schemas.openxmlformats.org/drawingml/2006/main">
              <a:ext uri="{FF2B5EF4-FFF2-40B4-BE49-F238E27FC236}">
                <a16:creationId xmlns:a16="http://schemas.microsoft.com/office/drawing/2014/main" id="{54120EB0-206A-463C-B1BE-100BEE61A552}"/>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Unknown = envelope − sure foreground.</a:t>
            </a:r>
          </a:p>
        </p:txBody>
      </p:sp>
      <p:sp>
        <p:nvSpPr>
          <p:cNvPr id="6" name="">
            <a:extLst xmlns:a="http://schemas.openxmlformats.org/drawingml/2006/main">
              <a:ext uri="{FF2B5EF4-FFF2-40B4-BE49-F238E27FC236}">
                <a16:creationId xmlns:a16="http://schemas.microsoft.com/office/drawing/2014/main" id="{05B6A24C-CE7C-444C-87A8-C0666472D06B}"/>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Bagian di luar envelope menjadi known background.</a:t>
            </a:r>
          </a:p>
        </p:txBody>
      </p:sp>
    </p:spTree>
    <p:extLst>
      <p:ext uri="{BB962C8B-B14F-4D97-AF65-F5344CB8AC3E}">
        <p14:creationId xmlns:p14="http://schemas.microsoft.com/office/powerpoint/2010/main" val="1640906366"/>
      </p:ext>
    </p:extLst>
  </p:cSld>
</p:sld>
</file>

<file path=ppt/slides/slide33.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4AAA11-5DBD-43BD-A6A4-AD275885AD7D}"/>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B: marker dan Watershed</a:t>
            </a:r>
          </a:p>
        </p:txBody>
      </p:sp>
      <p:sp>
        <p:nvSpPr>
          <p:cNvPr id="2" name="">
            <a:extLst xmlns:a="http://schemas.openxmlformats.org/drawingml/2006/main">
              <a:ext uri="{FF2B5EF4-FFF2-40B4-BE49-F238E27FC236}">
                <a16:creationId xmlns:a16="http://schemas.microsoft.com/office/drawing/2014/main" id="{BC939BC4-327A-43FF-BB11-1B89DD79701E}"/>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a237374b196458c"/>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C00100-7C5A-4542-A8B4-95C85A77B59A}"/>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Periksa label 1, 0, dan ≥2 sebelum proses.</a:t>
            </a:r>
          </a:p>
        </p:txBody>
      </p:sp>
      <p:sp>
        <p:nvSpPr>
          <p:cNvPr id="5" name="">
            <a:extLst xmlns:a="http://schemas.openxmlformats.org/drawingml/2006/main">
              <a:ext uri="{FF2B5EF4-FFF2-40B4-BE49-F238E27FC236}">
                <a16:creationId xmlns:a16="http://schemas.microsoft.com/office/drawing/2014/main" id="{145C97F4-B783-41FF-BA77-47DCEBF41B5F}"/>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Jalankan Watershed pada citra BGR dan marker int32.</a:t>
            </a:r>
          </a:p>
        </p:txBody>
      </p:sp>
      <p:sp>
        <p:nvSpPr>
          <p:cNvPr id="6" name="">
            <a:extLst xmlns:a="http://schemas.openxmlformats.org/drawingml/2006/main">
              <a:ext uri="{FF2B5EF4-FFF2-40B4-BE49-F238E27FC236}">
                <a16:creationId xmlns:a16="http://schemas.microsoft.com/office/drawing/2014/main" id="{F3FB2067-2362-4622-B32D-B0AEB1E4EC54}"/>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Tampilkan hasil label serta boundary −1.</a:t>
            </a:r>
          </a:p>
        </p:txBody>
      </p:sp>
    </p:spTree>
    <p:extLst>
      <p:ext uri="{BB962C8B-B14F-4D97-AF65-F5344CB8AC3E}">
        <p14:creationId xmlns:p14="http://schemas.microsoft.com/office/powerpoint/2010/main" val="293585720"/>
      </p:ext>
    </p:extLst>
  </p:cSld>
</p:sld>
</file>

<file path=ppt/slides/slide34.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C115E0-B6F6-4CD8-A860-2E5A60E8E058}"/>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B: label, count, dan keterbatasan</a:t>
            </a:r>
          </a:p>
        </p:txBody>
      </p:sp>
      <p:sp>
        <p:nvSpPr>
          <p:cNvPr id="2" name="">
            <a:extLst xmlns:a="http://schemas.openxmlformats.org/drawingml/2006/main">
              <a:ext uri="{FF2B5EF4-FFF2-40B4-BE49-F238E27FC236}">
                <a16:creationId xmlns:a16="http://schemas.microsoft.com/office/drawing/2014/main" id="{0EF5C19F-1D4E-4923-8819-E58D0E820B34}"/>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79bfdbd6554916"/>
          <a:stretch xmlns:a="http://schemas.openxmlformats.org/drawingml/2006/main"/>
        </p:blipFill>
        <p:spPr>
          <a:xfrm xmlns:a="http://schemas.openxmlformats.org/drawingml/2006/main">
            <a:off x="2065993" y="1285875"/>
            <a:ext cx="8060014"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E4D94B-2B62-4AF4-BFA8-9EBF0A5A679A}"/>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Bandingkan referensi visual, komponen, seed, dan label valid.</a:t>
            </a:r>
          </a:p>
        </p:txBody>
      </p:sp>
      <p:sp>
        <p:nvSpPr>
          <p:cNvPr id="5" name="">
            <a:extLst xmlns:a="http://schemas.openxmlformats.org/drawingml/2006/main">
              <a:ext uri="{FF2B5EF4-FFF2-40B4-BE49-F238E27FC236}">
                <a16:creationId xmlns:a16="http://schemas.microsoft.com/office/drawing/2014/main" id="{F57B9234-6734-4EB1-876D-B30D8BA19650}"/>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Hitung ID unik sesuai aturan filter.</a:t>
            </a:r>
          </a:p>
        </p:txBody>
      </p:sp>
      <p:sp>
        <p:nvSpPr>
          <p:cNvPr id="6" name="">
            <a:extLst xmlns:a="http://schemas.openxmlformats.org/drawingml/2006/main">
              <a:ext uri="{FF2B5EF4-FFF2-40B4-BE49-F238E27FC236}">
                <a16:creationId xmlns:a16="http://schemas.microsoft.com/office/drawing/2014/main" id="{02BA15B1-4157-4AB2-AD9A-2E6CFA066F5F}"/>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Overlay tetap diperiksa walaupun total cocok.</a:t>
            </a:r>
          </a:p>
        </p:txBody>
      </p:sp>
      <p:sp>
        <p:nvSpPr>
          <p:cNvPr id="7" name="">
            <a:extLst xmlns:a="http://schemas.openxmlformats.org/drawingml/2006/main">
              <a:ext uri="{FF2B5EF4-FFF2-40B4-BE49-F238E27FC236}">
                <a16:creationId xmlns:a16="http://schemas.microsoft.com/office/drawing/2014/main" id="{BE26946B-CBFA-4B27-B56D-31A5FA7B80EE}"/>
              </a:ext>
            </a:extLst>
          </p:cNvPr>
          <p:cNvSpPr>
            <a:spLocks xmlns:a="http://schemas.openxmlformats.org/drawingml/2006/main" noGrp="1"/>
          </p:cNvSpPr>
          <p:nvPr/>
        </p:nvSpPr>
        <p:spPr>
          <a:xfrm xmlns:a="http://schemas.openxmlformats.org/drawingml/2006/main">
            <a:off x="61436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Referensi 24 • seed 24 • label valid 24; minarea 50 px.</a:t>
            </a:r>
          </a:p>
        </p:txBody>
      </p:sp>
    </p:spTree>
    <p:extLst>
      <p:ext uri="{BB962C8B-B14F-4D97-AF65-F5344CB8AC3E}">
        <p14:creationId xmlns:p14="http://schemas.microsoft.com/office/powerpoint/2010/main" val="1196457071"/>
      </p:ext>
    </p:extLst>
  </p:cSld>
</p:sld>
</file>

<file path=ppt/slides/slide35.xml><?xml version="1.0" encoding="utf-8"?>
<p:sld xmlns:p="http://schemas.openxmlformats.org/presentationml/2006/main">
  <p:cSld>
    <p:bg>
      <p:bgPr>
        <a:solidFill xmlns:a="http://schemas.openxmlformats.org/drawingml/2006/main">
          <a:srgbClr val="FFF1C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2B9892-E0AF-4645-BE47-FE399A929F01}"/>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Demo C: HSV, mask, dan overlay</a:t>
            </a:r>
          </a:p>
        </p:txBody>
      </p:sp>
      <p:sp>
        <p:nvSpPr>
          <p:cNvPr id="2" name="">
            <a:extLst xmlns:a="http://schemas.openxmlformats.org/drawingml/2006/main">
              <a:ext uri="{FF2B5EF4-FFF2-40B4-BE49-F238E27FC236}">
                <a16:creationId xmlns:a16="http://schemas.microsoft.com/office/drawing/2014/main" id="{31F7467D-D3F3-4366-A54D-56C6A8BDFA7B}"/>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cb60fbe321b4a7f"/>
          <a:stretch xmlns:a="http://schemas.openxmlformats.org/drawingml/2006/main"/>
        </p:blipFill>
        <p:spPr>
          <a:xfrm xmlns:a="http://schemas.openxmlformats.org/drawingml/2006/main">
            <a:off x="3031527" y="1285875"/>
            <a:ext cx="6128945"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36152A-C6FB-43EC-82EE-D346B455700A}"/>
              </a:ext>
            </a:extLst>
          </p:cNvPr>
          <p:cNvSpPr>
            <a:spLocks xmlns:a="http://schemas.openxmlformats.org/drawingml/2006/main" noGrp="1"/>
          </p:cNvSpPr>
          <p:nvPr/>
        </p:nvSpPr>
        <p:spPr>
          <a:xfrm xmlns:a="http://schemas.openxmlformats.org/drawingml/2006/main">
            <a:off x="6191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1">
                <a:solidFill>
                  <a:srgbClr val="142443"/>
                </a:solidFill>
                <a:latin typeface="Arial"/>
                <a:ea typeface="Arial"/>
                <a:cs typeface="Arial"/>
              </a:defRPr>
            </a:pPr>
            <a:r>
              <a:rPr sz="1950" b="1">
                <a:solidFill>
                  <a:srgbClr val="142443"/>
                </a:solidFill>
                <a:latin typeface="Arial"/>
                <a:ea typeface="Arial"/>
                <a:cs typeface="Arial"/>
              </a:rPr>
              <a:t>BGR → HSV; dua interval merah digabung OR.</a:t>
            </a:r>
          </a:p>
        </p:txBody>
      </p:sp>
      <p:sp>
        <p:nvSpPr>
          <p:cNvPr id="5" name="">
            <a:extLst xmlns:a="http://schemas.openxmlformats.org/drawingml/2006/main">
              <a:ext uri="{FF2B5EF4-FFF2-40B4-BE49-F238E27FC236}">
                <a16:creationId xmlns:a16="http://schemas.microsoft.com/office/drawing/2014/main" id="{98C22C4B-6F96-435F-80EC-B6D9005EA355}"/>
              </a:ext>
            </a:extLst>
          </p:cNvPr>
          <p:cNvSpPr>
            <a:spLocks xmlns:a="http://schemas.openxmlformats.org/drawingml/2006/main" noGrp="1"/>
          </p:cNvSpPr>
          <p:nvPr/>
        </p:nvSpPr>
        <p:spPr>
          <a:xfrm xmlns:a="http://schemas.openxmlformats.org/drawingml/2006/main">
            <a:off x="6143625" y="49339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Tampilkan mask merah dan oranye sebelum box.</a:t>
            </a:r>
          </a:p>
        </p:txBody>
      </p:sp>
      <p:sp>
        <p:nvSpPr>
          <p:cNvPr id="6" name="">
            <a:extLst xmlns:a="http://schemas.openxmlformats.org/drawingml/2006/main">
              <a:ext uri="{FF2B5EF4-FFF2-40B4-BE49-F238E27FC236}">
                <a16:creationId xmlns:a16="http://schemas.microsoft.com/office/drawing/2014/main" id="{3BBE3A9F-9042-4819-AE8F-B49CE6C3462E}"/>
              </a:ext>
            </a:extLst>
          </p:cNvPr>
          <p:cNvSpPr>
            <a:spLocks xmlns:a="http://schemas.openxmlformats.org/drawingml/2006/main" noGrp="1"/>
          </p:cNvSpPr>
          <p:nvPr/>
        </p:nvSpPr>
        <p:spPr>
          <a:xfrm xmlns:a="http://schemas.openxmlformats.org/drawingml/2006/main">
            <a:off x="6191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Label keluaran menyatakan seleksi warna.</a:t>
            </a:r>
          </a:p>
        </p:txBody>
      </p:sp>
      <p:sp>
        <p:nvSpPr>
          <p:cNvPr id="7" name="">
            <a:extLst xmlns:a="http://schemas.openxmlformats.org/drawingml/2006/main">
              <a:ext uri="{FF2B5EF4-FFF2-40B4-BE49-F238E27FC236}">
                <a16:creationId xmlns:a16="http://schemas.microsoft.com/office/drawing/2014/main" id="{BB4995A5-B815-4323-ACAB-5C725A7EFFC3}"/>
              </a:ext>
            </a:extLst>
          </p:cNvPr>
          <p:cNvSpPr>
            <a:spLocks xmlns:a="http://schemas.openxmlformats.org/drawingml/2006/main" noGrp="1"/>
          </p:cNvSpPr>
          <p:nvPr/>
        </p:nvSpPr>
        <p:spPr>
          <a:xfrm xmlns:a="http://schemas.openxmlformats.org/drawingml/2006/main">
            <a:off x="6143625" y="56769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950" b="0">
                <a:solidFill>
                  <a:srgbClr val="142443"/>
                </a:solidFill>
                <a:latin typeface="Arial"/>
                <a:ea typeface="Arial"/>
                <a:cs typeface="Arial"/>
              </a:defRPr>
            </a:pPr>
            <a:r>
              <a:rPr sz="1950" b="0">
                <a:solidFill>
                  <a:srgbClr val="142443"/>
                </a:solidFill>
                <a:latin typeface="Arial"/>
                <a:ea typeface="Arial"/>
                <a:cs typeface="Arial"/>
              </a:rPr>
              <a:t>Merah 0..10 OR 165..179; oranye 13..28; S≥80, V≥45.</a:t>
            </a:r>
          </a:p>
        </p:txBody>
      </p:sp>
    </p:spTree>
    <p:extLst>
      <p:ext uri="{BB962C8B-B14F-4D97-AF65-F5344CB8AC3E}">
        <p14:creationId xmlns:p14="http://schemas.microsoft.com/office/powerpoint/2010/main" val="200918715"/>
      </p:ext>
    </p:extLst>
  </p:cSld>
</p:sld>
</file>

<file path=ppt/slides/slide36.xml><?xml version="1.0" encoding="utf-8"?>
<p:sld xmlns:p="http://schemas.openxmlformats.org/presentationml/2006/main">
  <p:cSld>
    <p:bg>
      <p:bgPr>
        <a:solidFill xmlns:a="http://schemas.openxmlformats.org/drawingml/2006/main">
          <a:srgbClr val="EEE9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26D11B-CC89-42AE-AEA8-E6AB3D450257}"/>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Replay mahasiswa 50 menit</a:t>
            </a:r>
          </a:p>
        </p:txBody>
      </p:sp>
      <p:sp>
        <p:nvSpPr>
          <p:cNvPr id="2" name="">
            <a:extLst xmlns:a="http://schemas.openxmlformats.org/drawingml/2006/main">
              <a:ext uri="{FF2B5EF4-FFF2-40B4-BE49-F238E27FC236}">
                <a16:creationId xmlns:a16="http://schemas.microsoft.com/office/drawing/2014/main" id="{195F4961-F8FD-4DA7-B9EE-F999164A8F39}"/>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B3C4C3C1-DD5D-4655-86FD-EB4D3916F3AA}"/>
              </a:ext>
            </a:extLst>
          </p:cNvPr>
          <p:cNvSpPr>
            <a:spLocks xmlns:a="http://schemas.openxmlformats.org/drawingml/2006/main" noGrp="1"/>
          </p:cNvSpPr>
          <p:nvPr/>
        </p:nvSpPr>
        <p:spPr>
          <a:xfrm xmlns:a="http://schemas.openxmlformats.org/drawingml/2006/main">
            <a:off x="666750" y="16192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1">
                <a:solidFill>
                  <a:srgbClr val="142443"/>
                </a:solidFill>
                <a:latin typeface="Arial"/>
                <a:ea typeface="Arial"/>
                <a:cs typeface="Arial"/>
              </a:defRPr>
            </a:pPr>
            <a:r>
              <a:rPr sz="2625" b="1">
                <a:solidFill>
                  <a:srgbClr val="142443"/>
                </a:solidFill>
                <a:latin typeface="Arial"/>
                <a:ea typeface="Arial"/>
                <a:cs typeface="Arial"/>
              </a:rPr>
              <a:t>Jalankan notebook mahasiswa dari sel pertama.</a:t>
            </a:r>
          </a:p>
        </p:txBody>
      </p:sp>
      <p:sp>
        <p:nvSpPr>
          <p:cNvPr id="4" name="">
            <a:extLst xmlns:a="http://schemas.openxmlformats.org/drawingml/2006/main">
              <a:ext uri="{FF2B5EF4-FFF2-40B4-BE49-F238E27FC236}">
                <a16:creationId xmlns:a16="http://schemas.microsoft.com/office/drawing/2014/main" id="{15D0CD25-4FDA-40A6-87C1-2CA43201C4D9}"/>
              </a:ext>
            </a:extLst>
          </p:cNvPr>
          <p:cNvSpPr>
            <a:spLocks xmlns:a="http://schemas.openxmlformats.org/drawingml/2006/main" noGrp="1"/>
          </p:cNvSpPr>
          <p:nvPr/>
        </p:nvSpPr>
        <p:spPr>
          <a:xfrm xmlns:a="http://schemas.openxmlformats.org/drawingml/2006/main">
            <a:off x="666750" y="285750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Ulangi data, parameter, dan kode inti demonstrasi.</a:t>
            </a:r>
          </a:p>
        </p:txBody>
      </p:sp>
      <p:sp>
        <p:nvSpPr>
          <p:cNvPr id="5" name="">
            <a:extLst xmlns:a="http://schemas.openxmlformats.org/drawingml/2006/main">
              <a:ext uri="{FF2B5EF4-FFF2-40B4-BE49-F238E27FC236}">
                <a16:creationId xmlns:a16="http://schemas.microsoft.com/office/drawing/2014/main" id="{E1551D30-F1DD-489D-BB97-4293E63D4665}"/>
              </a:ext>
            </a:extLst>
          </p:cNvPr>
          <p:cNvSpPr>
            <a:spLocks xmlns:a="http://schemas.openxmlformats.org/drawingml/2006/main" noGrp="1"/>
          </p:cNvSpPr>
          <p:nvPr/>
        </p:nvSpPr>
        <p:spPr>
          <a:xfrm xmlns:a="http://schemas.openxmlformats.org/drawingml/2006/main">
            <a:off x="666750" y="40957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Isi pengamatan tertulis sesudah keluaran muncul.</a:t>
            </a:r>
          </a:p>
        </p:txBody>
      </p:sp>
    </p:spTree>
    <p:extLst>
      <p:ext uri="{BB962C8B-B14F-4D97-AF65-F5344CB8AC3E}">
        <p14:creationId xmlns:p14="http://schemas.microsoft.com/office/powerpoint/2010/main" val="1652838235"/>
      </p:ext>
    </p:extLst>
  </p:cSld>
</p:sld>
</file>

<file path=ppt/slides/slide3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DBF8BA-3356-4E93-897B-549B4374E6F5}"/>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Bukti pengumpulan dan rubrik</a:t>
            </a:r>
          </a:p>
        </p:txBody>
      </p:sp>
      <p:sp>
        <p:nvSpPr>
          <p:cNvPr id="2" name="">
            <a:extLst xmlns:a="http://schemas.openxmlformats.org/drawingml/2006/main">
              <a:ext uri="{FF2B5EF4-FFF2-40B4-BE49-F238E27FC236}">
                <a16:creationId xmlns:a16="http://schemas.microsoft.com/office/drawing/2014/main" id="{3E4D59E3-57C3-493A-8286-2CC71C946C33}"/>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37</a:t>
            </a:r>
          </a:p>
        </p:txBody>
      </p:sp>
      <p:sp>
        <p:nvSpPr>
          <p:cNvPr id="3" name="">
            <a:extLst xmlns:a="http://schemas.openxmlformats.org/drawingml/2006/main">
              <a:ext uri="{FF2B5EF4-FFF2-40B4-BE49-F238E27FC236}">
                <a16:creationId xmlns:a16="http://schemas.microsoft.com/office/drawing/2014/main" id="{C07C662D-A213-47E8-B272-734EC3E639D2}"/>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Dokumen 30% • Watershed 40% • HSV 20% • pengamatan 10%.</a:t>
            </a:r>
          </a:p>
        </p:txBody>
      </p:sp>
      <p:graphicFrame>
        <p:nvGraphicFramePr>
          <p:cNvPr id="9" name=""/>
          <p:cNvGraphicFramePr/>
          <p:nvPr/>
        </p:nvGraphicFramePr>
        <p:xfrm>
          <a:off xmlns:a="http://schemas.openxmlformats.org/drawingml/2006/main" x="619125" y="2190750"/>
          <a:ext xmlns:a="http://schemas.openxmlformats.org/drawingml/2006/main" cx="10934700" cy="3095625"/>
        </p:xfrm>
        <a:graphic xmlns:a="http://schemas.openxmlformats.org/drawingml/2006/main">
          <a:graphicData uri="http://schemas.openxmlformats.org/drawingml/2006/table">
            <a:tbl>
              <a:tblPr firstRow="1" bandRow="0"/>
              <a:tblGrid>
                <a:gridCol w="3644900"/>
                <a:gridCol w="3644900"/>
                <a:gridCol w="3644900"/>
              </a:tblGrid>
              <a:tr h="619125">
                <a:tc>
                  <a:txBody>
                    <a:bodyPr/>
                    <a:lstStyle/>
                    <a:p>
                      <a:pPr algn="ctr"/>
                      <a:r>
                        <a:rPr sz="1875" b="1">
                          <a:solidFill>
                            <a:srgbClr val="FFFFFF"/>
                          </a:solidFill>
                          <a:latin typeface="Arial"/>
                          <a:ea typeface="Arial"/>
                          <a:cs typeface="Arial"/>
                        </a:rPr>
                        <a:t>Bagian</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Bobot</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Bukti utama</a:t>
                      </a:r>
                    </a:p>
                  </a:txBody>
                  <a:tcPr marL="91440" marR="91440" marT="45720" marB="45720" anchor="ctr">
                    <a:solidFill>
                      <a:srgbClr val="10204B"/>
                    </a:solidFill>
                  </a:tcPr>
                </a:tc>
              </a:tr>
              <a:tr h="619125">
                <a:tc>
                  <a:txBody>
                    <a:bodyPr/>
                    <a:lstStyle/>
                    <a:p>
                      <a:pPr algn="ctr"/>
                      <a:r>
                        <a:rPr sz="1875" b="0">
                          <a:solidFill>
                            <a:srgbClr val="142443"/>
                          </a:solidFill>
                          <a:latin typeface="Arial"/>
                          <a:ea typeface="Arial"/>
                          <a:cs typeface="Arial"/>
                        </a:rPr>
                        <a:t>Dokumen</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30%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Tiga mask, ROI, parameter</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Watershed</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40%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Tahap marker, count, overlay</a:t>
                      </a:r>
                    </a:p>
                  </a:txBody>
                  <a:tcPr marL="91440" marR="91440" marT="45720" marB="45720" anchor="ctr">
                    <a:solidFill>
                      <a:srgbClr val="F3F7FC"/>
                    </a:solidFill>
                  </a:tcPr>
                </a:tc>
              </a:tr>
              <a:tr h="619125">
                <a:tc>
                  <a:txBody>
                    <a:bodyPr/>
                    <a:lstStyle/>
                    <a:p>
                      <a:pPr algn="ctr"/>
                      <a:r>
                        <a:rPr sz="1875" b="0">
                          <a:solidFill>
                            <a:srgbClr val="142443"/>
                          </a:solidFill>
                          <a:latin typeface="Arial"/>
                          <a:ea typeface="Arial"/>
                          <a:cs typeface="Arial"/>
                        </a:rPr>
                        <a:t>HSV</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20%</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Dua mask, rentang, overlay</a:t>
                      </a:r>
                    </a:p>
                  </a:txBody>
                  <a:tcPr marL="91440" marR="91440" marT="45720" marB="45720" anchor="ctr">
                    <a:solidFill>
                      <a:srgbClr val="FFFFFF"/>
                    </a:solidFill>
                  </a:tcPr>
                </a:tc>
              </a:tr>
              <a:tr h="619125">
                <a:tc>
                  <a:txBody>
                    <a:bodyPr/>
                    <a:lstStyle/>
                    <a:p>
                      <a:pPr algn="ctr"/>
                      <a:r>
                        <a:rPr sz="1875" b="0">
                          <a:solidFill>
                            <a:srgbClr val="142443"/>
                          </a:solidFill>
                          <a:latin typeface="Arial"/>
                          <a:ea typeface="Arial"/>
                          <a:cs typeface="Arial"/>
                        </a:rPr>
                        <a:t>Pengamatan</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10%</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Alasan merujuk gambar</a:t>
                      </a:r>
                    </a:p>
                  </a:txBody>
                  <a:tcPr marL="91440" marR="91440" marT="45720" marB="45720" anchor="ctr">
                    <a:solidFill>
                      <a:srgbClr val="F3F7FC"/>
                    </a:solidFill>
                  </a:tcPr>
                </a:tc>
              </a:tr>
            </a:tbl>
          </a:graphicData>
        </a:graphic>
      </p:graphicFrame>
      <p:sp>
        <p:nvSpPr>
          <p:cNvPr id="5" name="">
            <a:extLst xmlns:a="http://schemas.openxmlformats.org/drawingml/2006/main">
              <a:ext uri="{FF2B5EF4-FFF2-40B4-BE49-F238E27FC236}">
                <a16:creationId xmlns:a16="http://schemas.microsoft.com/office/drawing/2014/main" id="{99A90BF1-D54F-4D20-ADFA-29F17CAE4280}"/>
              </a:ext>
            </a:extLst>
          </p:cNvPr>
          <p:cNvSpPr>
            <a:spLocks xmlns:a="http://schemas.openxmlformats.org/drawingml/2006/main" noGrp="1"/>
          </p:cNvSpPr>
          <p:nvPr/>
        </p:nvSpPr>
        <p:spPr>
          <a:xfrm xmlns:a="http://schemas.openxmlformats.org/drawingml/2006/main">
            <a:off x="647700" y="555307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Simpan keluaran inti dan isi penjelasan berbukti.</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Gunakan waktu ini untuk replay serta pengamatan.</a:t>
            </a:r>
          </a:p>
        </p:txBody>
      </p:sp>
    </p:spTree>
    <p:extLst>
      <p:ext uri="{BB962C8B-B14F-4D97-AF65-F5344CB8AC3E}">
        <p14:creationId xmlns:p14="http://schemas.microsoft.com/office/powerpoint/2010/main" val="388892156"/>
      </p:ext>
    </p:extLst>
  </p:cSld>
</p:sld>
</file>

<file path=ppt/slides/slide38.xml><?xml version="1.0" encoding="utf-8"?>
<p:sld xmlns:p="http://schemas.openxmlformats.org/presentationml/2006/main">
  <p:cSld>
    <p:bg>
      <p:bgPr>
        <a:solidFill xmlns:a="http://schemas.openxmlformats.org/drawingml/2006/main">
          <a:srgbClr val="EAF5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14B9D5-6FE3-46CC-9D84-C638EF063BDE}"/>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Eksperimen opsional</a:t>
            </a:r>
          </a:p>
        </p:txBody>
      </p:sp>
      <p:sp>
        <p:nvSpPr>
          <p:cNvPr id="2" name="">
            <a:extLst xmlns:a="http://schemas.openxmlformats.org/drawingml/2006/main">
              <a:ext uri="{FF2B5EF4-FFF2-40B4-BE49-F238E27FC236}">
                <a16:creationId xmlns:a16="http://schemas.microsoft.com/office/drawing/2014/main" id="{CA9AF56F-02A8-4B96-AF5A-BEFEB639CB72}"/>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25300273-E706-463A-AF32-5D993287BF68}"/>
              </a:ext>
            </a:extLst>
          </p:cNvPr>
          <p:cNvSpPr>
            <a:spLocks xmlns:a="http://schemas.openxmlformats.org/drawingml/2006/main" noGrp="1"/>
          </p:cNvSpPr>
          <p:nvPr/>
        </p:nvSpPr>
        <p:spPr>
          <a:xfrm xmlns:a="http://schemas.openxmlformats.org/drawingml/2006/main">
            <a:off x="666750" y="16192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1">
                <a:solidFill>
                  <a:srgbClr val="142443"/>
                </a:solidFill>
                <a:latin typeface="Arial"/>
                <a:ea typeface="Arial"/>
                <a:cs typeface="Arial"/>
              </a:defRPr>
            </a:pPr>
            <a:r>
              <a:rPr sz="2625" b="1">
                <a:solidFill>
                  <a:srgbClr val="142443"/>
                </a:solidFill>
                <a:latin typeface="Arial"/>
                <a:ea typeface="Arial"/>
                <a:cs typeface="Arial"/>
              </a:rPr>
              <a:t>Sesudah tugas inti: ubah satu parameter.</a:t>
            </a:r>
          </a:p>
        </p:txBody>
      </p:sp>
      <p:sp>
        <p:nvSpPr>
          <p:cNvPr id="4" name="">
            <a:extLst xmlns:a="http://schemas.openxmlformats.org/drawingml/2006/main">
              <a:ext uri="{FF2B5EF4-FFF2-40B4-BE49-F238E27FC236}">
                <a16:creationId xmlns:a16="http://schemas.microsoft.com/office/drawing/2014/main" id="{B76E1CCA-DC0C-497F-966E-28A1AB2591D4}"/>
              </a:ext>
            </a:extLst>
          </p:cNvPr>
          <p:cNvSpPr>
            <a:spLocks xmlns:a="http://schemas.openxmlformats.org/drawingml/2006/main" noGrp="1"/>
          </p:cNvSpPr>
          <p:nvPr/>
        </p:nvSpPr>
        <p:spPr>
          <a:xfrm xmlns:a="http://schemas.openxmlformats.org/drawingml/2006/main">
            <a:off x="666750" y="285750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Atau unggah foto sendiri melalui sel opsional.</a:t>
            </a:r>
          </a:p>
        </p:txBody>
      </p:sp>
      <p:sp>
        <p:nvSpPr>
          <p:cNvPr id="5" name="">
            <a:extLst xmlns:a="http://schemas.openxmlformats.org/drawingml/2006/main">
              <a:ext uri="{FF2B5EF4-FFF2-40B4-BE49-F238E27FC236}">
                <a16:creationId xmlns:a16="http://schemas.microsoft.com/office/drawing/2014/main" id="{7E7C6529-DB27-4C8C-81D9-DD679858DA54}"/>
              </a:ext>
            </a:extLst>
          </p:cNvPr>
          <p:cNvSpPr>
            <a:spLocks xmlns:a="http://schemas.openxmlformats.org/drawingml/2006/main" noGrp="1"/>
          </p:cNvSpPr>
          <p:nvPr/>
        </p:nvSpPr>
        <p:spPr>
          <a:xfrm xmlns:a="http://schemas.openxmlformats.org/drawingml/2006/main">
            <a:off x="666750" y="40957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142443"/>
                </a:solidFill>
                <a:latin typeface="Arial"/>
                <a:ea typeface="Arial"/>
                <a:cs typeface="Arial"/>
              </a:defRPr>
            </a:pPr>
            <a:r>
              <a:rPr sz="2625" b="0">
                <a:solidFill>
                  <a:srgbClr val="142443"/>
                </a:solidFill>
                <a:latin typeface="Arial"/>
                <a:ea typeface="Arial"/>
                <a:cs typeface="Arial"/>
              </a:rPr>
              <a:t>Bandingkan hasil tanpa menimpa data inti.</a:t>
            </a:r>
          </a:p>
        </p:txBody>
      </p:sp>
    </p:spTree>
    <p:extLst>
      <p:ext uri="{BB962C8B-B14F-4D97-AF65-F5344CB8AC3E}">
        <p14:creationId xmlns:p14="http://schemas.microsoft.com/office/powerpoint/2010/main" val="572491695"/>
      </p:ext>
    </p:extLst>
  </p:cSld>
</p:sld>
</file>

<file path=ppt/slides/slide39.xml><?xml version="1.0" encoding="utf-8"?>
<p:sld xmlns:p="http://schemas.openxmlformats.org/presentationml/2006/main">
  <p:cSld>
    <p:bg>
      <p:bgPr>
        <a:solidFill xmlns:a="http://schemas.openxmlformats.org/drawingml/2006/main">
          <a:srgbClr val="E8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7C5323-2D97-46F8-9205-8E7E5952C2AA}"/>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10204B"/>
                </a:solidFill>
                <a:latin typeface="Arial"/>
                <a:ea typeface="Arial"/>
                <a:cs typeface="Arial"/>
              </a:defRPr>
            </a:pPr>
            <a:r>
              <a:rPr sz="3300" b="1">
                <a:solidFill>
                  <a:srgbClr val="10204B"/>
                </a:solidFill>
                <a:latin typeface="Arial"/>
                <a:ea typeface="Arial"/>
                <a:cs typeface="Arial"/>
              </a:rPr>
              <a:t>Troubleshooting dan rencana cadangan</a:t>
            </a:r>
          </a:p>
        </p:txBody>
      </p:sp>
      <p:sp>
        <p:nvSpPr>
          <p:cNvPr id="2" name="">
            <a:extLst xmlns:a="http://schemas.openxmlformats.org/drawingml/2006/main">
              <a:ext uri="{FF2B5EF4-FFF2-40B4-BE49-F238E27FC236}">
                <a16:creationId xmlns:a16="http://schemas.microsoft.com/office/drawing/2014/main" id="{0502E671-733E-4AEC-9FA0-7245C06982F9}"/>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4E6179"/>
                </a:solidFill>
                <a:latin typeface="Arial"/>
                <a:ea typeface="Arial"/>
                <a:cs typeface="Arial"/>
              </a:defRPr>
            </a:pPr>
            <a:r>
              <a:rPr sz="1500" b="0">
                <a:solidFill>
                  <a:srgbClr val="4E6179"/>
                </a:solidFill>
                <a:latin typeface="Arial"/>
                <a:ea typeface="Arial"/>
                <a:cs typeface="Arial"/>
              </a:rPr>
              <a:t>39</a:t>
            </a:r>
          </a:p>
        </p:txBody>
      </p:sp>
      <p:sp>
        <p:nvSpPr>
          <p:cNvPr id="3" name="">
            <a:extLst xmlns:a="http://schemas.openxmlformats.org/drawingml/2006/main">
              <a:ext uri="{FF2B5EF4-FFF2-40B4-BE49-F238E27FC236}">
                <a16:creationId xmlns:a16="http://schemas.microsoft.com/office/drawing/2014/main" id="{92E936BD-4ACE-45EE-81BA-9017027340BA}"/>
              </a:ext>
            </a:extLst>
          </p:cNvPr>
          <p:cNvSpPr>
            <a:spLocks xmlns:a="http://schemas.openxmlformats.org/drawingml/2006/main" noGrp="1"/>
          </p:cNvSpPr>
          <p:nvPr/>
        </p:nvSpPr>
        <p:spPr>
          <a:xfrm xmlns:a="http://schemas.openxmlformats.org/drawingml/2006/main">
            <a:off x="619125" y="1314450"/>
            <a:ext cx="10934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175" b="1">
                <a:solidFill>
                  <a:srgbClr val="142443"/>
                </a:solidFill>
                <a:latin typeface="Arial"/>
                <a:ea typeface="Arial"/>
                <a:cs typeface="Arial"/>
              </a:defRPr>
            </a:pPr>
            <a:r>
              <a:rPr sz="2175" b="1">
                <a:solidFill>
                  <a:srgbClr val="142443"/>
                </a:solidFill>
                <a:latin typeface="Arial"/>
                <a:ea typeface="Arial"/>
                <a:cs typeface="Arial"/>
              </a:rPr>
              <a:t>NameError: jalankan sel sebelumnya sesuai urutan.</a:t>
            </a:r>
          </a:p>
        </p:txBody>
      </p:sp>
      <p:graphicFrame>
        <p:nvGraphicFramePr>
          <p:cNvPr id="9" name=""/>
          <p:cNvGraphicFramePr/>
          <p:nvPr/>
        </p:nvGraphicFramePr>
        <p:xfrm>
          <a:off xmlns:a="http://schemas.openxmlformats.org/drawingml/2006/main" x="619125" y="2190750"/>
          <a:ext xmlns:a="http://schemas.openxmlformats.org/drawingml/2006/main" cx="10934700" cy="3429000"/>
        </p:xfrm>
        <a:graphic xmlns:a="http://schemas.openxmlformats.org/drawingml/2006/main">
          <a:graphicData uri="http://schemas.openxmlformats.org/drawingml/2006/table">
            <a:tbl>
              <a:tblPr firstRow="1" bandRow="0"/>
              <a:tblGrid>
                <a:gridCol w="5467350"/>
                <a:gridCol w="5467350"/>
              </a:tblGrid>
              <a:tr h="571500">
                <a:tc>
                  <a:txBody>
                    <a:bodyPr/>
                    <a:lstStyle/>
                    <a:p>
                      <a:pPr algn="ctr"/>
                      <a:r>
                        <a:rPr sz="1875" b="1">
                          <a:solidFill>
                            <a:srgbClr val="FFFFFF"/>
                          </a:solidFill>
                          <a:latin typeface="Arial"/>
                          <a:ea typeface="Arial"/>
                          <a:cs typeface="Arial"/>
                        </a:rPr>
                        <a:t>Gejala</a:t>
                      </a:r>
                    </a:p>
                  </a:txBody>
                  <a:tcPr marL="91440" marR="91440" marT="45720" marB="45720" anchor="ctr">
                    <a:solidFill>
                      <a:srgbClr val="10204B"/>
                    </a:solidFill>
                  </a:tcPr>
                </a:tc>
                <a:tc>
                  <a:txBody>
                    <a:bodyPr/>
                    <a:lstStyle/>
                    <a:p>
                      <a:pPr algn="ctr"/>
                      <a:r>
                        <a:rPr sz="1875" b="1">
                          <a:solidFill>
                            <a:srgbClr val="FFFFFF"/>
                          </a:solidFill>
                          <a:latin typeface="Arial"/>
                          <a:ea typeface="Arial"/>
                          <a:cs typeface="Arial"/>
                        </a:rPr>
                        <a:t>Periksa awal</a:t>
                      </a:r>
                    </a:p>
                  </a:txBody>
                  <a:tcPr marL="91440" marR="91440" marT="45720" marB="45720" anchor="ctr">
                    <a:solidFill>
                      <a:srgbClr val="10204B"/>
                    </a:solidFill>
                  </a:tcPr>
                </a:tc>
              </a:tr>
              <a:tr h="571500">
                <a:tc>
                  <a:txBody>
                    <a:bodyPr/>
                    <a:lstStyle/>
                    <a:p>
                      <a:pPr algn="ctr"/>
                      <a:r>
                        <a:rPr sz="1875" b="0">
                          <a:solidFill>
                            <a:srgbClr val="142443"/>
                          </a:solidFill>
                          <a:latin typeface="Arial"/>
                          <a:ea typeface="Arial"/>
                          <a:cs typeface="Arial"/>
                        </a:rPr>
                        <a:t>NameError</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Urutan sel</a:t>
                      </a:r>
                    </a:p>
                  </a:txBody>
                  <a:tcPr marL="91440" marR="91440" marT="45720" marB="45720" anchor="ctr">
                    <a:solidFill>
                      <a:srgbClr val="FFFFFF"/>
                    </a:solidFill>
                  </a:tcPr>
                </a:tc>
              </a:tr>
              <a:tr h="571500">
                <a:tc>
                  <a:txBody>
                    <a:bodyPr/>
                    <a:lstStyle/>
                    <a:p>
                      <a:pPr algn="ctr"/>
                      <a:r>
                        <a:rPr sz="1875" b="0">
                          <a:solidFill>
                            <a:srgbClr val="142443"/>
                          </a:solidFill>
                          <a:latin typeface="Arial"/>
                          <a:ea typeface="Arial"/>
                          <a:cs typeface="Arial"/>
                        </a:rPr>
                        <a:t>Foto biru/merah keliru</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BGR/RGB</a:t>
                      </a:r>
                    </a:p>
                  </a:txBody>
                  <a:tcPr marL="91440" marR="91440" marT="45720" marB="45720" anchor="ctr">
                    <a:solidFill>
                      <a:srgbClr val="F3F7FC"/>
                    </a:solidFill>
                  </a:tcPr>
                </a:tc>
              </a:tr>
              <a:tr h="571500">
                <a:tc>
                  <a:txBody>
                    <a:bodyPr/>
                    <a:lstStyle/>
                    <a:p>
                      <a:pPr algn="ctr"/>
                      <a:r>
                        <a:rPr sz="1875" b="0">
                          <a:solidFill>
                            <a:srgbClr val="142443"/>
                          </a:solidFill>
                          <a:latin typeface="Arial"/>
                          <a:ea typeface="Arial"/>
                          <a:cs typeface="Arial"/>
                        </a:rPr>
                        <a:t>Mask kosong</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Range dan polarity</a:t>
                      </a:r>
                    </a:p>
                  </a:txBody>
                  <a:tcPr marL="91440" marR="91440" marT="45720" marB="45720" anchor="ctr">
                    <a:solidFill>
                      <a:srgbClr val="FFFFFF"/>
                    </a:solidFill>
                  </a:tcPr>
                </a:tc>
              </a:tr>
              <a:tr h="571500">
                <a:tc>
                  <a:txBody>
                    <a:bodyPr/>
                    <a:lstStyle/>
                    <a:p>
                      <a:pPr algn="ctr"/>
                      <a:r>
                        <a:rPr sz="1875" b="0">
                          <a:solidFill>
                            <a:srgbClr val="142443"/>
                          </a:solidFill>
                          <a:latin typeface="Arial"/>
                          <a:ea typeface="Arial"/>
                          <a:cs typeface="Arial"/>
                        </a:rPr>
                        <a:t>Watershed error</a:t>
                      </a:r>
                    </a:p>
                  </a:txBody>
                  <a:tcPr marL="91440" marR="91440" marT="45720" marB="45720" anchor="ctr">
                    <a:solidFill>
                      <a:srgbClr val="F3F7FC"/>
                    </a:solidFill>
                  </a:tcPr>
                </a:tc>
                <a:tc>
                  <a:txBody>
                    <a:bodyPr/>
                    <a:lstStyle/>
                    <a:p>
                      <a:pPr algn="ctr"/>
                      <a:r>
                        <a:rPr sz="1875" b="0">
                          <a:solidFill>
                            <a:srgbClr val="142443"/>
                          </a:solidFill>
                          <a:latin typeface="Arial"/>
                          <a:ea typeface="Arial"/>
                          <a:cs typeface="Arial"/>
                        </a:rPr>
                        <a:t>BGR uint8 +marker int32</a:t>
                      </a:r>
                    </a:p>
                  </a:txBody>
                  <a:tcPr marL="91440" marR="91440" marT="45720" marB="45720" anchor="ctr">
                    <a:solidFill>
                      <a:srgbClr val="F3F7FC"/>
                    </a:solidFill>
                  </a:tcPr>
                </a:tc>
              </a:tr>
              <a:tr h="571500">
                <a:tc>
                  <a:txBody>
                    <a:bodyPr/>
                    <a:lstStyle/>
                    <a:p>
                      <a:pPr algn="ctr"/>
                      <a:r>
                        <a:rPr sz="1875" b="0">
                          <a:solidFill>
                            <a:srgbClr val="142443"/>
                          </a:solidFill>
                          <a:latin typeface="Arial"/>
                          <a:ea typeface="Arial"/>
                          <a:cs typeface="Arial"/>
                        </a:rPr>
                        <a:t>Runtime reset</a:t>
                      </a:r>
                    </a:p>
                  </a:txBody>
                  <a:tcPr marL="91440" marR="91440" marT="45720" marB="45720" anchor="ctr">
                    <a:solidFill>
                      <a:srgbClr val="FFFFFF"/>
                    </a:solidFill>
                  </a:tcPr>
                </a:tc>
                <a:tc>
                  <a:txBody>
                    <a:bodyPr/>
                    <a:lstStyle/>
                    <a:p>
                      <a:pPr algn="ctr"/>
                      <a:r>
                        <a:rPr sz="1875" b="0">
                          <a:solidFill>
                            <a:srgbClr val="142443"/>
                          </a:solidFill>
                          <a:latin typeface="Arial"/>
                          <a:ea typeface="Arial"/>
                          <a:cs typeface="Arial"/>
                        </a:rPr>
                        <a:t>Jalankan dari persiapan</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5682507-BEA6-47C7-9CE2-B9139BE2BB27}"/>
              </a:ext>
            </a:extLst>
          </p:cNvPr>
          <p:cNvSpPr>
            <a:spLocks xmlns:a="http://schemas.openxmlformats.org/drawingml/2006/main" noGrp="1"/>
          </p:cNvSpPr>
          <p:nvPr/>
        </p:nvSpPr>
        <p:spPr>
          <a:xfrm xmlns:a="http://schemas.openxmlformats.org/drawingml/2006/main">
            <a:off x="647700" y="58864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Mask kosong/terbalik: periksa input, polarity, dan rentang.</a:t>
            </a:r>
          </a:p>
          <a:p xmlns:a="http://schemas.openxmlformats.org/drawingml/2006/main">
            <a:pPr>
              <a:lnSpc>
                <a:spcPct val="106000"/>
              </a:lnSpc>
              <a:buNone/>
              <a:defRPr sz="2025" b="0">
                <a:solidFill>
                  <a:srgbClr val="007D82"/>
                </a:solidFill>
                <a:latin typeface="Arial"/>
                <a:ea typeface="Arial"/>
                <a:cs typeface="Arial"/>
              </a:defRPr>
            </a:pPr>
            <a:r>
              <a:rPr sz="2025" b="0">
                <a:solidFill>
                  <a:srgbClr val="007D82"/>
                </a:solidFill>
                <a:latin typeface="Arial"/>
                <a:ea typeface="Arial"/>
                <a:cs typeface="Arial"/>
              </a:rPr>
              <a:t>Saat koneksi gagal, gunakan hasil pengajar untuk membaca proses.</a:t>
            </a:r>
          </a:p>
        </p:txBody>
      </p:sp>
    </p:spTree>
    <p:extLst>
      <p:ext uri="{BB962C8B-B14F-4D97-AF65-F5344CB8AC3E}">
        <p14:creationId xmlns:p14="http://schemas.microsoft.com/office/powerpoint/2010/main" val="1875040181"/>
      </p:ext>
    </p:extLst>
  </p:cSld>
</p:sld>
</file>

<file path=ppt/slides/slide40.xml><?xml version="1.0" encoding="utf-8"?>
<p:sld xmlns:p="http://schemas.openxmlformats.org/presentationml/2006/main">
  <p:cSld>
    <p:bg>
      <p:bgPr>
        <a:solidFill xmlns:a="http://schemas.openxmlformats.org/drawingml/2006/main">
          <a:srgbClr val="1020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6D46EE-8204-4C87-AD99-58EC1EB9CFC0}"/>
              </a:ext>
            </a:extLst>
          </p:cNvPr>
          <p:cNvSpPr>
            <a:spLocks xmlns:a="http://schemas.openxmlformats.org/drawingml/2006/main" noGrp="1"/>
          </p:cNvSpPr>
          <p:nvPr/>
        </p:nvSpPr>
        <p:spPr>
          <a:xfrm xmlns:a="http://schemas.openxmlformats.org/drawingml/2006/main">
            <a:off x="552450" y="3333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3300" b="1">
                <a:solidFill>
                  <a:srgbClr val="FFFFFF"/>
                </a:solidFill>
                <a:latin typeface="Arial"/>
                <a:ea typeface="Arial"/>
                <a:cs typeface="Arial"/>
              </a:defRPr>
            </a:pPr>
            <a:r>
              <a:rPr sz="3300" b="1">
                <a:solidFill>
                  <a:srgbClr val="FFFFFF"/>
                </a:solidFill>
                <a:latin typeface="Arial"/>
                <a:ea typeface="Arial"/>
                <a:cs typeface="Arial"/>
              </a:rPr>
              <a:t>Ringkasan dan sumber belajar</a:t>
            </a:r>
          </a:p>
        </p:txBody>
      </p:sp>
      <p:sp>
        <p:nvSpPr>
          <p:cNvPr id="2" name="">
            <a:extLst xmlns:a="http://schemas.openxmlformats.org/drawingml/2006/main">
              <a:ext uri="{FF2B5EF4-FFF2-40B4-BE49-F238E27FC236}">
                <a16:creationId xmlns:a16="http://schemas.microsoft.com/office/drawing/2014/main" id="{FBE9D43D-0F84-4693-A4CE-22DABCFC14AA}"/>
              </a:ext>
            </a:extLst>
          </p:cNvPr>
          <p:cNvSpPr>
            <a:spLocks xmlns:a="http://schemas.openxmlformats.org/drawingml/2006/main" noGrp="1"/>
          </p:cNvSpPr>
          <p:nvPr/>
        </p:nvSpPr>
        <p:spPr>
          <a:xfrm xmlns:a="http://schemas.openxmlformats.org/drawingml/2006/main">
            <a:off x="11334750" y="419100"/>
            <a:ext cx="38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1500" b="0">
                <a:solidFill>
                  <a:srgbClr val="C3EAF3"/>
                </a:solidFill>
                <a:latin typeface="Arial"/>
                <a:ea typeface="Arial"/>
                <a:cs typeface="Arial"/>
              </a:defRPr>
            </a:pPr>
            <a:r>
              <a:rPr sz="1500" b="0">
                <a:solidFill>
                  <a:srgbClr val="C3EAF3"/>
                </a:solidFill>
                <a:latin typeface="Arial"/>
                <a:ea typeface="Arial"/>
                <a:cs typeface="Arial"/>
              </a:rPr>
              <a:t>40</a:t>
            </a:r>
          </a:p>
        </p:txBody>
      </p:sp>
      <p:sp>
        <p:nvSpPr>
          <p:cNvPr id="3" name="">
            <a:extLst xmlns:a="http://schemas.openxmlformats.org/drawingml/2006/main">
              <a:ext uri="{FF2B5EF4-FFF2-40B4-BE49-F238E27FC236}">
                <a16:creationId xmlns:a16="http://schemas.microsoft.com/office/drawing/2014/main" id="{1BDBA865-3924-4529-AC9F-3B92B1071200}"/>
              </a:ext>
            </a:extLst>
          </p:cNvPr>
          <p:cNvSpPr>
            <a:spLocks xmlns:a="http://schemas.openxmlformats.org/drawingml/2006/main" noGrp="1"/>
          </p:cNvSpPr>
          <p:nvPr/>
        </p:nvSpPr>
        <p:spPr>
          <a:xfrm xmlns:a="http://schemas.openxmlformats.org/drawingml/2006/main">
            <a:off x="666750" y="16192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1">
                <a:solidFill>
                  <a:srgbClr val="FFFFFF"/>
                </a:solidFill>
                <a:latin typeface="Arial"/>
                <a:ea typeface="Arial"/>
                <a:cs typeface="Arial"/>
              </a:defRPr>
            </a:pPr>
            <a:r>
              <a:rPr sz="2625" b="1">
                <a:solidFill>
                  <a:srgbClr val="FFFFFF"/>
                </a:solidFill>
                <a:latin typeface="Arial"/>
                <a:ea typeface="Arial"/>
                <a:cs typeface="Arial"/>
              </a:rPr>
              <a:t>Satu ambang, ambang lokal, rentang warna, atau marker: pilih sesuai kebutuhan.</a:t>
            </a:r>
          </a:p>
        </p:txBody>
      </p:sp>
      <p:sp>
        <p:nvSpPr>
          <p:cNvPr id="4" name="">
            <a:extLst xmlns:a="http://schemas.openxmlformats.org/drawingml/2006/main">
              <a:ext uri="{FF2B5EF4-FFF2-40B4-BE49-F238E27FC236}">
                <a16:creationId xmlns:a16="http://schemas.microsoft.com/office/drawing/2014/main" id="{9127DDB6-FE10-48F1-8CA6-619EAA8C7B40}"/>
              </a:ext>
            </a:extLst>
          </p:cNvPr>
          <p:cNvSpPr>
            <a:spLocks xmlns:a="http://schemas.openxmlformats.org/drawingml/2006/main" noGrp="1"/>
          </p:cNvSpPr>
          <p:nvPr/>
        </p:nvSpPr>
        <p:spPr>
          <a:xfrm xmlns:a="http://schemas.openxmlformats.org/drawingml/2006/main">
            <a:off x="666750" y="285750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FFFFFF"/>
                </a:solidFill>
                <a:latin typeface="Arial"/>
                <a:ea typeface="Arial"/>
                <a:cs typeface="Arial"/>
              </a:defRPr>
            </a:pPr>
            <a:r>
              <a:rPr sz="2625" b="0">
                <a:solidFill>
                  <a:srgbClr val="FFFFFF"/>
                </a:solidFill>
                <a:latin typeface="Arial"/>
                <a:ea typeface="Arial"/>
                <a:cs typeface="Arial"/>
              </a:rPr>
              <a:t>Periksa keluaran antara dan batas klaim.</a:t>
            </a:r>
          </a:p>
        </p:txBody>
      </p:sp>
      <p:sp>
        <p:nvSpPr>
          <p:cNvPr id="5" name="">
            <a:extLst xmlns:a="http://schemas.openxmlformats.org/drawingml/2006/main">
              <a:ext uri="{FF2B5EF4-FFF2-40B4-BE49-F238E27FC236}">
                <a16:creationId xmlns:a16="http://schemas.microsoft.com/office/drawing/2014/main" id="{88B833A2-65D5-4539-9F72-2B14BE9E3F39}"/>
              </a:ext>
            </a:extLst>
          </p:cNvPr>
          <p:cNvSpPr>
            <a:spLocks xmlns:a="http://schemas.openxmlformats.org/drawingml/2006/main" noGrp="1"/>
          </p:cNvSpPr>
          <p:nvPr/>
        </p:nvSpPr>
        <p:spPr>
          <a:xfrm xmlns:a="http://schemas.openxmlformats.org/drawingml/2006/main">
            <a:off x="666750" y="4095750"/>
            <a:ext cx="1081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06000"/>
              </a:lnSpc>
              <a:buNone/>
              <a:defRPr sz="2625" b="0">
                <a:solidFill>
                  <a:srgbClr val="FFFFFF"/>
                </a:solidFill>
                <a:latin typeface="Arial"/>
                <a:ea typeface="Arial"/>
                <a:cs typeface="Arial"/>
              </a:defRPr>
            </a:pPr>
            <a:r>
              <a:rPr sz="2625" b="0">
                <a:solidFill>
                  <a:srgbClr val="FFFFFF"/>
                </a:solidFill>
                <a:latin typeface="Arial"/>
                <a:ea typeface="Arial"/>
                <a:cs typeface="Arial"/>
              </a:rPr>
              <a:t>Modul memuat rumus, diagnosis, serta sumber primer.</a:t>
            </a:r>
          </a:p>
        </p:txBody>
      </p:sp>
    </p:spTree>
    <p:extLst>
      <p:ext uri="{BB962C8B-B14F-4D97-AF65-F5344CB8AC3E}">
        <p14:creationId xmlns:p14="http://schemas.microsoft.com/office/powerpoint/2010/main" val="1832169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2026-10-07T15:02:16.0500000Z</dcterms:created>
  <dcterms:modified xsi:type="dcterms:W3CDTF">2026-10-07T15:02:16.0500000Z</dcterms:modified>
</coreProperties>
</file>