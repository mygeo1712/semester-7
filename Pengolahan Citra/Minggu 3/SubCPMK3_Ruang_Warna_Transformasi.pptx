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83df4a492854eba" /><Relationship Type="http://schemas.openxmlformats.org/officeDocument/2006/relationships/extended-properties" Target="/docProps/app.xml" Id="R15158a1042e74299" /><Relationship Type="http://schemas.openxmlformats.org/officeDocument/2006/relationships/officeDocument" Target="/ppt/presentation.xml" Id="Re3a04ec71e5b41b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a53dc7c61ee445a"/>
  </p:sldMasterIdLst>
  <p:notesMasterIdLst>
    <p:notesMasterId xmlns:r="http://schemas.openxmlformats.org/officeDocument/2006/relationships" r:id="R67c22d8f434b4f9e"/>
  </p:notesMasterIdLst>
  <p:sldIdLst>
    <p:sldId xmlns:r="http://schemas.openxmlformats.org/officeDocument/2006/relationships" id="256" r:id="R49f815e8f3ba4594"/>
    <p:sldId xmlns:r="http://schemas.openxmlformats.org/officeDocument/2006/relationships" id="257" r:id="R1afc6ab6cf6b4cf1"/>
    <p:sldId xmlns:r="http://schemas.openxmlformats.org/officeDocument/2006/relationships" id="258" r:id="R17739400446244c5"/>
    <p:sldId xmlns:r="http://schemas.openxmlformats.org/officeDocument/2006/relationships" id="259" r:id="Rff15b35f64164012"/>
    <p:sldId xmlns:r="http://schemas.openxmlformats.org/officeDocument/2006/relationships" id="260" r:id="Rbc40d535a35d4218"/>
    <p:sldId xmlns:r="http://schemas.openxmlformats.org/officeDocument/2006/relationships" id="261" r:id="R5c065181860844c2"/>
    <p:sldId xmlns:r="http://schemas.openxmlformats.org/officeDocument/2006/relationships" id="262" r:id="R3548b89e39844eaa"/>
    <p:sldId xmlns:r="http://schemas.openxmlformats.org/officeDocument/2006/relationships" id="263" r:id="Rfdbdfee5d474464d"/>
    <p:sldId xmlns:r="http://schemas.openxmlformats.org/officeDocument/2006/relationships" id="264" r:id="R691bbb9d6e924638"/>
    <p:sldId xmlns:r="http://schemas.openxmlformats.org/officeDocument/2006/relationships" id="265" r:id="Rdb7329d6d30740c8"/>
    <p:sldId xmlns:r="http://schemas.openxmlformats.org/officeDocument/2006/relationships" id="266" r:id="R3a83b2cb9c1a4030"/>
    <p:sldId xmlns:r="http://schemas.openxmlformats.org/officeDocument/2006/relationships" id="267" r:id="R8177531745e84424"/>
    <p:sldId xmlns:r="http://schemas.openxmlformats.org/officeDocument/2006/relationships" id="268" r:id="R29293c9ebcd54e95"/>
    <p:sldId xmlns:r="http://schemas.openxmlformats.org/officeDocument/2006/relationships" id="269" r:id="R31c1c63835be4c9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4df0526820344fc" /><Relationship Type="http://schemas.openxmlformats.org/officeDocument/2006/relationships/slideMaster" Target="/ppt/slideMasters/slideMaster1.xml" Id="Rea53dc7c61ee445a" /><Relationship Type="http://schemas.openxmlformats.org/officeDocument/2006/relationships/notesMaster" Target="/ppt/notesMasters/notesMaster1.xml" Id="R67c22d8f434b4f9e" /><Relationship Type="http://schemas.openxmlformats.org/officeDocument/2006/relationships/presProps" Target="/ppt/presProps.xml" Id="R3673caa31a454114" /><Relationship Type="http://schemas.openxmlformats.org/officeDocument/2006/relationships/tableStyles" Target="/ppt/tableStyles.xml" Id="Re3045db2f5c54a83" /><Relationship Type="http://schemas.openxmlformats.org/officeDocument/2006/relationships/slide" Target="/ppt/slides/slide1.xml" Id="R49f815e8f3ba4594" /><Relationship Type="http://schemas.openxmlformats.org/officeDocument/2006/relationships/slide" Target="/ppt/slides/slide2.xml" Id="R1afc6ab6cf6b4cf1" /><Relationship Type="http://schemas.openxmlformats.org/officeDocument/2006/relationships/slide" Target="/ppt/slides/slide3.xml" Id="R17739400446244c5" /><Relationship Type="http://schemas.openxmlformats.org/officeDocument/2006/relationships/slide" Target="/ppt/slides/slide4.xml" Id="Rff15b35f64164012" /><Relationship Type="http://schemas.openxmlformats.org/officeDocument/2006/relationships/slide" Target="/ppt/slides/slide5.xml" Id="Rbc40d535a35d4218" /><Relationship Type="http://schemas.openxmlformats.org/officeDocument/2006/relationships/slide" Target="/ppt/slides/slide6.xml" Id="R5c065181860844c2" /><Relationship Type="http://schemas.openxmlformats.org/officeDocument/2006/relationships/slide" Target="/ppt/slides/slide7.xml" Id="R3548b89e39844eaa" /><Relationship Type="http://schemas.openxmlformats.org/officeDocument/2006/relationships/slide" Target="/ppt/slides/slide8.xml" Id="Rfdbdfee5d474464d" /><Relationship Type="http://schemas.openxmlformats.org/officeDocument/2006/relationships/slide" Target="/ppt/slides/slide9.xml" Id="R691bbb9d6e924638" /><Relationship Type="http://schemas.openxmlformats.org/officeDocument/2006/relationships/slide" Target="/ppt/slides/slide10.xml" Id="Rdb7329d6d30740c8" /><Relationship Type="http://schemas.openxmlformats.org/officeDocument/2006/relationships/slide" Target="/ppt/slides/slide11.xml" Id="R3a83b2cb9c1a4030" /><Relationship Type="http://schemas.openxmlformats.org/officeDocument/2006/relationships/slide" Target="/ppt/slides/slide12.xml" Id="R8177531745e84424" /><Relationship Type="http://schemas.openxmlformats.org/officeDocument/2006/relationships/slide" Target="/ppt/slides/slide13.xml" Id="R29293c9ebcd54e95" /><Relationship Type="http://schemas.openxmlformats.org/officeDocument/2006/relationships/slide" Target="/ppt/slides/slide14.xml" Id="R31c1c63835be4c9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70111bb57324a4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36f6f8761184d75" /><Relationship Type="http://schemas.openxmlformats.org/officeDocument/2006/relationships/notesMaster" Target="/ppt/notesMasters/notesMaster1.xml" Id="R2e3f1592da7c42e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a9c735488a147a7" /><Relationship Type="http://schemas.openxmlformats.org/officeDocument/2006/relationships/notesMaster" Target="/ppt/notesMasters/notesMaster1.xml" Id="R56c0144a0e4343a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92fec53e1a3460b" /><Relationship Type="http://schemas.openxmlformats.org/officeDocument/2006/relationships/notesMaster" Target="/ppt/notesMasters/notesMaster1.xml" Id="R29545a3ff26e462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69450b6afbc4407" /><Relationship Type="http://schemas.openxmlformats.org/officeDocument/2006/relationships/notesMaster" Target="/ppt/notesMasters/notesMaster1.xml" Id="R34680e90467f4c6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71d836868a146b6" /><Relationship Type="http://schemas.openxmlformats.org/officeDocument/2006/relationships/notesMaster" Target="/ppt/notesMasters/notesMaster1.xml" Id="Rd25c41f71eb7483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75b37dd2be54672" /><Relationship Type="http://schemas.openxmlformats.org/officeDocument/2006/relationships/notesMaster" Target="/ppt/notesMasters/notesMaster1.xml" Id="R6abd11a434ad4dc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e1a0a115c3d4dfe" /><Relationship Type="http://schemas.openxmlformats.org/officeDocument/2006/relationships/notesMaster" Target="/ppt/notesMasters/notesMaster1.xml" Id="R235237ca9f0140c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83a59099d594811" /><Relationship Type="http://schemas.openxmlformats.org/officeDocument/2006/relationships/notesMaster" Target="/ppt/notesMasters/notesMaster1.xml" Id="R89777feebf124f2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654bec12a51446c" /><Relationship Type="http://schemas.openxmlformats.org/officeDocument/2006/relationships/notesMaster" Target="/ppt/notesMasters/notesMaster1.xml" Id="Reaf7f2fa351344e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e9dce2028614882" /><Relationship Type="http://schemas.openxmlformats.org/officeDocument/2006/relationships/notesMaster" Target="/ppt/notesMasters/notesMaster1.xml" Id="Rb2eadb2cb9f243e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65c9b13625b4ab6" /><Relationship Type="http://schemas.openxmlformats.org/officeDocument/2006/relationships/notesMaster" Target="/ppt/notesMasters/notesMaster1.xml" Id="Rb953287f275b4f1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b15956518144bfd" /><Relationship Type="http://schemas.openxmlformats.org/officeDocument/2006/relationships/notesMaster" Target="/ppt/notesMasters/notesMaster1.xml" Id="R4e2c6b285e6143a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2209bce235747b5" /><Relationship Type="http://schemas.openxmlformats.org/officeDocument/2006/relationships/notesMaster" Target="/ppt/notesMasters/notesMaster1.xml" Id="Rcf2b4e87f6b141f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b49348ebf4c4706" /><Relationship Type="http://schemas.openxmlformats.org/officeDocument/2006/relationships/notesMaster" Target="/ppt/notesMasters/notesMaster1.xml" Id="R28abc6ba4735473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Visual asset generated for this teaching deck. Use the cover image to ask students how a computer could count only the green objects.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generated controlled image contains nine caps, with three green caps. The annotation is an analytical output created for this class.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OpenCV documents BGR-to-Gray and BGR-to-HSV conversion with cvtColor. The official color-space tutorial explains why HSV is useful for extracting colored objects.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OpenCV 8-bit HSV range: H [0,179], S [0,255], V [0,255]. Source: https://docs.opencv.org/4.12.0/df/d9d/tutorial_py_colorspaces.html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OpenCV specifies H [0,179] for 8-bit HSV. The official tutorial also notes that different software uses different scales. Source: https://docs.opencv.org/4.12.0/df/d9d/tutorial_py_colorspaces.html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OpenCV's color segmentation tutorial uses cvtColor, inRange, and bitwise_and to extract a colored object. Source: https://docs.opencv.org/4.12.0/df/d9d/tutorial_py_colorspaces.html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connectedComponentsWithStats returns labels, statistics, and centroids. The background uses label 0 and is excluded from the object count. Source: https://docs.opencv.org/doc/doxygen/html/d3/dc0/group__imgproc__shape.html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Generated challenge image. Use it to discuss the limits of color thresholding. Do not promise that one fixed range works for every lighting condition.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OpenCV provides resize, warpAffine, and getRotationMatrix2D for geometric transformations. Source: https://docs.opencv.org/4.13.0/da/d54/group__imgproc__transform.html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OpenCV's geometric transformation documentation describes resize and interpolation choices. Source: https://docs.opencv.org/4.13.0/da/d54/group__imgproc__transform.html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student notebook contains the guided exercises, mini-project, and rubric. The instructor notebook contains separate answer cells.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c57103205d4b0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30c5051d5ce4e0c" /><Relationship Type="http://schemas.openxmlformats.org/officeDocument/2006/relationships/slideLayout" Target="/ppt/slideLayouts/slideLayout1.xml" Id="R13da8b953c504f9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3da8b953c504f9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6c79e08f884cfc" /><Relationship Type="http://schemas.openxmlformats.org/officeDocument/2006/relationships/image" Target="/ppt/media/image.png" Id="Ra6636e71a75547d1" /><Relationship Type="http://schemas.openxmlformats.org/officeDocument/2006/relationships/notesSlide" Target="/ppt/notesSlides/notesSlide1.xml" Id="Rfb5dfb207aeb42f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fbfdcf10c4403d" /><Relationship Type="http://schemas.openxmlformats.org/officeDocument/2006/relationships/notesSlide" Target="/ppt/notesSlides/notesSlide2.xml" Id="Rdedcec8d0382406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36c2e2ec6c4cb3" /><Relationship Type="http://schemas.openxmlformats.org/officeDocument/2006/relationships/image" Target="/ppt/media/image2.png" Id="R0a6ec2956f51472d" /><Relationship Type="http://schemas.openxmlformats.org/officeDocument/2006/relationships/image" Target="/ppt/media/image3.png" Id="R16d13d56f3f14f61" /><Relationship Type="http://schemas.openxmlformats.org/officeDocument/2006/relationships/notesSlide" Target="/ppt/notesSlides/notesSlide3.xml" Id="R994e055c2a6249b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85ad28801f45e1" /><Relationship Type="http://schemas.openxmlformats.org/officeDocument/2006/relationships/image" Target="/ppt/media/image4.png" Id="R7c7a8dc0c0ce4a3a" /><Relationship Type="http://schemas.openxmlformats.org/officeDocument/2006/relationships/notesSlide" Target="/ppt/notesSlides/notesSlide4.xml" Id="R7ea04468f040420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d1a27695cf4b15" /><Relationship Type="http://schemas.openxmlformats.org/officeDocument/2006/relationships/image" Target="/ppt/media/image5.png" Id="R95c7162da6c044dc" /><Relationship Type="http://schemas.openxmlformats.org/officeDocument/2006/relationships/notesSlide" Target="/ppt/notesSlides/notesSlide5.xml" Id="R15976e616fa84bd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ef7432a4284c49" /><Relationship Type="http://schemas.openxmlformats.org/officeDocument/2006/relationships/notesSlide" Target="/ppt/notesSlides/notesSlide6.xml" Id="Rd5872c98cfa44c4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2bad8fe5d64747" /><Relationship Type="http://schemas.openxmlformats.org/officeDocument/2006/relationships/image" Target="/ppt/media/image6.png" Id="Ra28b9c0723964271" /><Relationship Type="http://schemas.openxmlformats.org/officeDocument/2006/relationships/notesSlide" Target="/ppt/notesSlides/notesSlide7.xml" Id="R33fe30c2c35d4bd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3cc5da649543a1" /><Relationship Type="http://schemas.openxmlformats.org/officeDocument/2006/relationships/image" Target="/ppt/media/image7.png" Id="R0af3b6a672f34e02" /><Relationship Type="http://schemas.openxmlformats.org/officeDocument/2006/relationships/notesSlide" Target="/ppt/notesSlides/notesSlide8.xml" Id="Rbf63ffbd70894ab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e23779c556472f" /><Relationship Type="http://schemas.openxmlformats.org/officeDocument/2006/relationships/image" Target="/ppt/media/image8.png" Id="Rbeecc16edd1a41ff" /><Relationship Type="http://schemas.openxmlformats.org/officeDocument/2006/relationships/image" Target="/ppt/media/image9.png" Id="Rfc09356681364747" /><Relationship Type="http://schemas.openxmlformats.org/officeDocument/2006/relationships/notesSlide" Target="/ppt/notesSlides/notesSlide9.xml" Id="R1f650956983c4f0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0919fe9556465f" /><Relationship Type="http://schemas.openxmlformats.org/officeDocument/2006/relationships/image" Target="/ppt/media/image10.png" Id="R2c37cc8dd89c417e" /><Relationship Type="http://schemas.openxmlformats.org/officeDocument/2006/relationships/notesSlide" Target="/ppt/notesSlides/notesSlide10.xml" Id="Recea2024ec7c438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0310180b7e4b87" /><Relationship Type="http://schemas.openxmlformats.org/officeDocument/2006/relationships/image" Target="/ppt/media/image11.png" Id="R89a8f749e0934785" /><Relationship Type="http://schemas.openxmlformats.org/officeDocument/2006/relationships/notesSlide" Target="/ppt/notesSlides/notesSlide11.xml" Id="Rbc7c7865b2d64f7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9ccd7c09774889" /><Relationship Type="http://schemas.openxmlformats.org/officeDocument/2006/relationships/image" Target="/ppt/media/image12.png" Id="R963c4781285545a2" /><Relationship Type="http://schemas.openxmlformats.org/officeDocument/2006/relationships/image" Target="/ppt/media/image13.png" Id="Rcb11f6b7f9b94e8a" /><Relationship Type="http://schemas.openxmlformats.org/officeDocument/2006/relationships/notesSlide" Target="/ppt/notesSlides/notesSlide12.xml" Id="R04aa4ec08560456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d32b40815e4866" /><Relationship Type="http://schemas.openxmlformats.org/officeDocument/2006/relationships/notesSlide" Target="/ppt/notesSlides/notesSlide13.xml" Id="R716b30a11c52482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91c63245504834" /><Relationship Type="http://schemas.openxmlformats.org/officeDocument/2006/relationships/image" Target="/ppt/media/image14.png" Id="Rcb057aba51234114" /><Relationship Type="http://schemas.openxmlformats.org/officeDocument/2006/relationships/notesSlide" Target="/ppt/notesSlides/notesSlide14.xml" Id="R80855e7b472a475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3A7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B12CB0-99F6-4D0A-AF48-939FB54E4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28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6C1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6BC36B-2C4A-4825-A56F-5006E6578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5300"/>
            <a:ext cx="571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BBD3F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BD3F5"/>
                </a:solidFill>
                <a:latin typeface="Arial"/>
                <a:ea typeface="Arial"/>
                <a:cs typeface="Arial"/>
              </a:rPr>
              <a:t>PRAKTIKUM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BBD3F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BD3F5"/>
                </a:solidFill>
                <a:latin typeface="Arial"/>
                <a:ea typeface="Arial"/>
                <a:cs typeface="Arial"/>
              </a:rPr>
              <a:t>PENGOLAHAN CITRA DIGITAL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D352A5-E8D9-43F3-B57B-C4E3F8DD9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5619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Ruang warna &amp;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transformasi geometrik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8688F9-147E-4917-A5F1-497E94F5D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4800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F5B84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B841"/>
                </a:solidFill>
                <a:latin typeface="Arial"/>
                <a:ea typeface="Arial"/>
                <a:cs typeface="Arial"/>
              </a:rPr>
              <a:t>Sub-CPMK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3E6C8B-7FA4-4574-859B-5841039A8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0520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677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E7F0F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7F0FA"/>
                </a:solidFill>
                <a:latin typeface="Arial"/>
                <a:ea typeface="Arial"/>
                <a:cs typeface="Arial"/>
              </a:rPr>
              <a:t>Output hari ini: penghitung objek berbasis warna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641529-802B-4695-8DD6-31C0FDB2D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91050"/>
            <a:ext cx="9334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EBDFDC-38C4-4D58-9F94-856956848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57725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HSV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1F6A4F-720D-4C77-980F-25947BFB0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591050"/>
            <a:ext cx="1047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36C1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3346C6-C16C-434F-99BC-4EC3886A9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65772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MASK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17EBF6-92BD-4945-85BC-300025B4C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591050"/>
            <a:ext cx="1085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B84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9355F9-5BFF-4541-9CF8-CBA815BDA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657725"/>
            <a:ext cx="895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153A7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53A70"/>
                </a:solidFill>
                <a:latin typeface="Arial"/>
                <a:ea typeface="Arial"/>
                <a:cs typeface="Arial"/>
              </a:rPr>
              <a:t>COUNT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636e71a75547d1"/>
          <a:srcRect xmlns:a="http://schemas.openxmlformats.org/drawingml/2006/main" l="12500" t="0" r="125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762000"/>
            <a:ext cx="4857750" cy="4857750"/>
          </a:xfrm>
          <a:prstGeom xmlns:a="http://schemas.openxmlformats.org/drawingml/2006/main" prst="roundRect">
            <a:avLst>
              <a:gd name="adj" fmla="val 2353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230EA2-E954-4413-960E-93E38A1C2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3887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BBD3F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BD3F5"/>
                </a:solidFill>
                <a:latin typeface="Arial"/>
                <a:ea typeface="Arial"/>
                <a:cs typeface="Arial"/>
              </a:rPr>
              <a:t>Python · OpenCV · NumPy · Google Colab</a:t>
            </a:r>
          </a:p>
        </p:txBody>
      </p:sp>
    </p:spTree>
    <p:extLst>
      <p:ext uri="{BB962C8B-B14F-4D97-AF65-F5344CB8AC3E}">
        <p14:creationId xmlns:p14="http://schemas.microsoft.com/office/powerpoint/2010/main" val="6020192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A9626A-3B1C-4694-95EC-21EDE4001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A7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169582-B443-4D9C-AD94-102A577F9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E36C1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36C1E"/>
                </a:solidFill>
                <a:latin typeface="Arial"/>
                <a:ea typeface="Arial"/>
                <a:cs typeface="Arial"/>
              </a:rPr>
              <a:t>POSISI SESI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69F7BF-BD1B-4026-9D7F-5060DE5AF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550" b="1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32E"/>
                </a:solidFill>
                <a:latin typeface="Arial"/>
                <a:ea typeface="Arial"/>
                <a:cs typeface="Arial"/>
              </a:rPr>
              <a:t>Hari ini kita membuat komputer memilih dan menghitung warna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195888-8F20-4FBB-B1EA-9C14F5FAA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2857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53626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3626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A21592-1B9D-4818-8B40-75E1BB17D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53626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3626B"/>
                </a:solidFill>
                <a:latin typeface="Arial"/>
                <a:ea typeface="Arial"/>
                <a:cs typeface="Arial"/>
              </a:rPr>
              <a:t>Materi sebelumnya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98645D-1964-405E-97FC-DFC4CD671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2476500" cy="95250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E8F0F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5A74B3-970E-477B-835F-1548843E4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5" b="1">
                <a:solidFill>
                  <a:srgbClr val="153A7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53A70"/>
                </a:solidFill>
                <a:latin typeface="Arial"/>
                <a:ea typeface="Arial"/>
                <a:cs typeface="Arial"/>
              </a:rPr>
              <a:t>Piksel &amp; channel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875" b="1">
                <a:solidFill>
                  <a:srgbClr val="153A7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53A70"/>
                </a:solidFill>
                <a:latin typeface="Arial"/>
                <a:ea typeface="Arial"/>
                <a:cs typeface="Arial"/>
              </a:rPr>
              <a:t>Histogram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B78C95-D701-490A-B84A-740DCCB82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00250"/>
            <a:ext cx="2476500" cy="95250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E36C1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785FA1-9E17-47CD-A370-2F495CA19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19075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Ruang warna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HSV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E5A92E-E660-4A8B-9441-DF54ED3D2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00250"/>
            <a:ext cx="2476500" cy="95250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766B91-4A43-4224-8111-552BEF03D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9075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Mask &amp;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penghitung objek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EDE6F4-5BDE-4469-BFD7-02459921F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000250"/>
            <a:ext cx="2286000" cy="95250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F5B841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E06985-BB53-4449-82AC-2E90F2503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190750"/>
            <a:ext cx="190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5" b="1">
                <a:solidFill>
                  <a:srgbClr val="153A7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53A70"/>
                </a:solidFill>
                <a:latin typeface="Arial"/>
                <a:ea typeface="Arial"/>
                <a:cs typeface="Arial"/>
              </a:rPr>
              <a:t>Bekal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875" b="1">
                <a:solidFill>
                  <a:srgbClr val="153A7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53A70"/>
                </a:solidFill>
                <a:latin typeface="Arial"/>
                <a:ea typeface="Arial"/>
                <a:cs typeface="Arial"/>
              </a:rPr>
              <a:t>segmentasi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F555F3-A38C-4DC5-A8A0-28E1D94FD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53626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3626B"/>
                </a:solidFill>
                <a:latin typeface="Arial"/>
                <a:ea typeface="Arial"/>
                <a:cs typeface="Arial"/>
              </a:rPr>
              <a:t>Target praktikum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69F04F-11E0-401A-AB56-31383C144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32E"/>
                </a:solidFill>
                <a:latin typeface="Arial"/>
                <a:ea typeface="Arial"/>
                <a:cs typeface="Arial"/>
              </a:rPr>
              <a:t>Mahasiswa dapat menghasilkan citra beranotasi dengan jumlah objek yang dapat dijelaskan, lalu menguji apakah hasilnya tetap masuk akal setelah citra ditransformasi.</a:t>
            </a:r>
          </a:p>
        </p:txBody>
      </p:sp>
    </p:spTree>
    <p:extLst>
      <p:ext uri="{BB962C8B-B14F-4D97-AF65-F5344CB8AC3E}">
        <p14:creationId xmlns:p14="http://schemas.microsoft.com/office/powerpoint/2010/main" val="12770278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C7DE3C-03B9-4C4C-BFF6-ECE504B81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A7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CBC6B5-2584-4551-ACF7-F07947233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E36C1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36C1E"/>
                </a:solidFill>
                <a:latin typeface="Arial"/>
                <a:ea typeface="Arial"/>
                <a:cs typeface="Arial"/>
              </a:rPr>
              <a:t>MASALAH YANG KITA PECAHKAN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D42764-33BC-480B-A6EE-3D9972DF3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550" b="1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32E"/>
                </a:solidFill>
                <a:latin typeface="Arial"/>
                <a:ea typeface="Arial"/>
                <a:cs typeface="Arial"/>
              </a:rPr>
              <a:t>Berapa banyak objek hijau?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723A94-6E7F-4222-BCBA-DCE69F36D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2857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53626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3626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6ec2956f51472d"/>
          <a:srcRect xmlns:a="http://schemas.openxmlformats.org/drawingml/2006/main" l="4651" t="0" r="465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524000"/>
            <a:ext cx="4953000" cy="4095750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d13d56f3f14f61"/>
          <a:srcRect xmlns:a="http://schemas.openxmlformats.org/drawingml/2006/main" l="4651" t="0" r="465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1524000"/>
            <a:ext cx="4953000" cy="4095750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6B47A8-2496-40E4-80B1-3DFF69513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810250"/>
            <a:ext cx="1619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3A70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65E422-33C7-454E-AD65-5F6DBA96C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8769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CITRA ASLI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D5BBE1-749B-42BC-AC0A-504FCB336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810250"/>
            <a:ext cx="2000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36C1E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BBFAA2-31E7-4DF7-97B5-EC2E5BB29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87692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HASIL: 3 OBJEK</a:t>
            </a:r>
          </a:p>
        </p:txBody>
      </p:sp>
    </p:spTree>
    <p:extLst>
      <p:ext uri="{BB962C8B-B14F-4D97-AF65-F5344CB8AC3E}">
        <p14:creationId xmlns:p14="http://schemas.microsoft.com/office/powerpoint/2010/main" val="189252957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AD5AD6-990A-4A00-BE95-8E84949E9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A7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D41EBB-7A6E-4B42-B70D-F2F34169A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E36C1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36C1E"/>
                </a:solidFill>
                <a:latin typeface="Arial"/>
                <a:ea typeface="Arial"/>
                <a:cs typeface="Arial"/>
              </a:rPr>
              <a:t>RUANG WARNA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39106F-F1C7-455C-B7C4-3562D037B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550" b="1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32E"/>
                </a:solidFill>
                <a:latin typeface="Arial"/>
                <a:ea typeface="Arial"/>
                <a:cs typeface="Arial"/>
              </a:rPr>
              <a:t>RGB untuk melihat, HSV untuk memilih warna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DA2252-7E41-4DC7-B2FE-D78990238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2857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53626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3626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707A27-18F5-4DBE-A7CF-8A44FE9D2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768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153A7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53A70"/>
                </a:solidFill>
                <a:latin typeface="Arial"/>
                <a:ea typeface="Arial"/>
                <a:cs typeface="Arial"/>
              </a:rPr>
              <a:t>RGB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13FBFB-7C09-4917-9C5E-114E84092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606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32E"/>
                </a:solidFill>
                <a:latin typeface="Arial"/>
                <a:ea typeface="Arial"/>
                <a:cs typeface="Arial"/>
              </a:rPr>
              <a:t>Campuran tiga channel. Bagus untuk tampilan, tetapi warna dan terang bercampur di tiap channel.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4701BE-7FFE-49BF-AB20-500D3A101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768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E36C1E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E36C1E"/>
                </a:solidFill>
                <a:latin typeface="Arial"/>
                <a:ea typeface="Arial"/>
                <a:cs typeface="Arial"/>
              </a:rPr>
              <a:t>Grayscale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4C2B59-5FF6-42BD-86F5-8C7263696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32E"/>
                </a:solidFill>
                <a:latin typeface="Arial"/>
                <a:ea typeface="Arial"/>
                <a:cs typeface="Arial"/>
              </a:rPr>
              <a:t>Satu channel kecerahan. Berguna untuk bentuk, tetapi informasi warna hilang.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69A90E-EE3B-4B7A-924A-EFD5C5734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61925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768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HSV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7D4282-90C6-4160-81DD-BF51123F1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47875"/>
            <a:ext cx="314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32E"/>
                </a:solidFill>
                <a:latin typeface="Arial"/>
                <a:ea typeface="Arial"/>
                <a:cs typeface="Arial"/>
              </a:rPr>
              <a:t>Hue menyatakan jenis warna. Saturation menyatakan kejenuhan. Value menyatakan terang atau gelap.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7a8dc0c0ce4a3a"/>
          <a:srcRect xmlns:a="http://schemas.openxmlformats.org/drawingml/2006/main" l="40471" t="0" r="4047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05750" y="1524000"/>
            <a:ext cx="3429000" cy="3810000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7ACCF8-8806-43D8-8C38-315677ADE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667125"/>
            <a:ext cx="1047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95D9FA-8805-42A9-B7E4-CA3EC53A3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73380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WARNA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698B83-170A-4496-92AF-85288431E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667125"/>
            <a:ext cx="1047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36C1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45A7CC-6D92-4FBF-B99B-A5505B868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73380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JENUH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4B026A-5F8B-4FF1-8F66-DE3EC5BCE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67125"/>
            <a:ext cx="1047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B841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F0FAE2-ABF0-426C-B2B9-2C6E0F950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73380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153A7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53A70"/>
                </a:solidFill>
                <a:latin typeface="Arial"/>
                <a:ea typeface="Arial"/>
                <a:cs typeface="Arial"/>
              </a:rPr>
              <a:t>TERANG</a:t>
            </a:r>
          </a:p>
        </p:txBody>
      </p:sp>
    </p:spTree>
    <p:extLst>
      <p:ext uri="{BB962C8B-B14F-4D97-AF65-F5344CB8AC3E}">
        <p14:creationId xmlns:p14="http://schemas.microsoft.com/office/powerpoint/2010/main" val="209425435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1EC4EB-82B1-4091-A7B3-246143C8C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A7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338388-2607-4A36-93B1-95568BBB4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E36C1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36C1E"/>
                </a:solidFill>
                <a:latin typeface="Arial"/>
                <a:ea typeface="Arial"/>
                <a:cs typeface="Arial"/>
              </a:rPr>
              <a:t>MELIHAT WARNA SEBAGAI 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D1CA69-3153-4946-857D-97618C79F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550" b="1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32E"/>
                </a:solidFill>
                <a:latin typeface="Arial"/>
                <a:ea typeface="Arial"/>
                <a:cs typeface="Arial"/>
              </a:rPr>
              <a:t>Satu citra, tiga pertanyaan berbeda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237630-A7DC-40AA-92F6-EC3F356BF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2857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53626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3626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c7162da6c044dc"/>
          <a:stretch xmlns:a="http://schemas.openxmlformats.org/drawingml/2006/main"/>
        </p:blipFill>
        <p:spPr>
          <a:xfrm xmlns:a="http://schemas.openxmlformats.org/drawingml/2006/main">
            <a:off x="685800" y="2273376"/>
            <a:ext cx="10668000" cy="1834999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9204A6-E5D3-4167-AB94-7DE77BB82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4350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153A7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3A70"/>
                </a:solidFill>
                <a:latin typeface="Arial"/>
                <a:ea typeface="Arial"/>
                <a:cs typeface="Arial"/>
              </a:rPr>
              <a:t>H: warna apa?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47BB83-0D12-4837-BAE7-B4D1AA4A4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1435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E36C1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36C1E"/>
                </a:solidFill>
                <a:latin typeface="Arial"/>
                <a:ea typeface="Arial"/>
                <a:cs typeface="Arial"/>
              </a:rPr>
              <a:t>S: seberapa jenuh?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B429DE-EF49-434D-8ABA-F06BB16BC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14350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V: seberapa terang?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1F6C52-CA08-4691-A704-215DC1E57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8102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0">
                <a:solidFill>
                  <a:srgbClr val="5362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26B"/>
                </a:solidFill>
                <a:latin typeface="Arial"/>
                <a:ea typeface="Arial"/>
                <a:cs typeface="Arial"/>
              </a:rPr>
              <a:t>Mask di sisi kanan hanya mempertahankan piksel yang memenuhi rentang warna sasaran.</a:t>
            </a:r>
          </a:p>
        </p:txBody>
      </p:sp>
    </p:spTree>
    <p:extLst>
      <p:ext uri="{BB962C8B-B14F-4D97-AF65-F5344CB8AC3E}">
        <p14:creationId xmlns:p14="http://schemas.microsoft.com/office/powerpoint/2010/main" val="2207982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1234B2-E0CA-4E67-997D-AAC0616EE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A7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BFA4DB-B37B-4986-99FB-E22F1EABD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E36C1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36C1E"/>
                </a:solidFill>
                <a:latin typeface="Arial"/>
                <a:ea typeface="Arial"/>
                <a:cs typeface="Arial"/>
              </a:rPr>
              <a:t>PARAMETER YANG SERING MENJEBAK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6146A9-1643-481A-86C4-BD422F5DD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550" b="1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32E"/>
                </a:solidFill>
                <a:latin typeface="Arial"/>
                <a:ea typeface="Arial"/>
                <a:cs typeface="Arial"/>
              </a:rPr>
              <a:t>Rentang HSV harus mengikuti skala OpenCV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A4020C-20D3-4F5F-95CD-7A8371E04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2857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53626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3626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C3AA16-9DD1-4BD8-ADB0-C74C0D666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4667250" cy="295275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E8F0F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ABA9DE-85F1-46EC-9625-88D8757B0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050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53A7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53A70"/>
                </a:solidFill>
                <a:latin typeface="Arial"/>
                <a:ea typeface="Arial"/>
                <a:cs typeface="Arial"/>
              </a:rPr>
              <a:t>Contoh hijau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503D6A-60DE-47C9-ADFA-0C534C551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71750"/>
            <a:ext cx="3714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1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232E"/>
                </a:solidFill>
                <a:latin typeface="Arial"/>
                <a:ea typeface="Arial"/>
                <a:cs typeface="Arial"/>
              </a:rPr>
              <a:t>lower = [45, 80, 50]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100" b="1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232E"/>
                </a:solidFill>
                <a:latin typeface="Arial"/>
                <a:ea typeface="Arial"/>
                <a:cs typeface="Arial"/>
              </a:rPr>
              <a:t>upper = [85, 255, 255]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98529D-2E39-4E81-9CDE-B92D437EE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67125"/>
            <a:ext cx="228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H = 0–179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S, V = 0–255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05FCE9-88AF-4714-883D-9BC0F521D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571625"/>
            <a:ext cx="5429250" cy="295275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CEBD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394B25-6810-4339-9DE9-E9535EF27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9050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E36C1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36C1E"/>
                </a:solidFill>
                <a:latin typeface="Arial"/>
                <a:ea typeface="Arial"/>
                <a:cs typeface="Arial"/>
              </a:rPr>
              <a:t>Kasus merah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CA2098-2EAD-4250-9D1B-996EC5D15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571750"/>
            <a:ext cx="428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232E"/>
                </a:solidFill>
                <a:latin typeface="Arial"/>
                <a:ea typeface="Arial"/>
                <a:cs typeface="Arial"/>
              </a:rPr>
              <a:t>Merah dekat H = 0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232E"/>
                </a:solidFill>
                <a:latin typeface="Arial"/>
                <a:ea typeface="Arial"/>
                <a:cs typeface="Arial"/>
              </a:rPr>
              <a:t>dan H = 179.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2A7986-B663-4AC9-86B5-D77A5BBD6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667125"/>
            <a:ext cx="428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E36C1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36C1E"/>
                </a:solidFill>
                <a:latin typeface="Arial"/>
                <a:ea typeface="Arial"/>
                <a:cs typeface="Arial"/>
              </a:rPr>
              <a:t>Buat dua mask, lalu gabungkan dengan bitwise_or.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B23768-3C7C-4FA8-A909-6FB65D376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3400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32E"/>
                </a:solidFill>
                <a:latin typeface="Arial"/>
                <a:ea typeface="Arial"/>
                <a:cs typeface="Arial"/>
              </a:rPr>
              <a:t>Kesalahan umum: memasukkan H 0–360 seperti pada beberapa aplikasi desain.</a:t>
            </a:r>
          </a:p>
        </p:txBody>
      </p:sp>
    </p:spTree>
    <p:extLst>
      <p:ext uri="{BB962C8B-B14F-4D97-AF65-F5344CB8AC3E}">
        <p14:creationId xmlns:p14="http://schemas.microsoft.com/office/powerpoint/2010/main" val="186168172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8345BD-1BD2-4D4B-8AEF-43ED24E26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A7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888547-3479-4E1A-B727-24A5EF8C5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E36C1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36C1E"/>
                </a:solidFill>
                <a:latin typeface="Arial"/>
                <a:ea typeface="Arial"/>
                <a:cs typeface="Arial"/>
              </a:rPr>
              <a:t>DARI CITRA KE KEPUTUSAN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D625DA-5AB7-4066-BFF3-F36D91ED0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550" b="1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32E"/>
                </a:solidFill>
                <a:latin typeface="Arial"/>
                <a:ea typeface="Arial"/>
                <a:cs typeface="Arial"/>
              </a:rPr>
              <a:t>Masking mengubah warna menjadi pertanyaan biner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01F417-95DD-49E8-9837-CB6B1D9F9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2857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53626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3626B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8b9c0723964271"/>
          <a:stretch xmlns:a="http://schemas.openxmlformats.org/drawingml/2006/main"/>
        </p:blipFill>
        <p:spPr>
          <a:xfrm xmlns:a="http://schemas.openxmlformats.org/drawingml/2006/main">
            <a:off x="666750" y="2184102"/>
            <a:ext cx="10858500" cy="2299296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75098A-7198-40A3-9E78-956F5298B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29250"/>
            <a:ext cx="1714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3A7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EB0252-E3C1-4D5E-8081-332D8A511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495925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Citra BGR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0FA84A-0CFD-422F-B0CA-93F195AF6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429250"/>
            <a:ext cx="1714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D6BEF4-B18C-4113-A0C3-4F0A0884F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495925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HSV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15E6CD-DC4A-45B9-B762-8B6E58187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429250"/>
            <a:ext cx="1714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181D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3FCDB4-6010-4BE1-93DC-39027445D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495925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 atau 255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445526-829B-494E-965C-D28D7D5B2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429250"/>
            <a:ext cx="1714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36C1E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5F848C-5260-4020-A8C2-523820C6B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495925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Objek sasaran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F49B62-9706-4DCB-AA91-6CE572E78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048375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0">
                <a:solidFill>
                  <a:srgbClr val="5362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26B"/>
                </a:solidFill>
                <a:latin typeface="Arial"/>
                <a:ea typeface="Arial"/>
                <a:cs typeface="Arial"/>
              </a:rPr>
              <a:t>`cv2.inRange` memeriksa apakah setiap piksel berada di antara batas bawah dan batas atas.</a:t>
            </a:r>
          </a:p>
        </p:txBody>
      </p:sp>
    </p:spTree>
    <p:extLst>
      <p:ext uri="{BB962C8B-B14F-4D97-AF65-F5344CB8AC3E}">
        <p14:creationId xmlns:p14="http://schemas.microsoft.com/office/powerpoint/2010/main" val="5050105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3C0B65-7E98-42FE-9895-F341222EA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A7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B2003D-83E7-4C90-B709-1A2E59F2C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E36C1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36C1E"/>
                </a:solidFill>
                <a:latin typeface="Arial"/>
                <a:ea typeface="Arial"/>
                <a:cs typeface="Arial"/>
              </a:rPr>
              <a:t>MENGHITUNG WILAYAH PUTIH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C25C30-3AA0-40E3-B67B-9A65FAAE4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550" b="1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32E"/>
                </a:solidFill>
                <a:latin typeface="Arial"/>
                <a:ea typeface="Arial"/>
                <a:cs typeface="Arial"/>
              </a:rPr>
              <a:t>Setelah mask terbentuk, objek dapat diberi label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3EB14D-9579-4D8A-AFB2-8BCE90572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2857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53626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3626B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f3b6a672f34e02"/>
          <a:srcRect xmlns:a="http://schemas.openxmlformats.org/drawingml/2006/main" l="3333" t="0" r="333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1571625"/>
            <a:ext cx="5334000" cy="4286250"/>
          </a:xfrm>
          <a:prstGeom xmlns:a="http://schemas.openxmlformats.org/drawingml/2006/main" prst="roundRect">
            <a:avLst>
              <a:gd name="adj" fmla="val 2667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D1B749-CD81-403C-BD87-D27E4CBF7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66875"/>
            <a:ext cx="4572000" cy="21907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5F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95E7DF-47E3-4B33-A49B-5FB385892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0002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connectedComponentsWithStats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806C28-F3E1-489A-A670-9FAA49C70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571750"/>
            <a:ext cx="3714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48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32E"/>
                </a:solidFill>
                <a:latin typeface="Arial"/>
                <a:ea typeface="Arial"/>
                <a:cs typeface="Arial"/>
              </a:rPr>
              <a:t>• label 0 = latar belakang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32E"/>
                </a:solidFill>
                <a:latin typeface="Arial"/>
                <a:ea typeface="Arial"/>
                <a:cs typeface="Arial"/>
              </a:rPr>
              <a:t>• satu wilayah putih = satu calon objek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32E"/>
                </a:solidFill>
                <a:latin typeface="Arial"/>
                <a:ea typeface="Arial"/>
                <a:cs typeface="Arial"/>
              </a:rPr>
              <a:t>• stats memberi x, y, lebar, tinggi, luas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32E"/>
                </a:solidFill>
                <a:latin typeface="Arial"/>
                <a:ea typeface="Arial"/>
                <a:cs typeface="Arial"/>
              </a:rPr>
              <a:t>• min_area membuang bintik kecil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FDD856-4372-4BFF-87A6-3B25C93A9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38625"/>
            <a:ext cx="4572000" cy="1381125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36C1E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71B7D5-4F75-45CE-AF12-365FDC362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4767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Hasil contoh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CF9EDE-0C69-46E9-A3E9-5BC8E9714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905375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Jumlah objek hijau = 3</a:t>
            </a:r>
          </a:p>
        </p:txBody>
      </p:sp>
    </p:spTree>
    <p:extLst>
      <p:ext uri="{BB962C8B-B14F-4D97-AF65-F5344CB8AC3E}">
        <p14:creationId xmlns:p14="http://schemas.microsoft.com/office/powerpoint/2010/main" val="180274970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B85365-36C2-4A67-A5DC-734434E5B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A7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7EF876-FE4B-42CD-AF96-0BCAC90BD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E36C1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36C1E"/>
                </a:solidFill>
                <a:latin typeface="Arial"/>
                <a:ea typeface="Arial"/>
                <a:cs typeface="Arial"/>
              </a:rPr>
              <a:t>MODEL TIDAK SELALU BENAR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663E40-2F62-4EFA-8B3E-B7DE0F64D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550" b="1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32E"/>
                </a:solidFill>
                <a:latin typeface="Arial"/>
                <a:ea typeface="Arial"/>
                <a:cs typeface="Arial"/>
              </a:rPr>
              <a:t>Mask yang buruk menghasilkan hitungan yang buruk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BB8609-1724-4BA8-984C-6E6B9267B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2857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53626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3626B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ecc16edd1a41ff"/>
          <a:srcRect xmlns:a="http://schemas.openxmlformats.org/drawingml/2006/main" l="2885" t="0" r="288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1619250"/>
            <a:ext cx="4667250" cy="371475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09356681364747"/>
          <a:stretch xmlns:a="http://schemas.openxmlformats.org/drawingml/2006/main"/>
        </p:blipFill>
        <p:spPr>
          <a:xfrm xmlns:a="http://schemas.openxmlformats.org/drawingml/2006/main">
            <a:off x="5810250" y="2703029"/>
            <a:ext cx="5524500" cy="154719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CC7DA3-821C-41AA-8642-3EEA882CF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626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53A7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53A70"/>
                </a:solidFill>
                <a:latin typeface="Arial"/>
                <a:ea typeface="Arial"/>
                <a:cs typeface="Arial"/>
              </a:rPr>
              <a:t>Apa yang perlu diperiksa?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A1E1BE-5E2D-4617-9FC9-44F362A66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762625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544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32E"/>
                </a:solidFill>
                <a:latin typeface="Arial"/>
                <a:ea typeface="Arial"/>
                <a:cs typeface="Arial"/>
              </a:rPr>
              <a:t>Pantulan cahaya · bayangan · objek bersentuhan · batas HSV terlalu lebar</a:t>
            </a:r>
          </a:p>
        </p:txBody>
      </p:sp>
    </p:spTree>
    <p:extLst>
      <p:ext uri="{BB962C8B-B14F-4D97-AF65-F5344CB8AC3E}">
        <p14:creationId xmlns:p14="http://schemas.microsoft.com/office/powerpoint/2010/main" val="87919634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C3971A-BDD6-4A18-959E-04F3DAC75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A7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AF5BCA-3D92-4DE7-BFFB-2208218B9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E36C1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36C1E"/>
                </a:solidFill>
                <a:latin typeface="Arial"/>
                <a:ea typeface="Arial"/>
                <a:cs typeface="Arial"/>
              </a:rPr>
              <a:t>TRANSFORMASI GEOMETRIK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6991F6-55C8-4AF0-8210-E71E53BBC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550" b="1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32E"/>
                </a:solidFill>
                <a:latin typeface="Arial"/>
                <a:ea typeface="Arial"/>
                <a:cs typeface="Arial"/>
              </a:rPr>
              <a:t>Posisi dan ukuran berubah, isi objek tetap sama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DC1CF2-24C9-40C5-9E03-58B7B3F67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2857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53626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3626B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37cc8dd89c417e"/>
          <a:stretch xmlns:a="http://schemas.openxmlformats.org/drawingml/2006/main"/>
        </p:blipFill>
        <p:spPr>
          <a:xfrm xmlns:a="http://schemas.openxmlformats.org/drawingml/2006/main">
            <a:off x="666750" y="2136477"/>
            <a:ext cx="10858500" cy="2299296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8A14BE-F494-457B-B819-C9FAE306E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28637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153A7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53A70"/>
                </a:solidFill>
                <a:latin typeface="Arial"/>
                <a:ea typeface="Arial"/>
                <a:cs typeface="Arial"/>
              </a:rPr>
              <a:t>Flip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D523C0-8495-4033-9E2C-28B2328F7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28637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E36C1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36C1E"/>
                </a:solidFill>
                <a:latin typeface="Arial"/>
                <a:ea typeface="Arial"/>
                <a:cs typeface="Arial"/>
              </a:rPr>
              <a:t>Resize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C32617-AF14-4FE1-BFBE-0A471308E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28637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Rotate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5DD8A9-83D5-42AF-B49F-C781FCDCC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953125"/>
            <a:ext cx="895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815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0">
                <a:solidFill>
                  <a:srgbClr val="5362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26B"/>
                </a:solidFill>
                <a:latin typeface="Arial"/>
                <a:ea typeface="Arial"/>
                <a:cs typeface="Arial"/>
              </a:rPr>
              <a:t>Uji ulang penghitung setelah transformasi. Hasil idealnya stabil, selama objek tidak terpotong atau menyatu.</a:t>
            </a:r>
          </a:p>
        </p:txBody>
      </p:sp>
    </p:spTree>
    <p:extLst>
      <p:ext uri="{BB962C8B-B14F-4D97-AF65-F5344CB8AC3E}">
        <p14:creationId xmlns:p14="http://schemas.microsoft.com/office/powerpoint/2010/main" val="74947274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519973-53D2-4B6A-8374-A5200817B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A7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E57853-26C7-429B-AD61-8DAF18FA5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E36C1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36C1E"/>
                </a:solidFill>
                <a:latin typeface="Arial"/>
                <a:ea typeface="Arial"/>
                <a:cs typeface="Arial"/>
              </a:rPr>
              <a:t>INTERPOLASI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2B4493-2152-4B85-824C-EB87D7F4A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550" b="1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32E"/>
                </a:solidFill>
                <a:latin typeface="Arial"/>
                <a:ea typeface="Arial"/>
                <a:cs typeface="Arial"/>
              </a:rPr>
              <a:t>Cara mengisi piksel baru dapat mengubah tepi objek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80642C-8BC2-40D3-9453-02D2B670B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2857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53626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3626B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a8f749e0934785"/>
          <a:stretch xmlns:a="http://schemas.openxmlformats.org/drawingml/2006/main"/>
        </p:blipFill>
        <p:spPr>
          <a:xfrm xmlns:a="http://schemas.openxmlformats.org/drawingml/2006/main">
            <a:off x="666750" y="1831191"/>
            <a:ext cx="10668000" cy="2909867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2DFE7B-C0B7-463A-BB71-F7785C3A3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76875"/>
            <a:ext cx="285750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E8F0F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B086C2-236B-4B00-AFD9-F25BAA91E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638800"/>
            <a:ext cx="257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153A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53A70"/>
                </a:solidFill>
                <a:latin typeface="Arial"/>
                <a:ea typeface="Arial"/>
                <a:cs typeface="Arial"/>
              </a:rPr>
              <a:t>INTER_NEAREST: tepi tegas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18A865-2DE5-48EA-8E6E-C0F186E89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476875"/>
            <a:ext cx="285750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CEBDD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5EFD91-6879-4E02-8555-D99576827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5638800"/>
            <a:ext cx="257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E36C1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36C1E"/>
                </a:solidFill>
                <a:latin typeface="Arial"/>
                <a:ea typeface="Arial"/>
                <a:cs typeface="Arial"/>
              </a:rPr>
              <a:t>INTER_LINEAR: lebih halus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19D618-B5E4-4D32-8F3E-E2283D7D8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476875"/>
            <a:ext cx="219075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E0F5F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A18DD7-2495-47DE-A2B5-D64B1AD5A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5638800"/>
            <a:ext cx="190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8524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INTER_AREA: mengecilkan</a:t>
            </a:r>
          </a:p>
        </p:txBody>
      </p:sp>
    </p:spTree>
    <p:extLst>
      <p:ext uri="{BB962C8B-B14F-4D97-AF65-F5344CB8AC3E}">
        <p14:creationId xmlns:p14="http://schemas.microsoft.com/office/powerpoint/2010/main" val="118394668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F15149-C45A-47AF-9F41-8AF07BE59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A7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87C82D-CB1A-4F72-B925-8CD1F650A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E36C1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36C1E"/>
                </a:solidFill>
                <a:latin typeface="Arial"/>
                <a:ea typeface="Arial"/>
                <a:cs typeface="Arial"/>
              </a:rPr>
              <a:t>EKSPERIMEN INTEGRATIF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1032EA-C88B-4E36-83D0-96A097E1A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550" b="1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32E"/>
                </a:solidFill>
                <a:latin typeface="Arial"/>
                <a:ea typeface="Arial"/>
                <a:cs typeface="Arial"/>
              </a:rPr>
              <a:t>Apakah jumlah objek tetap tiga?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86EEE9-4F94-45E4-ADCA-9AAE7B8C4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2857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53626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3626B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3c4781285545a2"/>
          <a:srcRect xmlns:a="http://schemas.openxmlformats.org/drawingml/2006/main" l="7143" t="0" r="714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1619250"/>
            <a:ext cx="3048000" cy="2667000"/>
          </a:xfrm>
          <a:prstGeom xmlns:a="http://schemas.openxmlformats.org/drawingml/2006/main" prst="roundRect">
            <a:avLst>
              <a:gd name="adj" fmla="val 4286"/>
            </a:avLst>
          </a:prstGeom>
        </p:spPr>
      </p:pic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11f6b7f9b94e8a"/>
          <a:srcRect xmlns:a="http://schemas.openxmlformats.org/drawingml/2006/main" l="22019" t="0" r="2201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95750" y="1619250"/>
            <a:ext cx="7048500" cy="2667000"/>
          </a:xfrm>
          <a:prstGeom xmlns:a="http://schemas.openxmlformats.org/drawingml/2006/main" prst="roundRect">
            <a:avLst>
              <a:gd name="adj" fmla="val 4286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B6BD01-6D52-4D08-86C5-2CD58ED7C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10125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8F0FA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E55484-E9BA-46A0-BE47-A7025F55F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886325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8818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32E"/>
                </a:solidFill>
                <a:latin typeface="Arial"/>
                <a:ea typeface="Arial"/>
                <a:cs typeface="Arial"/>
              </a:rPr>
              <a:t>Asli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0DCB0F-CF74-4719-BF01-6F1D71A1A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886325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8818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153A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53A7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C76E7F-48AD-4FC3-80AC-988A11E19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886325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5362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26B"/>
                </a:solidFill>
                <a:latin typeface="Arial"/>
                <a:ea typeface="Arial"/>
                <a:cs typeface="Arial"/>
              </a:rPr>
              <a:t>baseline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09B60F-9BE4-4E64-91F2-484041BC0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67325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0F5F3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E559F3-E425-4DE2-A6D8-2BB6499D8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343525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8818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32E"/>
                </a:solidFill>
                <a:latin typeface="Arial"/>
                <a:ea typeface="Arial"/>
                <a:cs typeface="Arial"/>
              </a:rPr>
              <a:t>Flip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6E9390-121A-480D-8487-488E4B57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343525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8818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153A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53A7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49DB1A-9599-4CBB-9100-DE9FEEEDF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343525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5362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26B"/>
                </a:solidFill>
                <a:latin typeface="Arial"/>
                <a:ea typeface="Arial"/>
                <a:cs typeface="Arial"/>
              </a:rPr>
              <a:t>posisi berubah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DD85D5-15CC-4B97-BF16-2CFDA86B3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24525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CEBDD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2A18A1-5654-4113-8CBE-62A2D1DE7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800725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8818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32E"/>
                </a:solidFill>
                <a:latin typeface="Arial"/>
                <a:ea typeface="Arial"/>
                <a:cs typeface="Arial"/>
              </a:rPr>
              <a:t>Rotasi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2E5084-8ADB-49C5-B3F1-F8982231F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800725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8818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153A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53A70"/>
                </a:solidFill>
                <a:latin typeface="Arial"/>
                <a:ea typeface="Arial"/>
                <a:cs typeface="Arial"/>
              </a:rPr>
              <a:t>3 atau kurang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A05C70-1402-4B63-A7B9-F6300FDD5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800725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5362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26B"/>
                </a:solidFill>
                <a:latin typeface="Arial"/>
                <a:ea typeface="Arial"/>
                <a:cs typeface="Arial"/>
              </a:rPr>
              <a:t>objek dapat terpotong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D50A19-3B3D-49F3-9416-B44222864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33412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870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4232E"/>
                </a:solidFill>
                <a:latin typeface="Arial"/>
                <a:ea typeface="Arial"/>
                <a:cs typeface="Arial"/>
              </a:rPr>
              <a:t>Pertanyaan penting: apakah perubahan hasil berasal dari warna, geometri, interpolasi, atau objek yang keluar dari kanvas?</a:t>
            </a:r>
          </a:p>
        </p:txBody>
      </p:sp>
    </p:spTree>
    <p:extLst>
      <p:ext uri="{BB962C8B-B14F-4D97-AF65-F5344CB8AC3E}">
        <p14:creationId xmlns:p14="http://schemas.microsoft.com/office/powerpoint/2010/main" val="1834952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72E2D2-4426-43F2-81DD-B0D3883E0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A7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E4376E-AF56-46CB-9A54-E5016CD49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E36C1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36C1E"/>
                </a:solidFill>
                <a:latin typeface="Arial"/>
                <a:ea typeface="Arial"/>
                <a:cs typeface="Arial"/>
              </a:rPr>
              <a:t>CEK PEMAHAMAN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A074F6-EA55-4793-9265-BEE1BBA70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550" b="1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32E"/>
                </a:solidFill>
                <a:latin typeface="Arial"/>
                <a:ea typeface="Arial"/>
                <a:cs typeface="Arial"/>
              </a:rPr>
              <a:t>Tebak sebelum menjalankan kode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5723F8-946D-4F3C-8DA8-754163F22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2857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53626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3626B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C71A99-0982-44BD-BFA0-C245D1A86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914400" cy="819150"/>
          </a:xfrm>
          <a:prstGeom xmlns:a="http://schemas.openxmlformats.org/drawingml/2006/main" prst="roundRect">
            <a:avLst>
              <a:gd name="adj" fmla="val 23256"/>
            </a:avLst>
          </a:prstGeom>
          <a:solidFill xmlns:a="http://schemas.openxmlformats.org/drawingml/2006/main">
            <a:srgbClr val="153A70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57B149-9516-42A7-A453-636D4D458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914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9070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6A3978-08BC-4425-847A-B5E331E98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762125"/>
            <a:ext cx="838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75" b="1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4232E"/>
                </a:solidFill>
                <a:latin typeface="Arial"/>
                <a:ea typeface="Arial"/>
                <a:cs typeface="Arial"/>
              </a:rPr>
              <a:t>Mengapa H OpenCV berhenti di 179?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DA7C58-0FC2-4ABC-8E89-2897A0C2F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2860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5362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26B"/>
                </a:solidFill>
                <a:latin typeface="Arial"/>
                <a:ea typeface="Arial"/>
                <a:cs typeface="Arial"/>
              </a:rPr>
              <a:t>Jawab dengan alasan, bukan hanya nama fungsi OpenCV.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7840F3-B8BA-4AA7-9BFB-2930F529A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914400" cy="819150"/>
          </a:xfrm>
          <a:prstGeom xmlns:a="http://schemas.openxmlformats.org/drawingml/2006/main" prst="roundRect">
            <a:avLst>
              <a:gd name="adj" fmla="val 23256"/>
            </a:avLst>
          </a:prstGeom>
          <a:solidFill xmlns:a="http://schemas.openxmlformats.org/drawingml/2006/main">
            <a:srgbClr val="E36C1E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990F50-6404-44BB-A4E1-3395C5041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90875"/>
            <a:ext cx="914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9070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C59C0C-03B3-4E3D-8722-644E4A88F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143250"/>
            <a:ext cx="838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75" b="1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4232E"/>
                </a:solidFill>
                <a:latin typeface="Arial"/>
                <a:ea typeface="Arial"/>
                <a:cs typeface="Arial"/>
              </a:rPr>
              <a:t>Mengapa objek kecil perlu difilter dengan min_area?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1B3A9A-4ACF-4AC4-AE68-CA7C4E85F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66712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5362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26B"/>
                </a:solidFill>
                <a:latin typeface="Arial"/>
                <a:ea typeface="Arial"/>
                <a:cs typeface="Arial"/>
              </a:rPr>
              <a:t>Jawab dengan alasan, bukan hanya nama fungsi OpenCV.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7EB19D-0927-4636-9B6E-563A29D46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33875"/>
            <a:ext cx="914400" cy="819150"/>
          </a:xfrm>
          <a:prstGeom xmlns:a="http://schemas.openxmlformats.org/drawingml/2006/main" prst="roundRect">
            <a:avLst>
              <a:gd name="adj" fmla="val 23256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DA6D0E-9FC6-48C7-877B-93C405D45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72000"/>
            <a:ext cx="914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9070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935520-E20A-4A6E-BD8A-C58C3D49D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524375"/>
            <a:ext cx="838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75" b="1">
                <a:solidFill>
                  <a:srgbClr val="14232E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4232E"/>
                </a:solidFill>
                <a:latin typeface="Arial"/>
                <a:ea typeface="Arial"/>
                <a:cs typeface="Arial"/>
              </a:rPr>
              <a:t>Mengapa rotasi dapat mengubah jumlah objek?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3E3D4B-79D6-4638-BF0F-C23AA130F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0482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5362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26B"/>
                </a:solidFill>
                <a:latin typeface="Arial"/>
                <a:ea typeface="Arial"/>
                <a:cs typeface="Arial"/>
              </a:rPr>
              <a:t>Jawab dengan alasan, bukan hanya nama fungsi OpenCV.</a:t>
            </a:r>
          </a:p>
        </p:txBody>
      </p:sp>
    </p:spTree>
    <p:extLst>
      <p:ext uri="{BB962C8B-B14F-4D97-AF65-F5344CB8AC3E}">
        <p14:creationId xmlns:p14="http://schemas.microsoft.com/office/powerpoint/2010/main" val="204519026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53A7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C57E58-CDF7-401C-B0A2-CCC304CB4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6C1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6B95E9-1636-4037-A3CD-8EBD4E6C5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BBD3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BD3F5"/>
                </a:solidFill>
                <a:latin typeface="Arial"/>
                <a:ea typeface="Arial"/>
                <a:cs typeface="Arial"/>
              </a:rPr>
              <a:t>SEKARANG PRAKTIK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2A8726-62C7-4846-958C-08712F659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Dari notebook instruktur ke mini-proyek kamu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14375C-1C71-4255-B5EF-E4FB37F65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2857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BBD3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BD3F5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D5ED5C-045D-461F-81D8-A6D83B87B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F5B84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5B841"/>
                </a:solidFill>
                <a:latin typeface="Arial"/>
                <a:ea typeface="Arial"/>
                <a:cs typeface="Arial"/>
              </a:rPr>
              <a:t>Ikuti alur ini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7197DF-F1C8-412C-A198-490B2AF60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5143500" cy="381000"/>
          </a:xfrm>
          <a:prstGeom xmlns:a="http://schemas.openxmlformats.org/drawingml/2006/main" prst="roundRect">
            <a:avLst>
              <a:gd name="adj" fmla="val 35000"/>
            </a:avLst>
          </a:prstGeom>
          <a:solidFill xmlns:a="http://schemas.openxmlformats.org/drawingml/2006/main">
            <a:srgbClr val="204A8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171B03-AF3B-4A1E-8170-3A418B220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14575"/>
            <a:ext cx="466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1. Pilih warna sasaran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E6F7F5-0912-4472-834C-9EE016D7C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71775"/>
            <a:ext cx="5143500" cy="381000"/>
          </a:xfrm>
          <a:prstGeom xmlns:a="http://schemas.openxmlformats.org/drawingml/2006/main" prst="roundRect">
            <a:avLst>
              <a:gd name="adj" fmla="val 35000"/>
            </a:avLst>
          </a:prstGeom>
          <a:solidFill xmlns:a="http://schemas.openxmlformats.org/drawingml/2006/main">
            <a:srgbClr val="1A416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252052-077A-4AED-A748-8566BB619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847975"/>
            <a:ext cx="466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2. Atur lower_hsv dan upper_hsv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A58E6D-6FBB-4B8B-B4E4-998F5C898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05175"/>
            <a:ext cx="5143500" cy="381000"/>
          </a:xfrm>
          <a:prstGeom xmlns:a="http://schemas.openxmlformats.org/drawingml/2006/main" prst="roundRect">
            <a:avLst>
              <a:gd name="adj" fmla="val 35000"/>
            </a:avLst>
          </a:prstGeom>
          <a:solidFill xmlns:a="http://schemas.openxmlformats.org/drawingml/2006/main">
            <a:srgbClr val="204A8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3C035B-2801-4276-8AED-83CF9B1D0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381375"/>
            <a:ext cx="466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3. Periksa mask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8B0C43-D147-45FB-B5C8-9FCA1D349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38575"/>
            <a:ext cx="5143500" cy="381000"/>
          </a:xfrm>
          <a:prstGeom xmlns:a="http://schemas.openxmlformats.org/drawingml/2006/main" prst="roundRect">
            <a:avLst>
              <a:gd name="adj" fmla="val 35000"/>
            </a:avLst>
          </a:prstGeom>
          <a:solidFill xmlns:a="http://schemas.openxmlformats.org/drawingml/2006/main">
            <a:srgbClr val="1A416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55BD2C-538D-4B71-9309-2F4607F0C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914775"/>
            <a:ext cx="466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4. Hitung komponen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DDB525-6515-4C1D-844F-C4ED40DB2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71975"/>
            <a:ext cx="5143500" cy="381000"/>
          </a:xfrm>
          <a:prstGeom xmlns:a="http://schemas.openxmlformats.org/drawingml/2006/main" prst="roundRect">
            <a:avLst>
              <a:gd name="adj" fmla="val 35000"/>
            </a:avLst>
          </a:prstGeom>
          <a:solidFill xmlns:a="http://schemas.openxmlformats.org/drawingml/2006/main">
            <a:srgbClr val="204A8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1B403C-4EC6-4CE7-AE26-18D7BE2D8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48175"/>
            <a:ext cx="466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5. Uji flip atau rotasi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7F82B0-8C1E-4E22-8B73-47984AAC0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05375"/>
            <a:ext cx="5143500" cy="381000"/>
          </a:xfrm>
          <a:prstGeom xmlns:a="http://schemas.openxmlformats.org/drawingml/2006/main" prst="roundRect">
            <a:avLst>
              <a:gd name="adj" fmla="val 35000"/>
            </a:avLst>
          </a:prstGeom>
          <a:solidFill xmlns:a="http://schemas.openxmlformats.org/drawingml/2006/main">
            <a:srgbClr val="1A416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DC1A9A-5737-489D-8CC0-6818AE06F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981575"/>
            <a:ext cx="466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6. Jelaskan hasilnya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057aba51234114"/>
          <a:srcRect xmlns:a="http://schemas.openxmlformats.org/drawingml/2006/main" l="5729" t="0" r="572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00875" y="1619250"/>
            <a:ext cx="4048125" cy="3429000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F30ABB-135D-419C-AEED-1B9FBFDE2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476875"/>
            <a:ext cx="4048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448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Kumpulkan: notebook, tiga visual utama, jumlah objek, dan analisis singkat.</a:t>
            </a:r>
          </a:p>
        </p:txBody>
      </p:sp>
    </p:spTree>
    <p:extLst>
      <p:ext uri="{BB962C8B-B14F-4D97-AF65-F5344CB8AC3E}">
        <p14:creationId xmlns:p14="http://schemas.microsoft.com/office/powerpoint/2010/main" val="5584270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2026-09-09T20:59:06.2660000Z</dcterms:created>
  <dcterms:modified xsi:type="dcterms:W3CDTF">2026-09-09T20:59:06.2660000Z</dcterms:modified>
</coreProperties>
</file>